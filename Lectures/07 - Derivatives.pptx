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20"/>
  </p:notesMasterIdLst>
  <p:handoutMasterIdLst>
    <p:handoutMasterId r:id="rId21"/>
  </p:handoutMasterIdLst>
  <p:sldIdLst>
    <p:sldId id="271" r:id="rId2"/>
    <p:sldId id="272" r:id="rId3"/>
    <p:sldId id="273" r:id="rId4"/>
    <p:sldId id="279" r:id="rId5"/>
    <p:sldId id="274" r:id="rId6"/>
    <p:sldId id="275" r:id="rId7"/>
    <p:sldId id="276" r:id="rId8"/>
    <p:sldId id="280" r:id="rId9"/>
    <p:sldId id="277" r:id="rId10"/>
    <p:sldId id="278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>
          <p15:clr>
            <a:srgbClr val="A4A3A4"/>
          </p15:clr>
        </p15:guide>
        <p15:guide id="3" orient="horz" pos="4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50AA28-E977-CB4D-A756-D61EC9CA1A46}" v="2" dt="2025-10-12T15:51:20.7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88"/>
    <p:restoredTop sz="94626"/>
  </p:normalViewPr>
  <p:slideViewPr>
    <p:cSldViewPr snapToGrid="0">
      <p:cViewPr varScale="1">
        <p:scale>
          <a:sx n="116" d="100"/>
          <a:sy n="116" d="100"/>
        </p:scale>
        <p:origin x="1672" y="192"/>
      </p:cViewPr>
      <p:guideLst>
        <p:guide/>
        <p:guide orient="horz" pos="4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J Prebys" userId="2423660181_tp_box_2" providerId="OAuth2" clId="{7A5D5A21-A55B-52FD-95D2-896217ECBE7C}"/>
    <pc:docChg chg="custSel addSld modSld">
      <pc:chgData name="Eric J Prebys" userId="2423660181_tp_box_2" providerId="OAuth2" clId="{7A5D5A21-A55B-52FD-95D2-896217ECBE7C}" dt="2025-10-12T17:07:17.146" v="155" actId="20577"/>
      <pc:docMkLst>
        <pc:docMk/>
      </pc:docMkLst>
      <pc:sldChg chg="addSp modSp mod">
        <pc:chgData name="Eric J Prebys" userId="2423660181_tp_box_2" providerId="OAuth2" clId="{7A5D5A21-A55B-52FD-95D2-896217ECBE7C}" dt="2025-10-12T15:56:07.683" v="105" actId="1076"/>
        <pc:sldMkLst>
          <pc:docMk/>
          <pc:sldMk cId="3608114249" sldId="275"/>
        </pc:sldMkLst>
        <pc:picChg chg="add mod">
          <ac:chgData name="Eric J Prebys" userId="2423660181_tp_box_2" providerId="OAuth2" clId="{7A5D5A21-A55B-52FD-95D2-896217ECBE7C}" dt="2025-10-12T15:51:41.967" v="104" actId="1076"/>
          <ac:picMkLst>
            <pc:docMk/>
            <pc:sldMk cId="3608114249" sldId="275"/>
            <ac:picMk id="7" creationId="{A0DF62D1-F398-4734-B761-8FAD08796D6A}"/>
          </ac:picMkLst>
        </pc:picChg>
        <pc:picChg chg="add mod">
          <ac:chgData name="Eric J Prebys" userId="2423660181_tp_box_2" providerId="OAuth2" clId="{7A5D5A21-A55B-52FD-95D2-896217ECBE7C}" dt="2025-10-12T15:56:07.683" v="105" actId="1076"/>
          <ac:picMkLst>
            <pc:docMk/>
            <pc:sldMk cId="3608114249" sldId="275"/>
            <ac:picMk id="8" creationId="{72D2FBD1-AA88-3FFE-6234-84158BD338B7}"/>
          </ac:picMkLst>
        </pc:picChg>
      </pc:sldChg>
      <pc:sldChg chg="modSp new mod">
        <pc:chgData name="Eric J Prebys" userId="2423660181_tp_box_2" providerId="OAuth2" clId="{7A5D5A21-A55B-52FD-95D2-896217ECBE7C}" dt="2025-10-12T17:07:17.146" v="155" actId="20577"/>
        <pc:sldMkLst>
          <pc:docMk/>
          <pc:sldMk cId="2474591933" sldId="276"/>
        </pc:sldMkLst>
        <pc:spChg chg="mod">
          <ac:chgData name="Eric J Prebys" userId="2423660181_tp_box_2" providerId="OAuth2" clId="{7A5D5A21-A55B-52FD-95D2-896217ECBE7C}" dt="2025-10-12T17:07:17.146" v="155" actId="20577"/>
          <ac:spMkLst>
            <pc:docMk/>
            <pc:sldMk cId="2474591933" sldId="276"/>
            <ac:spMk id="2" creationId="{785B3D1C-D978-1BCB-2BB0-86B110DAF39D}"/>
          </ac:spMkLst>
        </pc:spChg>
      </pc:sldChg>
      <pc:sldChg chg="addSp delSp modSp mod">
        <pc:chgData name="Eric J Prebys" userId="2423660181_tp_box_2" providerId="OAuth2" clId="{7A5D5A21-A55B-52FD-95D2-896217ECBE7C}" dt="2025-10-08T15:03:10.622" v="5" actId="1076"/>
        <pc:sldMkLst>
          <pc:docMk/>
          <pc:sldMk cId="1104148226" sldId="277"/>
        </pc:sldMkLst>
      </pc:sldChg>
      <pc:sldChg chg="addSp modSp mod">
        <pc:chgData name="Eric J Prebys" userId="2423660181_tp_box_2" providerId="OAuth2" clId="{7A5D5A21-A55B-52FD-95D2-896217ECBE7C}" dt="2025-10-08T15:05:51.424" v="66" actId="14100"/>
        <pc:sldMkLst>
          <pc:docMk/>
          <pc:sldMk cId="4091048123" sldId="289"/>
        </pc:sldMkLst>
      </pc:sldChg>
      <pc:sldChg chg="addSp delSp modSp new mod">
        <pc:chgData name="Eric J Prebys" userId="2423660181_tp_box_2" providerId="OAuth2" clId="{7A5D5A21-A55B-52FD-95D2-896217ECBE7C}" dt="2025-10-08T15:07:06.275" v="98" actId="14100"/>
        <pc:sldMkLst>
          <pc:docMk/>
          <pc:sldMk cId="1085116855" sldId="2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641E0-C0FB-FB45-BE20-B5E285E46BD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0E8FAF-0EB9-4F3C-9D18-30F5214B3A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67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Derivatives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Derivatives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Derivatives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emf"/><Relationship Id="rId5" Type="http://schemas.openxmlformats.org/officeDocument/2006/relationships/image" Target="../media/image36.emf"/><Relationship Id="rId4" Type="http://schemas.openxmlformats.org/officeDocument/2006/relationships/image" Target="../media/image3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9575" y="2192572"/>
            <a:ext cx="8465346" cy="90060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Derivatives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816" y="5547869"/>
            <a:ext cx="6400800" cy="527762"/>
          </a:xfrm>
        </p:spPr>
        <p:txBody>
          <a:bodyPr/>
          <a:lstStyle/>
          <a:p>
            <a:pPr eaLnBrk="1" hangingPunct="1"/>
            <a:r>
              <a:rPr lang="en-US" dirty="0"/>
              <a:t>Eric Prebys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CB8D3-FED7-DFFA-C02D-66A6A492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Derivatives in Physics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840E1-F344-3259-5D7F-73D93190B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Pretty much all of physics involves differentials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 definition of a differential is the limit of difference between dependent variable points over the difference between the independent variable, as that difference goes to zero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And by now you know how to find the derivatives of arbitrarily complicated explicit functions using the chain rule.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38365-B0E8-0152-6A76-2B7D1B30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3C712-4CC9-C56C-4880-D2F9318F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1F57C-45BF-6375-D420-EE19D94F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DFBBF-4B8E-F297-44A3-8395EABDA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696" y="1540679"/>
            <a:ext cx="939800" cy="1397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EAE240-4F56-2286-574E-FE89E20B5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463" y="4133010"/>
            <a:ext cx="3848100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503060-127A-1696-AB81-09BCD1864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460" y="5888668"/>
            <a:ext cx="6650072" cy="71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27773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9BF7E-3D13-E2A3-76E8-35E723E5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Differentiation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93EAF-2D0C-2F1E-2DE6-0B4244FD8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Sometimes functions are not explicit</a:t>
            </a:r>
          </a:p>
          <a:p>
            <a:pPr lvl="1"/>
            <a:r>
              <a:rPr lang="en-US" dirty="0"/>
              <a:t>E.g. may be based on arbitrary distributions of real data.</a:t>
            </a:r>
          </a:p>
          <a:p>
            <a:r>
              <a:rPr lang="en-US" dirty="0"/>
              <a:t>In this case, we need to numerically differentiate.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can’t take h to zero, so we need to figure out how accurate we are if we don’t.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05D26-3CD6-907C-E9C4-1D10F501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A3551-5F42-9C27-64DD-2C2FD801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BB7C5-9B5B-791F-63D4-A2E5DCD4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80AA22-143C-D926-48F1-F93A12E2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48" y="2279961"/>
            <a:ext cx="7239247" cy="312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946226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D79D5-82BD-57CC-894D-1B65449B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Ways of Looking at the Derivative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AB8FA-2C73-1549-8652-1B4FA7D30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052DB-0ACE-2578-C642-A85B35DF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418FE-7539-360B-6562-C7C72E70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663B51-7C86-E4CE-07E0-AF5A723D8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228" y="1706943"/>
            <a:ext cx="4615695" cy="31160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0106D9-779F-B42F-52FA-CD24CCF3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444" y="3574661"/>
            <a:ext cx="3732289" cy="628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5EBE0C-D4E9-C60D-B934-655F8B995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539" y="2013308"/>
            <a:ext cx="3848100" cy="647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C338B9-636D-6E6E-3883-964E228D16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600" y="5430242"/>
            <a:ext cx="4470400" cy="711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E0DA55-79F6-808A-286A-6A1F310B0669}"/>
              </a:ext>
            </a:extLst>
          </p:cNvPr>
          <p:cNvSpPr txBox="1"/>
          <p:nvPr/>
        </p:nvSpPr>
        <p:spPr>
          <a:xfrm>
            <a:off x="4504491" y="1427758"/>
            <a:ext cx="26013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Forward Difference:</a:t>
            </a: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Backward Difference:</a:t>
            </a: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Central Difference:</a:t>
            </a:r>
          </a:p>
        </p:txBody>
      </p:sp>
    </p:spTree>
    <p:extLst>
      <p:ext uri="{BB962C8B-B14F-4D97-AF65-F5344CB8AC3E}">
        <p14:creationId xmlns:p14="http://schemas.microsoft.com/office/powerpoint/2010/main" val="667388120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DA1E9-BB1B-4699-89EA-4452B7F0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 the first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0BB173-31A7-3390-98F5-AD91E85B0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13" y="4638101"/>
            <a:ext cx="8229600" cy="1985641"/>
          </a:xfrm>
        </p:spPr>
        <p:txBody>
          <a:bodyPr/>
          <a:lstStyle/>
          <a:p>
            <a:r>
              <a:rPr lang="en-US" dirty="0"/>
              <a:t>Can’t really go to zero, so we have to consider the errors</a:t>
            </a:r>
          </a:p>
          <a:p>
            <a:pPr lvl="1"/>
            <a:r>
              <a:rPr lang="en-US" dirty="0"/>
              <a:t>The smaller </a:t>
            </a:r>
            <a:r>
              <a:rPr lang="en-US" i="1" dirty="0"/>
              <a:t>h</a:t>
            </a:r>
            <a:r>
              <a:rPr lang="en-US" dirty="0"/>
              <a:t> is, the better our approximation is</a:t>
            </a:r>
          </a:p>
          <a:p>
            <a:pPr lvl="1"/>
            <a:r>
              <a:rPr lang="en-US" dirty="0"/>
              <a:t>BUT, the  smaller </a:t>
            </a:r>
            <a:r>
              <a:rPr lang="en-US" i="1" dirty="0"/>
              <a:t>h</a:t>
            </a:r>
            <a:r>
              <a:rPr lang="en-US" dirty="0"/>
              <a:t> is, the bigger our round-off error is.</a:t>
            </a:r>
          </a:p>
          <a:p>
            <a:r>
              <a:rPr lang="en-US" dirty="0"/>
              <a:t>Need to optimize!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1D871-C7DD-B865-5412-E06FD37A3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14F16-6CBA-D806-CE38-801099068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DBE4C-9E0C-F3A3-A99C-21B2979B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8F1E2-D6AC-9742-DA6B-FF6D8816EE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126"/>
          <a:stretch>
            <a:fillRect/>
          </a:stretch>
        </p:blipFill>
        <p:spPr>
          <a:xfrm>
            <a:off x="284570" y="1223631"/>
            <a:ext cx="3538130" cy="31229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3F35F9-A6C5-5AE2-7FF4-AB21C3612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700" y="2016775"/>
            <a:ext cx="4864100" cy="1536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FF0B3A-8D9C-C638-F61E-93CCDC158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2051" y="5142280"/>
            <a:ext cx="520700" cy="241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39FD7C-182F-C617-853D-EA5D21754A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2051" y="5529321"/>
            <a:ext cx="3810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05468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DF6EF-E5FE-15FA-3282-A2E2500F2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Approximation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5BB07-3696-1C77-EFE1-AA705BA49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Taylor expand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As </a:t>
            </a:r>
            <a:r>
              <a:rPr lang="en-US" i="1" dirty="0"/>
              <a:t>h</a:t>
            </a:r>
            <a:r>
              <a:rPr lang="en-US" dirty="0"/>
              <a:t> gets small, the first term will dominate, so the error of our approximation is approximately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69F7A-400D-0E5A-0078-A7D2A19A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84D2D-512F-24E5-85A3-CFF022CC2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31E0A-4C85-010E-B188-337D59F5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DF62D1-F398-4734-B761-8FAD08796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6504"/>
            <a:ext cx="7772400" cy="11305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D2FBD1-AA88-3FFE-6234-84158BD33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22" y="3044938"/>
            <a:ext cx="6134100" cy="11303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E5E9D48-9F7C-1162-CBA8-27A2E8CC8CAA}"/>
              </a:ext>
            </a:extLst>
          </p:cNvPr>
          <p:cNvSpPr/>
          <p:nvPr/>
        </p:nvSpPr>
        <p:spPr>
          <a:xfrm>
            <a:off x="4572000" y="3044938"/>
            <a:ext cx="2952520" cy="711814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E3C9B6-B1BD-A9DA-3C14-571AA4B3E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460" y="5751552"/>
            <a:ext cx="20828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14249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3D1C-D978-1BCB-2BB0-86B110DA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backward?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D5BAC-024A-43FB-150E-E2F8339B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75BEA-4A1D-ECB9-E81E-D0D927DE9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C6544-E2E4-8659-35D3-72C43F7DA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77DC50-359F-3ACB-8B78-AF26BA4AD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463" y="3246434"/>
            <a:ext cx="6134100" cy="1130300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3847E69-6176-FDD9-BC0E-BA664A0129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3800" y="1740273"/>
            <a:ext cx="6756400" cy="1130300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7F1E636-43DD-421E-5659-63C6C8176BC9}"/>
              </a:ext>
            </a:extLst>
          </p:cNvPr>
          <p:cNvSpPr txBox="1"/>
          <p:nvPr/>
        </p:nvSpPr>
        <p:spPr>
          <a:xfrm>
            <a:off x="2280492" y="5188945"/>
            <a:ext cx="408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Again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849222-10E1-ACF3-E46B-804AC2936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5710239"/>
            <a:ext cx="20828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91933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7DCB1-6BCB-192E-9AAF-6C50FDA5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Round-off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E5A15-E4A4-208F-FCDC-6C9279BA1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round off error comes into play when </a:t>
            </a:r>
            <a:r>
              <a:rPr lang="en-US" i="1" dirty="0"/>
              <a:t>f(x)</a:t>
            </a:r>
            <a:r>
              <a:rPr lang="en-US" dirty="0"/>
              <a:t> and </a:t>
            </a:r>
            <a:r>
              <a:rPr lang="en-US" i="1" dirty="0"/>
              <a:t>f(</a:t>
            </a:r>
            <a:r>
              <a:rPr lang="en-US" i="1" dirty="0" err="1"/>
              <a:t>x+h</a:t>
            </a:r>
            <a:r>
              <a:rPr lang="en-US" i="1" dirty="0"/>
              <a:t>)</a:t>
            </a:r>
            <a:r>
              <a:rPr lang="en-US" dirty="0"/>
              <a:t> are very close.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 the total error is roughly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38C3-9BCC-70FE-143E-4560AC898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C556-1E2D-3C78-202C-9DFD107D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E78C-975B-1338-C6ED-F0AED0AE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714394-E3E2-99AB-D1B8-7C43346E8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950" y="2415678"/>
            <a:ext cx="5626100" cy="1409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585FBC-DBA9-320A-85E0-995533D68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713" y="5148929"/>
            <a:ext cx="3403600" cy="1054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302DB4-A01F-59F2-4C6C-623F3C69E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724" y="4801133"/>
            <a:ext cx="2400300" cy="3175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D189FC-F101-6971-4D9A-22210B02FC2E}"/>
              </a:ext>
            </a:extLst>
          </p:cNvPr>
          <p:cNvCxnSpPr>
            <a:cxnSpLocks/>
          </p:cNvCxnSpPr>
          <p:nvPr/>
        </p:nvCxnSpPr>
        <p:spPr>
          <a:xfrm flipH="1">
            <a:off x="6169446" y="5200999"/>
            <a:ext cx="386278" cy="6159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AA72914-082F-CB02-DE3F-1576A2B43FB4}"/>
              </a:ext>
            </a:extLst>
          </p:cNvPr>
          <p:cNvSpPr txBox="1"/>
          <p:nvPr/>
        </p:nvSpPr>
        <p:spPr>
          <a:xfrm>
            <a:off x="628634" y="5306647"/>
            <a:ext cx="2039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+mn-lt"/>
              </a:rPr>
              <a:t>Gets bigger with </a:t>
            </a:r>
            <a:r>
              <a:rPr lang="en-US" sz="1800" i="1" dirty="0">
                <a:solidFill>
                  <a:srgbClr val="FF0000"/>
                </a:solidFill>
                <a:latin typeface="+mn-lt"/>
              </a:rPr>
              <a:t>h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B9FB71-407D-74B9-477F-CB0DC601214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667793" y="5491313"/>
            <a:ext cx="703063" cy="1836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A6119B1-1EB8-F18D-650E-03A8DBF8A63E}"/>
              </a:ext>
            </a:extLst>
          </p:cNvPr>
          <p:cNvSpPr txBox="1"/>
          <p:nvPr/>
        </p:nvSpPr>
        <p:spPr>
          <a:xfrm>
            <a:off x="5983474" y="6201886"/>
            <a:ext cx="227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+mn-lt"/>
              </a:rPr>
              <a:t>Gets smaller with </a:t>
            </a:r>
            <a:r>
              <a:rPr lang="en-US" sz="1800" i="1" dirty="0">
                <a:solidFill>
                  <a:srgbClr val="FF0000"/>
                </a:solidFill>
                <a:latin typeface="+mn-lt"/>
              </a:rPr>
              <a:t>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35DDF8-F633-251A-8E9A-300793CA73A4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5552181" y="6214158"/>
            <a:ext cx="431293" cy="1723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4054723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B827-0A88-D919-3148-1D03F5351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7E935-ABAC-CE87-6FF0-B99FB215D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13" y="1182021"/>
            <a:ext cx="8229600" cy="3004389"/>
          </a:xfrm>
        </p:spPr>
        <p:txBody>
          <a:bodyPr>
            <a:normAutofit/>
          </a:bodyPr>
          <a:lstStyle/>
          <a:p>
            <a:r>
              <a:rPr lang="en-US" sz="2000" dirty="0"/>
              <a:t>We can’t take our </a:t>
            </a:r>
            <a:r>
              <a:rPr lang="en-US" sz="2000" i="1" dirty="0"/>
              <a:t>h</a:t>
            </a:r>
            <a:r>
              <a:rPr lang="en-US" sz="2000" dirty="0"/>
              <a:t> to zero, so we need to choose and optimum value</a:t>
            </a:r>
          </a:p>
          <a:p>
            <a:r>
              <a:rPr lang="en-US" sz="2000" dirty="0"/>
              <a:t>There are two types of errors associated with our calculation</a:t>
            </a:r>
          </a:p>
          <a:p>
            <a:pPr lvl="1"/>
            <a:r>
              <a:rPr lang="en-US" sz="1800" dirty="0"/>
              <a:t>The error associated with the Taylor approximation, </a:t>
            </a:r>
            <a:br>
              <a:rPr lang="en-US" sz="1800" dirty="0"/>
            </a:br>
            <a:r>
              <a:rPr lang="en-US" sz="1800" dirty="0"/>
              <a:t>which will get smaller as </a:t>
            </a:r>
            <a:r>
              <a:rPr lang="en-US" sz="1800" i="1" dirty="0"/>
              <a:t>h</a:t>
            </a:r>
            <a:r>
              <a:rPr lang="en-US" sz="1800" dirty="0"/>
              <a:t> gets smaller.</a:t>
            </a:r>
          </a:p>
          <a:p>
            <a:pPr lvl="1"/>
            <a:r>
              <a:rPr lang="en-US" sz="1800" dirty="0"/>
              <a:t>The round-off error when taking the difference, </a:t>
            </a:r>
            <a:br>
              <a:rPr lang="en-US" sz="1800" dirty="0"/>
            </a:br>
            <a:r>
              <a:rPr lang="en-US" sz="1800" dirty="0"/>
              <a:t>which will get larger as </a:t>
            </a:r>
            <a:r>
              <a:rPr lang="en-US" sz="1800" i="1" dirty="0"/>
              <a:t>h</a:t>
            </a:r>
            <a:r>
              <a:rPr lang="en-US" sz="1800" dirty="0"/>
              <a:t> gets smaller.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67526-3236-3AA8-3AE5-EEDF81D0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9CEC8-78AA-7E59-D03A-5C24EB50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3251E-520E-FF04-AFB2-E2DA035A0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42C10B-725C-91D4-8C46-03E3B3916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029" y="2132455"/>
            <a:ext cx="520700" cy="241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4BA185-4741-FDD3-1B81-BEC4FF946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775" y="2721628"/>
            <a:ext cx="381000" cy="20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569104-64CF-7F50-CEBC-309D349B4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1400" y="3194417"/>
            <a:ext cx="2082800" cy="63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90035F-51E8-E3F4-B024-6DD53B1D8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340" y="4034548"/>
            <a:ext cx="56261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02671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1103-7BC0-B9FF-937B-999D991AE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the Minimum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68001-7BC4-C12A-39C4-B4AA12591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Take the derivative </a:t>
            </a:r>
            <a:r>
              <a:rPr lang="en-US" dirty="0" err="1"/>
              <a:t>wrt</a:t>
            </a:r>
            <a:r>
              <a:rPr lang="en-US" dirty="0"/>
              <a:t> 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D4EF2-1B90-2FCC-58C1-C2287C3EC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18922-B9D8-58D4-AA27-F9BF6C001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CE5E6-A65A-1258-E6BE-653C63899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F3E58C-02EB-3D30-0B6F-A60A03E4D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63" y="5225129"/>
            <a:ext cx="4102100" cy="9017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448E00-E2DE-4C8A-153C-E4A8584558B6}"/>
              </a:ext>
            </a:extLst>
          </p:cNvPr>
          <p:cNvSpPr/>
          <p:nvPr/>
        </p:nvSpPr>
        <p:spPr>
          <a:xfrm>
            <a:off x="2831335" y="3725681"/>
            <a:ext cx="3481330" cy="10155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4DDEB3-546E-5EA6-D9B1-FED1768FBCD2}"/>
              </a:ext>
            </a:extLst>
          </p:cNvPr>
          <p:cNvSpPr/>
          <p:nvPr/>
        </p:nvSpPr>
        <p:spPr>
          <a:xfrm>
            <a:off x="2994752" y="5663130"/>
            <a:ext cx="3736554" cy="546065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0EA415-110E-3C31-3A92-BF48E794F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85016"/>
            <a:ext cx="4140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71227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9B866-92B5-DBA8-6144-4C411635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Difference Derivative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FCF70-D02D-6A45-2B79-640EC70D0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15ACA-84A9-E33D-BCB2-67EFB52DC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3643E-41AD-A3B2-65F6-8AD31D43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9E8C2E-4807-F20A-ADAF-756E74830C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657"/>
          <a:stretch>
            <a:fillRect/>
          </a:stretch>
        </p:blipFill>
        <p:spPr>
          <a:xfrm>
            <a:off x="441713" y="971988"/>
            <a:ext cx="2733144" cy="26003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2EBF0B-74CB-2720-78D2-A3E498270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408" y="1496238"/>
            <a:ext cx="4470400" cy="71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0CD663-4BD7-92BE-D1D5-F3C8CDAEA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13" y="3740624"/>
            <a:ext cx="7772400" cy="20271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1B5EFB-A7A3-4D3C-515D-6A87818F2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797" y="6060822"/>
            <a:ext cx="5886406" cy="65146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BDA9CBE-46AA-CB87-B27C-FE23A5DEFCC7}"/>
              </a:ext>
            </a:extLst>
          </p:cNvPr>
          <p:cNvCxnSpPr/>
          <p:nvPr/>
        </p:nvCxnSpPr>
        <p:spPr>
          <a:xfrm flipH="1">
            <a:off x="2302525" y="4616067"/>
            <a:ext cx="440675" cy="1151668"/>
          </a:xfrm>
          <a:prstGeom prst="line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D99EBF-9EA1-2E39-4209-1190D4963752}"/>
              </a:ext>
            </a:extLst>
          </p:cNvPr>
          <p:cNvCxnSpPr/>
          <p:nvPr/>
        </p:nvCxnSpPr>
        <p:spPr>
          <a:xfrm flipH="1">
            <a:off x="4336175" y="4552922"/>
            <a:ext cx="440675" cy="1151668"/>
          </a:xfrm>
          <a:prstGeom prst="line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9349312-F9C2-D17F-FB36-BB4F08AA30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8440" y="5594195"/>
            <a:ext cx="762000" cy="3556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F17620-56BF-F0F7-9968-D2168567F87A}"/>
              </a:ext>
            </a:extLst>
          </p:cNvPr>
          <p:cNvCxnSpPr/>
          <p:nvPr/>
        </p:nvCxnSpPr>
        <p:spPr>
          <a:xfrm flipH="1">
            <a:off x="6290631" y="5894024"/>
            <a:ext cx="1333041" cy="2644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6668062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A4517-F006-611B-D647-B5393122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Minimizing the Error…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E8A56-7625-A014-60F4-70D4C0685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case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6D0B6-D6D2-DE1B-78AF-C1CA12F6F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0594-C12E-3C1B-6208-A2CEB09A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EF147-40FF-16E0-4A77-93375B4B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44FB6C-3611-F779-27DB-859F15D1D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59" y="1764076"/>
            <a:ext cx="5321300" cy="685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DF012C-04DF-4557-6AE1-6A7F24C1E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76" y="2779613"/>
            <a:ext cx="4147602" cy="1858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172509-6F16-C191-16CD-2E8FAF6F82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69" y="4932421"/>
            <a:ext cx="4965700" cy="1397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C2494F-4273-5573-EE40-66E756CD2C2B}"/>
              </a:ext>
            </a:extLst>
          </p:cNvPr>
          <p:cNvSpPr txBox="1"/>
          <p:nvPr/>
        </p:nvSpPr>
        <p:spPr>
          <a:xfrm>
            <a:off x="6285060" y="3031931"/>
            <a:ext cx="2225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FF0000"/>
                </a:solidFill>
                <a:latin typeface="+mn-lt"/>
              </a:rPr>
              <a:t>Compare to forward or backward only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A6AAF7-E875-089C-F571-FCCE04216BDD}"/>
              </a:ext>
            </a:extLst>
          </p:cNvPr>
          <p:cNvSpPr/>
          <p:nvPr/>
        </p:nvSpPr>
        <p:spPr>
          <a:xfrm>
            <a:off x="881347" y="5805889"/>
            <a:ext cx="4715219" cy="659556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12D3E5-75D2-5116-FCBC-6E4DCADB7F20}"/>
              </a:ext>
            </a:extLst>
          </p:cNvPr>
          <p:cNvSpPr/>
          <p:nvPr/>
        </p:nvSpPr>
        <p:spPr>
          <a:xfrm>
            <a:off x="1046600" y="3901903"/>
            <a:ext cx="3448280" cy="818563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DD895F7-5508-721B-BE08-6B25B87F9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8067" y="3836236"/>
            <a:ext cx="2692400" cy="9271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20861A-A0CE-CCD4-CB64-E4E5D9C441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7047" y="5945167"/>
            <a:ext cx="3175000" cy="381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A396528-66D6-E257-D9F4-E925ACACAACE}"/>
              </a:ext>
            </a:extLst>
          </p:cNvPr>
          <p:cNvSpPr txBox="1"/>
          <p:nvPr/>
        </p:nvSpPr>
        <p:spPr>
          <a:xfrm>
            <a:off x="3123627" y="3533218"/>
            <a:ext cx="143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+mn-lt"/>
              </a:rPr>
              <a:t>Bigger step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091EF2-2E85-7E3F-345F-BA55378E7037}"/>
              </a:ext>
            </a:extLst>
          </p:cNvPr>
          <p:cNvSpPr txBox="1"/>
          <p:nvPr/>
        </p:nvSpPr>
        <p:spPr>
          <a:xfrm>
            <a:off x="4108947" y="6419279"/>
            <a:ext cx="1741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+mn-lt"/>
              </a:rPr>
              <a:t>Smaller error</a:t>
            </a:r>
          </a:p>
        </p:txBody>
      </p:sp>
    </p:spTree>
    <p:extLst>
      <p:ext uri="{BB962C8B-B14F-4D97-AF65-F5344CB8AC3E}">
        <p14:creationId xmlns:p14="http://schemas.microsoft.com/office/powerpoint/2010/main" val="1663009806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8F86-2AB0-B874-E80E-FD68CFDF3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Test*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25363-4CA4-0601-090C-8BE22D4D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B0563-8D9C-E35B-88B0-13F3B224F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C2834-4082-D525-AE42-1DA9103AA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CED22-1799-40E5-2E93-C9939CA19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3" y="2529982"/>
            <a:ext cx="4130287" cy="31214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3F0DCF-1580-2EAC-E0B9-00F6852F05DA}"/>
              </a:ext>
            </a:extLst>
          </p:cNvPr>
          <p:cNvSpPr txBox="1"/>
          <p:nvPr/>
        </p:nvSpPr>
        <p:spPr>
          <a:xfrm>
            <a:off x="903902" y="1119657"/>
            <a:ext cx="26330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Plot:</a:t>
            </a:r>
          </a:p>
          <a:p>
            <a:pPr marL="285750" indent="-220663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f(x)</a:t>
            </a:r>
          </a:p>
          <a:p>
            <a:pPr marL="285750" indent="-220663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f’(x)</a:t>
            </a:r>
          </a:p>
          <a:p>
            <a:pPr marL="285750" indent="-220663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Forward derivative (</a:t>
            </a:r>
            <a:r>
              <a:rPr lang="en-US" sz="1600" dirty="0" err="1">
                <a:latin typeface="+mn-lt"/>
              </a:rPr>
              <a:t>fd</a:t>
            </a:r>
            <a:r>
              <a:rPr lang="en-US" sz="1600" dirty="0">
                <a:latin typeface="+mn-lt"/>
              </a:rPr>
              <a:t>)</a:t>
            </a:r>
          </a:p>
          <a:p>
            <a:pPr marL="285750" indent="-220663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Central derivative (cd)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C44C8C-E46D-F77A-9F9A-6F9B2A921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816" y="5738342"/>
            <a:ext cx="1727200" cy="355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D1B8DC-A07D-FA92-B995-B40D63FDA5C2}"/>
              </a:ext>
            </a:extLst>
          </p:cNvPr>
          <p:cNvSpPr txBox="1"/>
          <p:nvPr/>
        </p:nvSpPr>
        <p:spPr>
          <a:xfrm>
            <a:off x="5666220" y="6386552"/>
            <a:ext cx="3327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+mn-lt"/>
              </a:rPr>
              <a:t>*see ‘Lecture 7 – </a:t>
            </a:r>
            <a:r>
              <a:rPr lang="en-US" sz="1400" dirty="0" err="1">
                <a:latin typeface="+mn-lt"/>
              </a:rPr>
              <a:t>Derivatives.ipynb</a:t>
            </a:r>
            <a:r>
              <a:rPr lang="en-US" sz="1400" dirty="0">
                <a:latin typeface="+mn-lt"/>
              </a:rPr>
              <a:t>’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96DE1E-4EAF-CD04-779F-5B0F3C74F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04837"/>
            <a:ext cx="4224510" cy="31212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AF46F8-7F5A-431F-11D5-0351BA83F7D5}"/>
              </a:ext>
            </a:extLst>
          </p:cNvPr>
          <p:cNvSpPr txBox="1"/>
          <p:nvPr/>
        </p:nvSpPr>
        <p:spPr>
          <a:xfrm>
            <a:off x="5233936" y="860637"/>
            <a:ext cx="3064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Compare errors for forward and central derivatives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3C55AB-6F7B-FFBE-B7C4-03B1567A2AB8}"/>
              </a:ext>
            </a:extLst>
          </p:cNvPr>
          <p:cNvSpPr txBox="1"/>
          <p:nvPr/>
        </p:nvSpPr>
        <p:spPr>
          <a:xfrm>
            <a:off x="5020249" y="4820459"/>
            <a:ext cx="37762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+mn-lt"/>
              </a:rPr>
              <a:t>Central Derivative</a:t>
            </a:r>
          </a:p>
          <a:p>
            <a:pPr marL="285750" indent="-220663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Optimum step size 1000 time larger</a:t>
            </a:r>
          </a:p>
          <a:p>
            <a:pPr marL="285750" indent="-220663"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Minimum error 100 times smaller</a:t>
            </a:r>
          </a:p>
        </p:txBody>
      </p:sp>
    </p:spTree>
    <p:extLst>
      <p:ext uri="{BB962C8B-B14F-4D97-AF65-F5344CB8AC3E}">
        <p14:creationId xmlns:p14="http://schemas.microsoft.com/office/powerpoint/2010/main" val="157806007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5EE09-A8EE-F4C8-D745-752BDED27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Derivatives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F371-61A4-61FA-2A21-3AE28CDD2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derive second derivatives from first derivatives in the same way.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D7FDB-224D-4D0D-D46F-8D612639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DD966-02CD-B949-2650-E451BF9F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C465D-BC49-9968-A65E-B6CA13BF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E5A846-A46A-E33B-1AF7-6238A60C1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913" y="2400070"/>
            <a:ext cx="5537200" cy="2476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236CCFA-490D-0557-6EB5-FB39D1C179D2}"/>
              </a:ext>
            </a:extLst>
          </p:cNvPr>
          <p:cNvSpPr/>
          <p:nvPr/>
        </p:nvSpPr>
        <p:spPr>
          <a:xfrm>
            <a:off x="2721166" y="4120308"/>
            <a:ext cx="4417764" cy="848299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17941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41D1-2A05-2675-3CCF-6CC8696E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Digression: Laplace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56E4D-5C23-F0D6-5C3D-C8B77771C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Many things, including:</a:t>
            </a:r>
          </a:p>
          <a:p>
            <a:pPr lvl="1"/>
            <a:r>
              <a:rPr lang="en-US" sz="1800" dirty="0"/>
              <a:t>Static electric fields in the absence of charges</a:t>
            </a:r>
          </a:p>
          <a:p>
            <a:pPr lvl="1"/>
            <a:r>
              <a:rPr lang="en-US" sz="1800" dirty="0"/>
              <a:t>Static magnetic fields in the absence of currents</a:t>
            </a:r>
          </a:p>
          <a:p>
            <a:pPr lvl="1"/>
            <a:r>
              <a:rPr lang="en-US" sz="1800" dirty="0"/>
              <a:t>Temperature gradients</a:t>
            </a:r>
          </a:p>
          <a:p>
            <a:pPr marL="0" indent="0">
              <a:buNone/>
            </a:pPr>
            <a:r>
              <a:rPr lang="en-US" sz="2000" dirty="0"/>
              <a:t>  obey the Laplace equation, which is essentially a </a:t>
            </a:r>
            <a:br>
              <a:rPr lang="en-US" sz="2000" dirty="0"/>
            </a:br>
            <a:r>
              <a:rPr lang="en-US" sz="2000" dirty="0"/>
              <a:t>  conservation of flux</a:t>
            </a:r>
          </a:p>
          <a:p>
            <a:r>
              <a:rPr lang="en-US" sz="2000" dirty="0"/>
              <a:t>In three dimensions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In two dimensions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52B6-A22E-6C6A-7160-AD0F2EA1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64352-3A74-AB6F-46BF-05A62109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4E02-878C-237F-8037-60F53CE02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A4CB30-2BD6-A05A-BD5D-6EEE1C94B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675" y="3770678"/>
            <a:ext cx="3975100" cy="736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26C971-5EF5-41DE-8A21-37917D90D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742" y="5307679"/>
            <a:ext cx="20193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221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9264-BFAA-EB71-58C1-4A2996EAD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2-Dimensional Temperature Gradient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1E94D-F71A-61C4-066C-A61ADDAE5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Temperatures on a uniformly conducting </a:t>
            </a:r>
            <a:br>
              <a:rPr lang="en-US" sz="2000" dirty="0"/>
            </a:br>
            <a:r>
              <a:rPr lang="en-US" sz="2000" dirty="0"/>
              <a:t>plane will obey the 2D Laplace equation.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652DA-126D-B526-5DB4-A561A17C9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B7C15-66DB-D045-542C-758121333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3B414-0E69-16A6-F928-E59CDEFC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B1FED3-50B3-4DEC-F423-AAF6327DB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384" y="2410858"/>
            <a:ext cx="2108200" cy="736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6A7683-D4F3-5C95-962A-C76EDF7B8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0839" y="1138684"/>
            <a:ext cx="3383813" cy="29393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E51FCA-3A67-520E-1850-E534FDA6E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918" y="4160446"/>
            <a:ext cx="6071332" cy="6307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3A8251-484A-2F36-E4AB-E166F42C5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87" y="5112895"/>
            <a:ext cx="59309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11597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6B12-3E35-6178-F983-95FB56FEF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this in practice…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9F2F3-ECDB-74E8-BC55-5C6A670C4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Set the boundary conditions on </a:t>
            </a:r>
            <a:br>
              <a:rPr lang="en-US" sz="2000" dirty="0"/>
            </a:br>
            <a:r>
              <a:rPr lang="en-US" sz="2000" dirty="0"/>
              <a:t>the edges of the array</a:t>
            </a:r>
          </a:p>
          <a:p>
            <a:r>
              <a:rPr lang="en-US" sz="2000" dirty="0"/>
              <a:t>Make a guess about the</a:t>
            </a:r>
            <a:br>
              <a:rPr lang="en-US" sz="2000" dirty="0"/>
            </a:br>
            <a:r>
              <a:rPr lang="en-US" sz="2000" dirty="0"/>
              <a:t>temperatures in the middle</a:t>
            </a:r>
          </a:p>
          <a:p>
            <a:r>
              <a:rPr lang="en-US" sz="2000" dirty="0"/>
              <a:t>Keep applying our interpolation</a:t>
            </a:r>
            <a:br>
              <a:rPr lang="en-US" sz="2000" dirty="0"/>
            </a:br>
            <a:r>
              <a:rPr lang="en-US" sz="2000" dirty="0"/>
              <a:t>algorithm to the points in the plane</a:t>
            </a:r>
            <a:br>
              <a:rPr lang="en-US" sz="2000" dirty="0"/>
            </a:br>
            <a:r>
              <a:rPr lang="en-US" sz="2000" dirty="0"/>
              <a:t>until they converge on a stable</a:t>
            </a:r>
            <a:br>
              <a:rPr lang="en-US" sz="2000" dirty="0"/>
            </a:br>
            <a:r>
              <a:rPr lang="en-US" sz="2000" dirty="0"/>
              <a:t>equilibrium solution</a:t>
            </a:r>
          </a:p>
          <a:p>
            <a:pPr lvl="1"/>
            <a:r>
              <a:rPr lang="en-US" sz="1600" dirty="0"/>
              <a:t>Example: first guess for lower right</a:t>
            </a:r>
            <a:br>
              <a:rPr lang="en-US" sz="1600" dirty="0"/>
            </a:br>
            <a:r>
              <a:rPr lang="en-US" sz="1600" dirty="0"/>
              <a:t>corner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925F1-1F20-E812-83D1-0D7966C4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E301D-2459-729F-17FC-C89BC4C13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DBF68-7BF7-93FE-8BB5-04BAD635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85E46-BCB5-0E6A-AEB3-6CC561D32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500" y="1314360"/>
            <a:ext cx="3383813" cy="2939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343046-2583-29A4-D27A-529C345E88E2}"/>
              </a:ext>
            </a:extLst>
          </p:cNvPr>
          <p:cNvSpPr txBox="1"/>
          <p:nvPr/>
        </p:nvSpPr>
        <p:spPr>
          <a:xfrm>
            <a:off x="5750804" y="903845"/>
            <a:ext cx="229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+mn-lt"/>
              </a:rPr>
              <a:t>Ttop</a:t>
            </a:r>
            <a:endParaRPr lang="en-US" sz="18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85549F-CD73-C667-63EB-57876550949C}"/>
              </a:ext>
            </a:extLst>
          </p:cNvPr>
          <p:cNvSpPr txBox="1"/>
          <p:nvPr/>
        </p:nvSpPr>
        <p:spPr>
          <a:xfrm>
            <a:off x="5830928" y="4151456"/>
            <a:ext cx="229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+mn-lt"/>
              </a:rPr>
              <a:t>Tbottom</a:t>
            </a:r>
            <a:endParaRPr lang="en-US" sz="18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EB5663-46DD-F1B0-D1FD-6C64F68F8183}"/>
              </a:ext>
            </a:extLst>
          </p:cNvPr>
          <p:cNvSpPr txBox="1"/>
          <p:nvPr/>
        </p:nvSpPr>
        <p:spPr>
          <a:xfrm rot="5400000">
            <a:off x="7334368" y="2411320"/>
            <a:ext cx="229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+mn-lt"/>
              </a:rPr>
              <a:t>Tright</a:t>
            </a:r>
            <a:endParaRPr lang="en-US" sz="18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3BA1E3-6A0C-3B32-34EC-182DBFC77E85}"/>
              </a:ext>
            </a:extLst>
          </p:cNvPr>
          <p:cNvSpPr txBox="1"/>
          <p:nvPr/>
        </p:nvSpPr>
        <p:spPr>
          <a:xfrm rot="16200000">
            <a:off x="3950555" y="2411320"/>
            <a:ext cx="229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+mn-lt"/>
              </a:rPr>
              <a:t>Tleft</a:t>
            </a:r>
            <a:endParaRPr lang="en-US" sz="1800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DCA2DE-56C1-AACE-A209-60C80517D0C3}"/>
              </a:ext>
            </a:extLst>
          </p:cNvPr>
          <p:cNvSpPr txBox="1"/>
          <p:nvPr/>
        </p:nvSpPr>
        <p:spPr>
          <a:xfrm>
            <a:off x="5750804" y="2411320"/>
            <a:ext cx="2296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>
                <a:latin typeface="+mn-lt"/>
              </a:rPr>
              <a:t>Tguess</a:t>
            </a:r>
            <a:endParaRPr lang="en-US" sz="1800" dirty="0">
              <a:latin typeface="+mn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6D31DD-D51B-E017-1BDC-A43EFB78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538" r="73122"/>
          <a:stretch>
            <a:fillRect/>
          </a:stretch>
        </p:blipFill>
        <p:spPr>
          <a:xfrm>
            <a:off x="743068" y="4757933"/>
            <a:ext cx="1648537" cy="18360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77FAB5-F31E-1F48-32AC-351BBBA37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053" y="4731042"/>
            <a:ext cx="5676900" cy="13589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A58DA1-1441-3AA3-375D-05441FE4F9E6}"/>
              </a:ext>
            </a:extLst>
          </p:cNvPr>
          <p:cNvCxnSpPr>
            <a:cxnSpLocks/>
          </p:cNvCxnSpPr>
          <p:nvPr/>
        </p:nvCxnSpPr>
        <p:spPr>
          <a:xfrm flipH="1">
            <a:off x="2062187" y="5133860"/>
            <a:ext cx="923384" cy="1872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892146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7F67-2394-7A13-535B-AC53D17D7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Word About Plotting Arrays…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9FE09-CC55-AF61-BB7D-4A8D953AC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Python arrays are “row priority”.  Example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When we plot an array, it will plot as</a:t>
            </a:r>
          </a:p>
          <a:p>
            <a:r>
              <a:rPr lang="en-US" sz="2000" dirty="0"/>
              <a:t>In other words, the first index</a:t>
            </a:r>
            <a:br>
              <a:rPr lang="en-US" sz="2000" dirty="0"/>
            </a:br>
            <a:r>
              <a:rPr lang="en-US" sz="2000" dirty="0"/>
              <a:t>corresponds to </a:t>
            </a:r>
            <a:r>
              <a:rPr lang="en-US" sz="2000" i="1" dirty="0"/>
              <a:t>y</a:t>
            </a:r>
            <a:r>
              <a:rPr lang="en-US" sz="2000" dirty="0"/>
              <a:t> and the second</a:t>
            </a:r>
            <a:br>
              <a:rPr lang="en-US" sz="2000" dirty="0"/>
            </a:br>
            <a:r>
              <a:rPr lang="en-US" sz="2000" dirty="0"/>
              <a:t>index corresponds to </a:t>
            </a:r>
            <a:r>
              <a:rPr lang="en-US" sz="2000" i="1" dirty="0"/>
              <a:t>x</a:t>
            </a:r>
          </a:p>
          <a:p>
            <a:pPr lvl="1"/>
            <a:r>
              <a:rPr lang="en-US" sz="1600" dirty="0"/>
              <a:t>Which is a bit counterintuitive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2A054-78C7-4B94-5926-EC82C0B7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0AA4E-DFD0-807F-C299-0F7F53E2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Derivatives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982D1-8ED1-4A1E-B860-5B5B9652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225362-0E42-806B-60C3-81112DB8E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53" y="1685776"/>
            <a:ext cx="6479634" cy="1217511"/>
          </a:xfrm>
          <a:prstGeom prst="rect">
            <a:avLst/>
          </a:prstGeom>
        </p:spPr>
      </p:pic>
      <p:pic>
        <p:nvPicPr>
          <p:cNvPr id="1026" name="Picture 2" descr="2D histogram | Ocean Python">
            <a:extLst>
              <a:ext uri="{FF2B5EF4-FFF2-40B4-BE49-F238E27FC236}">
                <a16:creationId xmlns:a16="http://schemas.microsoft.com/office/drawing/2014/main" id="{EDA2741C-6192-2464-8D88-891319D105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6" t="8651" r="23856" b="3024"/>
          <a:stretch>
            <a:fillRect/>
          </a:stretch>
        </p:blipFill>
        <p:spPr bwMode="auto">
          <a:xfrm>
            <a:off x="5238520" y="2903287"/>
            <a:ext cx="3448280" cy="3138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19C601-E05C-421E-2D2B-768129A9BBDA}"/>
              </a:ext>
            </a:extLst>
          </p:cNvPr>
          <p:cNvSpPr txBox="1"/>
          <p:nvPr/>
        </p:nvSpPr>
        <p:spPr>
          <a:xfrm>
            <a:off x="4556513" y="5675979"/>
            <a:ext cx="890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solidFill>
                  <a:srgbClr val="FF0000"/>
                </a:solidFill>
                <a:latin typeface="+mn-lt"/>
              </a:rPr>
              <a:t>Row 0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9F9453-E556-C6B0-2EC8-A3C94EA78F3B}"/>
              </a:ext>
            </a:extLst>
          </p:cNvPr>
          <p:cNvCxnSpPr/>
          <p:nvPr/>
        </p:nvCxnSpPr>
        <p:spPr>
          <a:xfrm flipV="1">
            <a:off x="5133860" y="3429000"/>
            <a:ext cx="0" cy="21235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4BFDC59-8D3A-1860-8286-4687117A4F81}"/>
              </a:ext>
            </a:extLst>
          </p:cNvPr>
          <p:cNvSpPr txBox="1"/>
          <p:nvPr/>
        </p:nvSpPr>
        <p:spPr>
          <a:xfrm>
            <a:off x="5061754" y="5973894"/>
            <a:ext cx="890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solidFill>
                  <a:srgbClr val="FF0000"/>
                </a:solidFill>
                <a:latin typeface="+mn-lt"/>
              </a:rPr>
              <a:t>Column 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218621-8C8F-A948-FCEE-A7ECA55B37B0}"/>
              </a:ext>
            </a:extLst>
          </p:cNvPr>
          <p:cNvCxnSpPr>
            <a:cxnSpLocks/>
          </p:cNvCxnSpPr>
          <p:nvPr/>
        </p:nvCxnSpPr>
        <p:spPr>
          <a:xfrm>
            <a:off x="5994636" y="6104699"/>
            <a:ext cx="247733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350979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8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36101</TotalTime>
  <Words>699</Words>
  <Application>Microsoft Macintosh PowerPoint</Application>
  <PresentationFormat>On-screen Show (4:3)</PresentationFormat>
  <Paragraphs>181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Times New Roman</vt:lpstr>
      <vt:lpstr>Clarity</vt:lpstr>
      <vt:lpstr>Derivatives</vt:lpstr>
      <vt:lpstr>Derivatives in Physics</vt:lpstr>
      <vt:lpstr>Numerical Differentiation</vt:lpstr>
      <vt:lpstr>Different Ways of Looking at the Derivative</vt:lpstr>
      <vt:lpstr>Consider the first</vt:lpstr>
      <vt:lpstr>Approximation Error</vt:lpstr>
      <vt:lpstr>Looking backward?</vt:lpstr>
      <vt:lpstr>Round-off Error</vt:lpstr>
      <vt:lpstr>Errors</vt:lpstr>
      <vt:lpstr>Find the Minimum</vt:lpstr>
      <vt:lpstr>Central Difference Derivative</vt:lpstr>
      <vt:lpstr>Minimizing the Error…</vt:lpstr>
      <vt:lpstr>Test*</vt:lpstr>
      <vt:lpstr>Second Derivatives</vt:lpstr>
      <vt:lpstr>Digression: Laplace Equation</vt:lpstr>
      <vt:lpstr>Example: 2-Dimensional Temperature Gradient</vt:lpstr>
      <vt:lpstr>Solving this in practice…</vt:lpstr>
      <vt:lpstr>A Word About Plotting Arrays…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J Prebys</cp:lastModifiedBy>
  <cp:revision>739</cp:revision>
  <cp:lastPrinted>2025-01-10T20:21:22Z</cp:lastPrinted>
  <dcterms:created xsi:type="dcterms:W3CDTF">2003-06-24T14:15:57Z</dcterms:created>
  <dcterms:modified xsi:type="dcterms:W3CDTF">2025-10-27T21:50:52Z</dcterms:modified>
</cp:coreProperties>
</file>