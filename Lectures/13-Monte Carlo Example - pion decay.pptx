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624" r:id="rId1"/>
  </p:sldMasterIdLst>
  <p:notesMasterIdLst>
    <p:notesMasterId r:id="rId13"/>
  </p:notesMasterIdLst>
  <p:handoutMasterIdLst>
    <p:handoutMasterId r:id="rId14"/>
  </p:handoutMasterIdLst>
  <p:sldIdLst>
    <p:sldId id="256" r:id="rId2"/>
    <p:sldId id="466" r:id="rId3"/>
    <p:sldId id="467" r:id="rId4"/>
    <p:sldId id="478" r:id="rId5"/>
    <p:sldId id="294" r:id="rId6"/>
    <p:sldId id="257" r:id="rId7"/>
    <p:sldId id="468" r:id="rId8"/>
    <p:sldId id="479" r:id="rId9"/>
    <p:sldId id="482" r:id="rId10"/>
    <p:sldId id="480" r:id="rId11"/>
    <p:sldId id="481" r:id="rId12"/>
  </p:sldIdLst>
  <p:sldSz cx="9144000" cy="6858000" type="screen4x3"/>
  <p:notesSz cx="7315200" cy="9601200"/>
  <p:custDataLst>
    <p:tags r:id="rId15"/>
  </p:custDataLst>
  <p:defaultTextStyle>
    <a:defPPr>
      <a:defRPr lang="en-US"/>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238">
          <p15:clr>
            <a:srgbClr val="A4A3A4"/>
          </p15:clr>
        </p15:guide>
        <p15:guide id="2" pos="1272" userDrawn="1">
          <p15:clr>
            <a:srgbClr val="A4A3A4"/>
          </p15:clr>
        </p15:guide>
        <p15:guide id="3" orient="horz" pos="429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FD6F7D"/>
    <a:srgbClr val="EBEAF0"/>
    <a:srgbClr val="008000"/>
    <a:srgbClr val="CC3399"/>
    <a:srgbClr val="FF9933"/>
    <a:srgbClr val="FF9966"/>
    <a:srgbClr val="33CC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6327"/>
  </p:normalViewPr>
  <p:slideViewPr>
    <p:cSldViewPr snapToGrid="0">
      <p:cViewPr varScale="1">
        <p:scale>
          <a:sx n="119" d="100"/>
          <a:sy n="119" d="100"/>
        </p:scale>
        <p:origin x="1800" y="184"/>
      </p:cViewPr>
      <p:guideLst>
        <p:guide orient="horz" pos="4238"/>
        <p:guide pos="1272"/>
        <p:guide orient="horz" pos="429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J Prebys" userId="2423660181_tp_box_2" providerId="OAuth2" clId="{7A5D5A21-A55B-52FD-95D2-896217ECBE7C}"/>
    <pc:docChg chg="custSel addSld modSld">
      <pc:chgData name="Eric J Prebys" userId="2423660181_tp_box_2" providerId="OAuth2" clId="{7A5D5A21-A55B-52FD-95D2-896217ECBE7C}" dt="2025-11-14T22:18:31.470" v="13" actId="700"/>
      <pc:docMkLst>
        <pc:docMk/>
      </pc:docMkLst>
      <pc:sldChg chg="addSp modSp new mod modClrScheme chgLayout">
        <pc:chgData name="Eric J Prebys" userId="2423660181_tp_box_2" providerId="OAuth2" clId="{7A5D5A21-A55B-52FD-95D2-896217ECBE7C}" dt="2025-11-14T22:18:31.470" v="13" actId="700"/>
        <pc:sldMkLst>
          <pc:docMk/>
          <pc:sldMk cId="1927807007" sldId="341"/>
        </pc:sldMkLst>
        <pc:spChg chg="mod ord">
          <ac:chgData name="Eric J Prebys" userId="2423660181_tp_box_2" providerId="OAuth2" clId="{7A5D5A21-A55B-52FD-95D2-896217ECBE7C}" dt="2025-11-14T22:18:31.470" v="13" actId="700"/>
          <ac:spMkLst>
            <pc:docMk/>
            <pc:sldMk cId="1927807007" sldId="341"/>
            <ac:spMk id="2" creationId="{A9E16C21-7340-1386-8980-68EFDBF42966}"/>
          </ac:spMkLst>
        </pc:spChg>
        <pc:spChg chg="mod ord">
          <ac:chgData name="Eric J Prebys" userId="2423660181_tp_box_2" providerId="OAuth2" clId="{7A5D5A21-A55B-52FD-95D2-896217ECBE7C}" dt="2025-11-14T22:18:31.470" v="13" actId="700"/>
          <ac:spMkLst>
            <pc:docMk/>
            <pc:sldMk cId="1927807007" sldId="341"/>
            <ac:spMk id="3" creationId="{4C03CBD1-4D1F-39D3-64C2-4387CFE0E33F}"/>
          </ac:spMkLst>
        </pc:spChg>
        <pc:spChg chg="mod ord">
          <ac:chgData name="Eric J Prebys" userId="2423660181_tp_box_2" providerId="OAuth2" clId="{7A5D5A21-A55B-52FD-95D2-896217ECBE7C}" dt="2025-11-14T22:18:31.470" v="13" actId="700"/>
          <ac:spMkLst>
            <pc:docMk/>
            <pc:sldMk cId="1927807007" sldId="341"/>
            <ac:spMk id="4" creationId="{7DC13FEC-9A9F-A723-CD0E-702DDBE2651C}"/>
          </ac:spMkLst>
        </pc:spChg>
        <pc:spChg chg="mod ord">
          <ac:chgData name="Eric J Prebys" userId="2423660181_tp_box_2" providerId="OAuth2" clId="{7A5D5A21-A55B-52FD-95D2-896217ECBE7C}" dt="2025-11-14T22:18:31.470" v="13" actId="700"/>
          <ac:spMkLst>
            <pc:docMk/>
            <pc:sldMk cId="1927807007" sldId="341"/>
            <ac:spMk id="5" creationId="{870CC3FE-006F-C507-61D9-23BFB91D8FFF}"/>
          </ac:spMkLst>
        </pc:spChg>
        <pc:spChg chg="add mod ord">
          <ac:chgData name="Eric J Prebys" userId="2423660181_tp_box_2" providerId="OAuth2" clId="{7A5D5A21-A55B-52FD-95D2-896217ECBE7C}" dt="2025-11-14T22:18:31.470" v="13" actId="700"/>
          <ac:spMkLst>
            <pc:docMk/>
            <pc:sldMk cId="1927807007" sldId="341"/>
            <ac:spMk id="6" creationId="{C12399FE-11F6-3E1C-23E1-AB4290D8711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9" y="0"/>
            <a:ext cx="3169920" cy="480060"/>
          </a:xfrm>
          <a:prstGeom prst="rect">
            <a:avLst/>
          </a:prstGeom>
        </p:spPr>
        <p:txBody>
          <a:bodyPr vert="horz" lIns="96647" tIns="48324" rIns="96647" bIns="48324" rtlCol="0"/>
          <a:lstStyle>
            <a:lvl1pPr algn="r">
              <a:defRPr sz="1300"/>
            </a:lvl1pPr>
          </a:lstStyle>
          <a:p>
            <a:fld id="{D5D641E0-C0FB-FB45-BE20-B5E285E46BDA}" type="datetimeFigureOut">
              <a:rPr lang="en-US" smtClean="0"/>
              <a:t>11/17/25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9" y="9119474"/>
            <a:ext cx="3169920" cy="480060"/>
          </a:xfrm>
          <a:prstGeom prst="rect">
            <a:avLst/>
          </a:prstGeom>
        </p:spPr>
        <p:txBody>
          <a:bodyPr vert="horz" lIns="96647" tIns="48324" rIns="96647" bIns="48324" rtlCol="0" anchor="b"/>
          <a:lstStyle>
            <a:lvl1pPr algn="r">
              <a:defRPr sz="1300"/>
            </a:lvl1pPr>
          </a:lstStyle>
          <a:p>
            <a:fld id="{B2CD667F-4C0A-F045-9861-4468224AED64}" type="slidenum">
              <a:rPr lang="en-US" smtClean="0"/>
              <a:t>‹#›</a:t>
            </a:fld>
            <a:endParaRPr lang="en-US"/>
          </a:p>
        </p:txBody>
      </p:sp>
    </p:spTree>
    <p:extLst>
      <p:ext uri="{BB962C8B-B14F-4D97-AF65-F5344CB8AC3E}">
        <p14:creationId xmlns:p14="http://schemas.microsoft.com/office/powerpoint/2010/main" val="36435965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47" tIns="48324" rIns="96647" bIns="48324" numCol="1" anchor="t" anchorCtr="0" compatLnSpc="1">
            <a:prstTxWarp prst="textNoShape">
              <a:avLst/>
            </a:prstTxWarp>
          </a:bodyPr>
          <a:lstStyle>
            <a:lvl1pPr>
              <a:defRPr sz="1300"/>
            </a:lvl1pPr>
          </a:lstStyle>
          <a:p>
            <a:pPr>
              <a:defRPr/>
            </a:pPr>
            <a:endParaRPr lang="en-US"/>
          </a:p>
        </p:txBody>
      </p:sp>
      <p:sp>
        <p:nvSpPr>
          <p:cNvPr id="4099" name="Rectangle 3"/>
          <p:cNvSpPr>
            <a:spLocks noGrp="1" noChangeArrowheads="1"/>
          </p:cNvSpPr>
          <p:nvPr>
            <p:ph type="dt" idx="1"/>
          </p:nvPr>
        </p:nvSpPr>
        <p:spPr bwMode="auto">
          <a:xfrm>
            <a:off x="4145282" y="0"/>
            <a:ext cx="3169920" cy="480060"/>
          </a:xfrm>
          <a:prstGeom prst="rect">
            <a:avLst/>
          </a:prstGeom>
          <a:noFill/>
          <a:ln w="9525">
            <a:noFill/>
            <a:miter lim="800000"/>
            <a:headEnd/>
            <a:tailEnd/>
          </a:ln>
          <a:effectLst/>
        </p:spPr>
        <p:txBody>
          <a:bodyPr vert="horz" wrap="square" lIns="96647" tIns="48324" rIns="96647" bIns="48324" numCol="1" anchor="t" anchorCtr="0" compatLnSpc="1">
            <a:prstTxWarp prst="textNoShape">
              <a:avLst/>
            </a:prstTxWarp>
          </a:bodyPr>
          <a:lstStyle>
            <a:lvl1pPr algn="r">
              <a:defRPr sz="1300"/>
            </a:lvl1pPr>
          </a:lstStyle>
          <a:p>
            <a:pPr>
              <a:defRPr/>
            </a:pPr>
            <a:endParaRPr lang="en-US"/>
          </a:p>
        </p:txBody>
      </p:sp>
      <p:sp>
        <p:nvSpPr>
          <p:cNvPr id="27652"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75361" y="4560570"/>
            <a:ext cx="5364480" cy="4320540"/>
          </a:xfrm>
          <a:prstGeom prst="rect">
            <a:avLst/>
          </a:prstGeom>
          <a:noFill/>
          <a:ln w="9525">
            <a:noFill/>
            <a:miter lim="800000"/>
            <a:headEnd/>
            <a:tailEnd/>
          </a:ln>
          <a:effectLst/>
        </p:spPr>
        <p:txBody>
          <a:bodyPr vert="horz" wrap="square" lIns="96647" tIns="48324" rIns="96647" bIns="483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47" tIns="48324" rIns="96647" bIns="48324" numCol="1" anchor="b" anchorCtr="0" compatLnSpc="1">
            <a:prstTxWarp prst="textNoShape">
              <a:avLst/>
            </a:prstTxWarp>
          </a:bodyPr>
          <a:lstStyle>
            <a:lvl1pPr>
              <a:defRPr sz="1300"/>
            </a:lvl1pPr>
          </a:lstStyle>
          <a:p>
            <a:pPr>
              <a:defRPr/>
            </a:pPr>
            <a:endParaRPr lang="en-US"/>
          </a:p>
        </p:txBody>
      </p:sp>
      <p:sp>
        <p:nvSpPr>
          <p:cNvPr id="4103" name="Rectangle 7"/>
          <p:cNvSpPr>
            <a:spLocks noGrp="1" noChangeArrowheads="1"/>
          </p:cNvSpPr>
          <p:nvPr>
            <p:ph type="sldNum" sz="quarter" idx="5"/>
          </p:nvPr>
        </p:nvSpPr>
        <p:spPr bwMode="auto">
          <a:xfrm>
            <a:off x="4145282" y="9121140"/>
            <a:ext cx="3169920" cy="480060"/>
          </a:xfrm>
          <a:prstGeom prst="rect">
            <a:avLst/>
          </a:prstGeom>
          <a:noFill/>
          <a:ln w="9525">
            <a:noFill/>
            <a:miter lim="800000"/>
            <a:headEnd/>
            <a:tailEnd/>
          </a:ln>
          <a:effectLst/>
        </p:spPr>
        <p:txBody>
          <a:bodyPr vert="horz" wrap="square" lIns="96647" tIns="48324" rIns="96647" bIns="48324" numCol="1" anchor="b" anchorCtr="0" compatLnSpc="1">
            <a:prstTxWarp prst="textNoShape">
              <a:avLst/>
            </a:prstTxWarp>
          </a:bodyPr>
          <a:lstStyle>
            <a:lvl1pPr algn="r">
              <a:defRPr sz="1300"/>
            </a:lvl1pPr>
          </a:lstStyle>
          <a:p>
            <a:pPr>
              <a:defRPr/>
            </a:pPr>
            <a:fld id="{840E8FAF-0EB9-4F3C-9D18-30F5214B3A3C}" type="slidenum">
              <a:rPr lang="en-US"/>
              <a:pPr>
                <a:defRPr/>
              </a:pPr>
              <a:t>‹#›</a:t>
            </a:fld>
            <a:endParaRPr lang="en-US"/>
          </a:p>
        </p:txBody>
      </p:sp>
    </p:spTree>
    <p:extLst>
      <p:ext uri="{BB962C8B-B14F-4D97-AF65-F5344CB8AC3E}">
        <p14:creationId xmlns:p14="http://schemas.microsoft.com/office/powerpoint/2010/main" val="14291687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840E8FAF-0EB9-4F3C-9D18-30F5214B3A3C}" type="slidenum">
              <a:rPr lang="en-US" smtClean="0"/>
              <a:pPr>
                <a:defRPr/>
              </a:pPr>
              <a:t>2</a:t>
            </a:fld>
            <a:endParaRPr lang="en-US"/>
          </a:p>
        </p:txBody>
      </p:sp>
    </p:spTree>
    <p:extLst>
      <p:ext uri="{BB962C8B-B14F-4D97-AF65-F5344CB8AC3E}">
        <p14:creationId xmlns:p14="http://schemas.microsoft.com/office/powerpoint/2010/main" val="3094669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40E8FAF-0EB9-4F3C-9D18-30F5214B3A3C}" type="slidenum">
              <a:rPr lang="en-US" smtClean="0"/>
              <a:pPr>
                <a:defRPr/>
              </a:pPr>
              <a:t>4</a:t>
            </a:fld>
            <a:endParaRPr lang="en-US"/>
          </a:p>
        </p:txBody>
      </p:sp>
    </p:spTree>
    <p:extLst>
      <p:ext uri="{BB962C8B-B14F-4D97-AF65-F5344CB8AC3E}">
        <p14:creationId xmlns:p14="http://schemas.microsoft.com/office/powerpoint/2010/main" val="2694815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4888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5582482"/>
            <a:ext cx="6400800" cy="554404"/>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Pion Decay Example</a:t>
            </a:r>
          </a:p>
        </p:txBody>
      </p:sp>
      <p:sp>
        <p:nvSpPr>
          <p:cNvPr id="6" name="Slide Number Placeholder 5"/>
          <p:cNvSpPr>
            <a:spLocks noGrp="1"/>
          </p:cNvSpPr>
          <p:nvPr>
            <p:ph type="sldNum" sz="quarter" idx="12"/>
          </p:nvPr>
        </p:nvSpPr>
        <p:spPr/>
        <p:txBody>
          <a:bodyPr/>
          <a:lstStyle/>
          <a:p>
            <a:fld id="{D739C4FB-7D33-419B-8833-D1372BFD11C8}" type="slidenum">
              <a:rPr lang="en-US" smtClean="0"/>
              <a:t>‹#›</a:t>
            </a:fld>
            <a:endParaRPr lang="en-US"/>
          </a:p>
        </p:txBody>
      </p:sp>
      <p:cxnSp>
        <p:nvCxnSpPr>
          <p:cNvPr id="8" name="Straight Connector 7"/>
          <p:cNvCxnSpPr/>
          <p:nvPr/>
        </p:nvCxnSpPr>
        <p:spPr>
          <a:xfrm flipV="1">
            <a:off x="294106" y="5472156"/>
            <a:ext cx="8643661" cy="364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0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a:t>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Pion Decay Example</a:t>
            </a:r>
          </a:p>
        </p:txBody>
      </p:sp>
      <p:sp>
        <p:nvSpPr>
          <p:cNvPr id="6" name="Slide Number Placeholder 5"/>
          <p:cNvSpPr>
            <a:spLocks noGrp="1"/>
          </p:cNvSpPr>
          <p:nvPr>
            <p:ph type="sldNum" sz="quarter" idx="12"/>
          </p:nvPr>
        </p:nvSpPr>
        <p:spPr/>
        <p:txBody>
          <a:bodyPr/>
          <a:lstStyle/>
          <a:p>
            <a:fld id="{D7E63A33-8271-4DD0-9C48-789913D7C115}"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5248656"/>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143000"/>
            <a:ext cx="4038600" cy="5248656"/>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Pion Decay Example</a:t>
            </a:r>
            <a:endParaRPr lang="en-US">
              <a:latin typeface="+mn-lt"/>
            </a:endParaRPr>
          </a:p>
        </p:txBody>
      </p:sp>
      <p:sp>
        <p:nvSpPr>
          <p:cNvPr id="7" name="Slide Number Placeholder 6"/>
          <p:cNvSpPr>
            <a:spLocks noGrp="1"/>
          </p:cNvSpPr>
          <p:nvPr>
            <p:ph type="sldNum" sz="quarter" idx="12"/>
          </p:nvPr>
        </p:nvSpPr>
        <p:spPr/>
        <p:txBody>
          <a:bodyPr/>
          <a:lstStyle/>
          <a:p>
            <a:pPr>
              <a:defRPr/>
            </a:pPr>
            <a:fld id="{8D914655-DFE5-45AD-AEB7-B6324F535D89}" type="slidenum">
              <a:rPr lang="en-US" smtClean="0"/>
              <a:pPr>
                <a:defRPr/>
              </a:pPr>
              <a:t>‹#›</a:t>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pPr>
              <a:defRPr/>
            </a:pPr>
            <a:r>
              <a:rPr lang="en-US"/>
              <a:t>Phy 40, Fall 2025</a:t>
            </a:r>
            <a:endParaRPr lang="en-US" dirty="0"/>
          </a:p>
        </p:txBody>
      </p:sp>
      <p:sp>
        <p:nvSpPr>
          <p:cNvPr id="8" name="Footer Placeholder 7"/>
          <p:cNvSpPr>
            <a:spLocks noGrp="1"/>
          </p:cNvSpPr>
          <p:nvPr>
            <p:ph type="ftr" sz="quarter" idx="11"/>
          </p:nvPr>
        </p:nvSpPr>
        <p:spPr/>
        <p:txBody>
          <a:bodyPr/>
          <a:lstStyle/>
          <a:p>
            <a:pPr>
              <a:defRPr/>
            </a:pPr>
            <a:r>
              <a:rPr lang="en-US"/>
              <a:t>Pion Decay Example</a:t>
            </a:r>
            <a:endParaRPr lang="en-US">
              <a:latin typeface="+mn-lt"/>
            </a:endParaRPr>
          </a:p>
        </p:txBody>
      </p:sp>
      <p:sp>
        <p:nvSpPr>
          <p:cNvPr id="9" name="Slide Number Placeholder 8"/>
          <p:cNvSpPr>
            <a:spLocks noGrp="1"/>
          </p:cNvSpPr>
          <p:nvPr>
            <p:ph type="sldNum" sz="quarter" idx="12"/>
          </p:nvPr>
        </p:nvSpPr>
        <p:spPr/>
        <p:txBody>
          <a:bodyPr/>
          <a:lstStyle/>
          <a:p>
            <a:pPr>
              <a:defRPr/>
            </a:pPr>
            <a:fld id="{71013A5A-BD10-4E42-8EDD-42C4A14A642B}"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Pion Decay Example</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a:t>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Phy 40, Fall 2025</a:t>
            </a:r>
            <a:endParaRPr lang="en-US" dirty="0"/>
          </a:p>
        </p:txBody>
      </p:sp>
      <p:sp>
        <p:nvSpPr>
          <p:cNvPr id="3" name="Footer Placeholder 2"/>
          <p:cNvSpPr>
            <a:spLocks noGrp="1"/>
          </p:cNvSpPr>
          <p:nvPr>
            <p:ph type="ftr" sz="quarter" idx="11"/>
          </p:nvPr>
        </p:nvSpPr>
        <p:spPr/>
        <p:txBody>
          <a:bodyPr/>
          <a:lstStyle/>
          <a:p>
            <a:pPr>
              <a:defRPr/>
            </a:pPr>
            <a:r>
              <a:rPr lang="en-US"/>
              <a:t>Pion Decay Example</a:t>
            </a:r>
            <a:endParaRPr lang="en-US">
              <a:latin typeface="+mn-lt"/>
            </a:endParaRPr>
          </a:p>
        </p:txBody>
      </p:sp>
      <p:sp>
        <p:nvSpPr>
          <p:cNvPr id="4" name="Slide Number Placeholder 3"/>
          <p:cNvSpPr>
            <a:spLocks noGrp="1"/>
          </p:cNvSpPr>
          <p:nvPr>
            <p:ph type="sldNum" sz="quarter" idx="12"/>
          </p:nvPr>
        </p:nvSpPr>
        <p:spPr/>
        <p:txBody>
          <a:bodyPr/>
          <a:lstStyle/>
          <a:p>
            <a:pPr>
              <a:defRPr/>
            </a:pPr>
            <a:fld id="{7A871096-0617-41A5-9758-D80165640925}" type="slidenum">
              <a:rPr lang="en-US" smtClean="0"/>
              <a:pPr>
                <a:defRPr/>
              </a:pPr>
              <a:t>‹#›</a:t>
            </a:fld>
            <a:endParaRPr 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Pion Decay Example</a:t>
            </a:r>
            <a:endParaRPr lang="en-US">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p>
        </p:txBody>
      </p:sp>
      <p:sp>
        <p:nvSpPr>
          <p:cNvPr id="6" name="Footer Placeholder 5"/>
          <p:cNvSpPr>
            <a:spLocks noGrp="1"/>
          </p:cNvSpPr>
          <p:nvPr>
            <p:ph type="ftr" sz="quarter" idx="11"/>
          </p:nvPr>
        </p:nvSpPr>
        <p:spPr/>
        <p:txBody>
          <a:bodyPr/>
          <a:lstStyle/>
          <a:p>
            <a:pPr>
              <a:defRPr/>
            </a:pPr>
            <a:r>
              <a:rPr lang="en-US"/>
              <a:t>Pion Decay Example</a:t>
            </a:r>
            <a:endParaRPr lang="en-US">
              <a:latin typeface="+mn-lt"/>
            </a:endParaRPr>
          </a:p>
        </p:txBody>
      </p:sp>
      <p:sp>
        <p:nvSpPr>
          <p:cNvPr id="7" name="Slide Number Placeholder 6"/>
          <p:cNvSpPr>
            <a:spLocks noGrp="1"/>
          </p:cNvSpPr>
          <p:nvPr>
            <p:ph type="sldNum" sz="quarter" idx="12"/>
          </p:nvPr>
        </p:nvSpPr>
        <p:spPr/>
        <p:txBody>
          <a:bodyPr/>
          <a:lstStyle/>
          <a:p>
            <a:pPr>
              <a:defRPr/>
            </a:pPr>
            <a:fld id="{F58A0D8F-9A19-4D03-8318-653C6FCD8B95}" type="slidenum">
              <a:rPr lang="en-US" smtClean="0"/>
              <a:pPr>
                <a:defRPr/>
              </a:pPr>
              <a:t>‹#›</a:t>
            </a:fld>
            <a:endParaRPr lang="en-US"/>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p:cNvSpPr>
            <a:spLocks noGrp="1"/>
          </p:cNvSpPr>
          <p:nvPr>
            <p:ph type="sldNum" sz="quarter" idx="12"/>
          </p:nvPr>
        </p:nvSpPr>
        <p:spPr/>
        <p:txBody>
          <a:bodyPr/>
          <a:lstStyle/>
          <a:p>
            <a:pPr>
              <a:defRPr/>
            </a:pPr>
            <a:fld id="{8309CFA1-B09C-442F-85C3-919131D33D24}" type="slidenum">
              <a:rPr lang="en-US" smtClean="0"/>
              <a:pPr>
                <a:defRPr/>
              </a:pPr>
              <a:t>‹#›</a:t>
            </a:fld>
            <a:endParaRPr 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Phy 40, Fall 2025</a:t>
            </a:r>
          </a:p>
        </p:txBody>
      </p:sp>
      <p:sp>
        <p:nvSpPr>
          <p:cNvPr id="5" name="Footer Placeholder 4"/>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p:cNvSpPr>
            <a:spLocks noGrp="1"/>
          </p:cNvSpPr>
          <p:nvPr>
            <p:ph type="sldNum" sz="quarter" idx="12"/>
          </p:nvPr>
        </p:nvSpPr>
        <p:spPr/>
        <p:txBody>
          <a:bodyPr/>
          <a:lstStyle/>
          <a:p>
            <a:pPr>
              <a:defRPr/>
            </a:pPr>
            <a:fld id="{05B137E2-35D0-4667-9362-8260FF57AB09}" type="slidenum">
              <a:rPr lang="en-US" smtClean="0"/>
              <a:pPr>
                <a:defRPr/>
              </a:pPr>
              <a:t>‹#›</a:t>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41713" y="471448"/>
            <a:ext cx="8229600" cy="6282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1713" y="1182021"/>
            <a:ext cx="8229600" cy="54417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Phy 40, Fall 2025</a:t>
            </a:r>
            <a:endParaRPr lang="en-US" dirty="0"/>
          </a:p>
        </p:txBody>
      </p:sp>
      <p:sp>
        <p:nvSpPr>
          <p:cNvPr id="5" name="Footer Placeholder 4"/>
          <p:cNvSpPr>
            <a:spLocks noGrp="1"/>
          </p:cNvSpPr>
          <p:nvPr>
            <p:ph type="ftr" sz="quarter" idx="3"/>
          </p:nvPr>
        </p:nvSpPr>
        <p:spPr>
          <a:xfrm>
            <a:off x="3429000" y="18288"/>
            <a:ext cx="440944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Pion Decay Example</a:t>
            </a:r>
            <a:endParaRPr lang="en-US" dirty="0">
              <a:latin typeface="+mn-lt"/>
            </a:endParaRPr>
          </a:p>
        </p:txBody>
      </p:sp>
      <p:sp>
        <p:nvSpPr>
          <p:cNvPr id="6" name="Slide Number Placeholder 5"/>
          <p:cNvSpPr>
            <a:spLocks noGrp="1"/>
          </p:cNvSpPr>
          <p:nvPr>
            <p:ph type="sldNum" sz="quarter" idx="4"/>
          </p:nvPr>
        </p:nvSpPr>
        <p:spPr>
          <a:xfrm>
            <a:off x="7909560" y="18288"/>
            <a:ext cx="77724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61210FB4-E372-466D-A3EB-21FD966A10F2}" type="slidenum">
              <a:rPr lang="en-US" smtClean="0"/>
              <a:pPr>
                <a:defRPr/>
              </a:pPr>
              <a:t>‹#›</a:t>
            </a:fld>
            <a:endParaRPr lang="en-US" dirty="0"/>
          </a:p>
        </p:txBody>
      </p:sp>
      <p:sp>
        <p:nvSpPr>
          <p:cNvPr id="9" name="Text Box 11"/>
          <p:cNvSpPr txBox="1">
            <a:spLocks noChangeArrowheads="1"/>
          </p:cNvSpPr>
          <p:nvPr userDrawn="1"/>
        </p:nvSpPr>
        <p:spPr bwMode="auto">
          <a:xfrm>
            <a:off x="381000" y="6553200"/>
            <a:ext cx="1676400" cy="579438"/>
          </a:xfrm>
          <a:prstGeom prst="rect">
            <a:avLst/>
          </a:prstGeom>
          <a:noFill/>
          <a:ln w="9525">
            <a:noFill/>
            <a:miter lim="800000"/>
            <a:headEnd/>
            <a:tailEnd/>
          </a:ln>
          <a:effectLst/>
        </p:spPr>
        <p:txBody>
          <a:bodyPr>
            <a:spAutoFit/>
          </a:bodyPr>
          <a:lstStyle/>
          <a:p>
            <a:pPr>
              <a:spcBef>
                <a:spcPct val="50000"/>
              </a:spcBef>
              <a:defRPr/>
            </a:pPr>
            <a:endParaRPr lang="en-US"/>
          </a:p>
        </p:txBody>
      </p:sp>
      <p:pic>
        <p:nvPicPr>
          <p:cNvPr id="13" name="Picture 12"/>
          <p:cNvPicPr>
            <a:picLocks noChangeAspect="1"/>
          </p:cNvPicPr>
          <p:nvPr userDrawn="1"/>
        </p:nvPicPr>
        <p:blipFill>
          <a:blip r:embed="rId13"/>
          <a:stretch>
            <a:fillRect/>
          </a:stretch>
        </p:blipFill>
        <p:spPr>
          <a:xfrm>
            <a:off x="8781336" y="1"/>
            <a:ext cx="362663" cy="370830"/>
          </a:xfrm>
          <a:prstGeom prst="rect">
            <a:avLst/>
          </a:prstGeom>
        </p:spPr>
      </p:pic>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p:transition>
    <p:fade thruBlk="1"/>
  </p:transition>
  <p:hf hdr="0"/>
  <p:txStyles>
    <p:titleStyle>
      <a:lvl1pPr algn="l" defTabSz="914400" rtl="0" eaLnBrk="1" latinLnBrk="0" hangingPunct="1">
        <a:spcBef>
          <a:spcPct val="0"/>
        </a:spcBef>
        <a:buNone/>
        <a:defRPr sz="32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6.bin"/><Relationship Id="rId7" Type="http://schemas.openxmlformats.org/officeDocument/2006/relationships/image" Target="../media/image11.emf"/><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7.bin"/><Relationship Id="rId4" Type="http://schemas.openxmlformats.org/officeDocument/2006/relationships/image" Target="../media/image9.emf"/><Relationship Id="rId9" Type="http://schemas.openxmlformats.org/officeDocument/2006/relationships/image" Target="../media/image13.emf"/></Relationships>
</file>

<file path=ppt/slides/_rels/slide4.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image" Target="../media/image20.jpg"/><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emf"/><Relationship Id="rId11" Type="http://schemas.openxmlformats.org/officeDocument/2006/relationships/image" Target="../media/image18.jpg"/><Relationship Id="rId5" Type="http://schemas.openxmlformats.org/officeDocument/2006/relationships/oleObject" Target="../embeddings/oleObject9.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gif"/><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28.emf"/><Relationship Id="rId7" Type="http://schemas.openxmlformats.org/officeDocument/2006/relationships/image" Target="../media/image32.emf"/><Relationship Id="rId2" Type="http://schemas.openxmlformats.org/officeDocument/2006/relationships/image" Target="../media/image27.emf"/><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F709-0DC7-8849-872D-079049103E57}"/>
              </a:ext>
            </a:extLst>
          </p:cNvPr>
          <p:cNvSpPr>
            <a:spLocks noGrp="1"/>
          </p:cNvSpPr>
          <p:nvPr>
            <p:ph type="ctrTitle"/>
          </p:nvPr>
        </p:nvSpPr>
        <p:spPr>
          <a:xfrm>
            <a:off x="313050" y="1231835"/>
            <a:ext cx="7848600" cy="1927225"/>
          </a:xfrm>
        </p:spPr>
        <p:txBody>
          <a:bodyPr/>
          <a:lstStyle/>
          <a:p>
            <a:r>
              <a:rPr lang="en-US" dirty="0"/>
              <a:t>Pion Decay Example</a:t>
            </a:r>
          </a:p>
        </p:txBody>
      </p:sp>
      <p:sp>
        <p:nvSpPr>
          <p:cNvPr id="3" name="Subtitle 2">
            <a:extLst>
              <a:ext uri="{FF2B5EF4-FFF2-40B4-BE49-F238E27FC236}">
                <a16:creationId xmlns:a16="http://schemas.microsoft.com/office/drawing/2014/main" id="{B944D4B2-62CD-7942-82CC-69E45AE79576}"/>
              </a:ext>
            </a:extLst>
          </p:cNvPr>
          <p:cNvSpPr>
            <a:spLocks noGrp="1"/>
          </p:cNvSpPr>
          <p:nvPr>
            <p:ph type="subTitle" idx="1"/>
          </p:nvPr>
        </p:nvSpPr>
        <p:spPr>
          <a:xfrm>
            <a:off x="685800" y="5582482"/>
            <a:ext cx="6400800" cy="954952"/>
          </a:xfrm>
        </p:spPr>
        <p:txBody>
          <a:bodyPr>
            <a:normAutofit fontScale="85000" lnSpcReduction="20000"/>
          </a:bodyPr>
          <a:lstStyle/>
          <a:p>
            <a:r>
              <a:rPr lang="en-US" dirty="0"/>
              <a:t>Eric </a:t>
            </a:r>
            <a:r>
              <a:rPr lang="en-US" dirty="0" err="1"/>
              <a:t>Prebys</a:t>
            </a:r>
            <a:endParaRPr lang="en-US" dirty="0"/>
          </a:p>
          <a:p>
            <a:r>
              <a:rPr lang="en-US" dirty="0" err="1"/>
              <a:t>Phy</a:t>
            </a:r>
            <a:r>
              <a:rPr lang="en-US" dirty="0"/>
              <a:t> 40</a:t>
            </a:r>
          </a:p>
          <a:p>
            <a:r>
              <a:rPr lang="en-US" dirty="0"/>
              <a:t>Fall 2025</a:t>
            </a:r>
          </a:p>
        </p:txBody>
      </p:sp>
    </p:spTree>
    <p:extLst>
      <p:ext uri="{BB962C8B-B14F-4D97-AF65-F5344CB8AC3E}">
        <p14:creationId xmlns:p14="http://schemas.microsoft.com/office/powerpoint/2010/main" val="1000467981"/>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51367" y="473864"/>
            <a:ext cx="7886700" cy="600164"/>
          </a:xfrm>
        </p:spPr>
        <p:txBody>
          <a:bodyPr/>
          <a:lstStyle/>
          <a:p>
            <a:r>
              <a:rPr lang="en-US" dirty="0"/>
              <a:t>Relativity and Units</a:t>
            </a:r>
          </a:p>
        </p:txBody>
      </p:sp>
      <p:sp>
        <p:nvSpPr>
          <p:cNvPr id="10" name="Content Placeholder 9"/>
          <p:cNvSpPr>
            <a:spLocks noGrp="1"/>
          </p:cNvSpPr>
          <p:nvPr>
            <p:ph idx="1"/>
          </p:nvPr>
        </p:nvSpPr>
        <p:spPr>
          <a:xfrm>
            <a:off x="342648" y="1183045"/>
            <a:ext cx="8640224" cy="5593213"/>
          </a:xfrm>
        </p:spPr>
        <p:txBody>
          <a:bodyPr>
            <a:normAutofit/>
          </a:bodyPr>
          <a:lstStyle/>
          <a:p>
            <a:r>
              <a:rPr lang="en-US" sz="1800" dirty="0"/>
              <a:t>Basic Relativity</a:t>
            </a:r>
          </a:p>
          <a:p>
            <a:endParaRPr lang="en-US" sz="1800" dirty="0"/>
          </a:p>
          <a:p>
            <a:endParaRPr lang="en-US" sz="1800" dirty="0"/>
          </a:p>
          <a:p>
            <a:endParaRPr lang="en-US" sz="1800" dirty="0"/>
          </a:p>
          <a:p>
            <a:endParaRPr lang="en-US" sz="1800" dirty="0"/>
          </a:p>
          <a:p>
            <a:endParaRPr lang="en-US" sz="1800" dirty="0"/>
          </a:p>
          <a:p>
            <a:endParaRPr lang="en-US" sz="1800" dirty="0"/>
          </a:p>
          <a:p>
            <a:pPr marL="0" indent="0">
              <a:buNone/>
            </a:pPr>
            <a:endParaRPr lang="en-US" sz="2000" dirty="0"/>
          </a:p>
          <a:p>
            <a:pPr marL="0" indent="0">
              <a:buNone/>
            </a:pPr>
            <a:endParaRPr lang="en-US" sz="3600" dirty="0"/>
          </a:p>
          <a:p>
            <a:pPr marL="0" indent="0">
              <a:buNone/>
            </a:pPr>
            <a:endParaRPr lang="en-US" sz="2000" dirty="0"/>
          </a:p>
          <a:p>
            <a:r>
              <a:rPr lang="en-US" sz="1800" dirty="0"/>
              <a:t>Units</a:t>
            </a:r>
          </a:p>
          <a:p>
            <a:pPr lvl="2"/>
            <a:r>
              <a:rPr lang="en-US" sz="1800" dirty="0"/>
              <a:t>Energy: eV (keV, MeV, etc) [1 eV = 1.6x10</a:t>
            </a:r>
            <a:r>
              <a:rPr lang="en-US" sz="1800" baseline="30000" dirty="0"/>
              <a:t>-19</a:t>
            </a:r>
            <a:r>
              <a:rPr lang="en-US" sz="1800" dirty="0"/>
              <a:t> J]</a:t>
            </a:r>
          </a:p>
          <a:p>
            <a:pPr lvl="2"/>
            <a:r>
              <a:rPr lang="en-US" sz="1800" dirty="0"/>
              <a:t>Mass: </a:t>
            </a:r>
            <a:r>
              <a:rPr lang="en-US" sz="1800" dirty="0" err="1"/>
              <a:t>eV</a:t>
            </a:r>
            <a:r>
              <a:rPr lang="en-US" sz="1800" dirty="0"/>
              <a:t>/c</a:t>
            </a:r>
            <a:r>
              <a:rPr lang="en-US" sz="1800" baseline="30000" dirty="0"/>
              <a:t>2                                   </a:t>
            </a:r>
            <a:r>
              <a:rPr lang="en-US" sz="1800" dirty="0"/>
              <a:t>[proton = 1.67x10</a:t>
            </a:r>
            <a:r>
              <a:rPr lang="en-US" sz="1800" baseline="30000" dirty="0"/>
              <a:t>-27</a:t>
            </a:r>
            <a:r>
              <a:rPr lang="en-US" sz="1800" dirty="0"/>
              <a:t> kg = 938 </a:t>
            </a:r>
            <a:r>
              <a:rPr lang="en-US" sz="1800" dirty="0" err="1"/>
              <a:t>MeV</a:t>
            </a:r>
            <a:r>
              <a:rPr lang="en-US" sz="1800" dirty="0"/>
              <a:t>/c</a:t>
            </a:r>
            <a:r>
              <a:rPr lang="en-US" sz="1800" baseline="30000" dirty="0"/>
              <a:t>2</a:t>
            </a:r>
            <a:r>
              <a:rPr lang="en-US" sz="1800" dirty="0"/>
              <a:t>]</a:t>
            </a:r>
          </a:p>
          <a:p>
            <a:pPr lvl="2"/>
            <a:r>
              <a:rPr lang="en-US" sz="1800" dirty="0"/>
              <a:t>Momentum: </a:t>
            </a:r>
            <a:r>
              <a:rPr lang="en-US" sz="1800" dirty="0" err="1"/>
              <a:t>eV</a:t>
            </a:r>
            <a:r>
              <a:rPr lang="en-US" sz="1800" dirty="0"/>
              <a:t>/c	            [proton @ β=.9 = 1.94 </a:t>
            </a:r>
            <a:r>
              <a:rPr lang="en-US" sz="1800" dirty="0" err="1"/>
              <a:t>GeV</a:t>
            </a:r>
            <a:r>
              <a:rPr lang="en-US" sz="1800" dirty="0"/>
              <a:t>/c]</a:t>
            </a:r>
          </a:p>
          <a:p>
            <a:endParaRPr lang="en-US" sz="1800" dirty="0"/>
          </a:p>
          <a:p>
            <a:endParaRPr lang="en-US" sz="1800" dirty="0"/>
          </a:p>
          <a:p>
            <a:endParaRPr lang="en-US" sz="1800" dirty="0"/>
          </a:p>
          <a:p>
            <a:endParaRPr lang="en-US" sz="1800" dirty="0"/>
          </a:p>
          <a:p>
            <a:endParaRPr lang="en-US" sz="1800" dirty="0"/>
          </a:p>
          <a:p>
            <a:pPr>
              <a:buNone/>
            </a:pPr>
            <a:endParaRPr lang="en-US" sz="1800" dirty="0"/>
          </a:p>
        </p:txBody>
      </p:sp>
      <p:graphicFrame>
        <p:nvGraphicFramePr>
          <p:cNvPr id="11" name="Object 10"/>
          <p:cNvGraphicFramePr>
            <a:graphicFrameLocks noChangeAspect="1"/>
          </p:cNvGraphicFramePr>
          <p:nvPr/>
        </p:nvGraphicFramePr>
        <p:xfrm>
          <a:off x="1275493" y="1665450"/>
          <a:ext cx="3014552" cy="2699695"/>
        </p:xfrm>
        <a:graphic>
          <a:graphicData uri="http://schemas.openxmlformats.org/presentationml/2006/ole">
            <mc:AlternateContent xmlns:mc="http://schemas.openxmlformats.org/markup-compatibility/2006">
              <mc:Choice xmlns:v="urn:schemas-microsoft-com:vml" Requires="v">
                <p:oleObj name="Equation" r:id="rId3" imgW="2184400" imgH="1955800" progId="Equation.DSMT4">
                  <p:embed/>
                </p:oleObj>
              </mc:Choice>
              <mc:Fallback>
                <p:oleObj name="Equation" r:id="rId3" imgW="2184400" imgH="1955800" progId="Equation.DSMT4">
                  <p:embed/>
                  <p:pic>
                    <p:nvPicPr>
                      <p:cNvPr id="11" name="Object 10"/>
                      <p:cNvPicPr>
                        <a:picLocks noChangeAspect="1" noChangeArrowheads="1"/>
                      </p:cNvPicPr>
                      <p:nvPr/>
                    </p:nvPicPr>
                    <p:blipFill>
                      <a:blip r:embed="rId4"/>
                      <a:srcRect/>
                      <a:stretch>
                        <a:fillRect/>
                      </a:stretch>
                    </p:blipFill>
                    <p:spPr bwMode="auto">
                      <a:xfrm>
                        <a:off x="1275493" y="1665450"/>
                        <a:ext cx="3014552" cy="2699695"/>
                      </a:xfrm>
                      <a:prstGeom prst="rect">
                        <a:avLst/>
                      </a:prstGeom>
                      <a:noFill/>
                      <a:ln w="9525">
                        <a:solidFill>
                          <a:srgbClr val="FF0000"/>
                        </a:solidFill>
                        <a:miter lim="800000"/>
                        <a:headEnd/>
                        <a:tailEnd/>
                      </a:ln>
                    </p:spPr>
                  </p:pic>
                </p:oleObj>
              </mc:Fallback>
            </mc:AlternateContent>
          </a:graphicData>
        </a:graphic>
      </p:graphicFrame>
      <p:graphicFrame>
        <p:nvGraphicFramePr>
          <p:cNvPr id="398339" name="Object 3"/>
          <p:cNvGraphicFramePr>
            <a:graphicFrameLocks noChangeAspect="1"/>
          </p:cNvGraphicFramePr>
          <p:nvPr/>
        </p:nvGraphicFramePr>
        <p:xfrm>
          <a:off x="5953922" y="2592409"/>
          <a:ext cx="1133594" cy="1953578"/>
        </p:xfrm>
        <a:graphic>
          <a:graphicData uri="http://schemas.openxmlformats.org/presentationml/2006/ole">
            <mc:AlternateContent xmlns:mc="http://schemas.openxmlformats.org/markup-compatibility/2006">
              <mc:Choice xmlns:v="urn:schemas-microsoft-com:vml" Requires="v">
                <p:oleObj name="Equation" r:id="rId5" imgW="639720" imgH="1179360" progId="Equation.DSMT4">
                  <p:embed/>
                </p:oleObj>
              </mc:Choice>
              <mc:Fallback>
                <p:oleObj name="Equation" r:id="rId5" imgW="639720" imgH="1179360" progId="Equation.DSMT4">
                  <p:embed/>
                  <p:pic>
                    <p:nvPicPr>
                      <p:cNvPr id="3983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3922" y="2592409"/>
                        <a:ext cx="1133594" cy="1953578"/>
                      </a:xfrm>
                      <a:prstGeom prst="rect">
                        <a:avLst/>
                      </a:prstGeom>
                      <a:noFill/>
                      <a:ln w="9525">
                        <a:solidFill>
                          <a:srgbClr val="FF0000"/>
                        </a:solidFill>
                        <a:miter lim="800000"/>
                        <a:headEnd/>
                        <a:tailEnd/>
                      </a:ln>
                    </p:spPr>
                  </p:pic>
                </p:oleObj>
              </mc:Fallback>
            </mc:AlternateContent>
          </a:graphicData>
        </a:graphic>
      </p:graphicFrame>
      <p:sp>
        <p:nvSpPr>
          <p:cNvPr id="13" name="TextBox 12"/>
          <p:cNvSpPr txBox="1"/>
          <p:nvPr/>
        </p:nvSpPr>
        <p:spPr>
          <a:xfrm>
            <a:off x="5172873" y="1940619"/>
            <a:ext cx="3013023" cy="369332"/>
          </a:xfrm>
          <a:prstGeom prst="rect">
            <a:avLst/>
          </a:prstGeom>
          <a:noFill/>
        </p:spPr>
        <p:txBody>
          <a:bodyPr wrap="square" rtlCol="0">
            <a:spAutoFit/>
          </a:bodyPr>
          <a:lstStyle/>
          <a:p>
            <a:r>
              <a:rPr lang="en-US" sz="1800" dirty="0">
                <a:solidFill>
                  <a:srgbClr val="C00000"/>
                </a:solidFill>
                <a:latin typeface="+mn-lt"/>
              </a:rPr>
              <a:t>Some Handy Relationships</a:t>
            </a:r>
          </a:p>
        </p:txBody>
      </p:sp>
      <p:sp>
        <p:nvSpPr>
          <p:cNvPr id="12" name="TextBox 11"/>
          <p:cNvSpPr txBox="1"/>
          <p:nvPr/>
        </p:nvSpPr>
        <p:spPr>
          <a:xfrm>
            <a:off x="6553292" y="4655004"/>
            <a:ext cx="2438400" cy="830997"/>
          </a:xfrm>
          <a:prstGeom prst="rect">
            <a:avLst/>
          </a:prstGeom>
          <a:noFill/>
        </p:spPr>
        <p:txBody>
          <a:bodyPr wrap="square" rtlCol="0">
            <a:spAutoFit/>
          </a:bodyPr>
          <a:lstStyle/>
          <a:p>
            <a:r>
              <a:rPr lang="en-US" sz="1600" dirty="0">
                <a:solidFill>
                  <a:srgbClr val="C00000"/>
                </a:solidFill>
                <a:latin typeface="+mn-lt"/>
              </a:rPr>
              <a:t>These units make these relationships really easy to calculate</a:t>
            </a:r>
          </a:p>
        </p:txBody>
      </p:sp>
      <p:sp>
        <p:nvSpPr>
          <p:cNvPr id="4" name="Freeform 3"/>
          <p:cNvSpPr/>
          <p:nvPr/>
        </p:nvSpPr>
        <p:spPr>
          <a:xfrm>
            <a:off x="6089582" y="4657269"/>
            <a:ext cx="383996" cy="724291"/>
          </a:xfrm>
          <a:custGeom>
            <a:avLst/>
            <a:gdLst>
              <a:gd name="connsiteX0" fmla="*/ 69775 w 530702"/>
              <a:gd name="connsiteY0" fmla="*/ 0 h 1995816"/>
              <a:gd name="connsiteX1" fmla="*/ 530290 w 530702"/>
              <a:gd name="connsiteY1" fmla="*/ 851362 h 1995816"/>
              <a:gd name="connsiteX2" fmla="*/ 0 w 530702"/>
              <a:gd name="connsiteY2" fmla="*/ 1995816 h 1995816"/>
              <a:gd name="connsiteX0" fmla="*/ 293055 w 547252"/>
              <a:gd name="connsiteY0" fmla="*/ 0 h 1995816"/>
              <a:gd name="connsiteX1" fmla="*/ 530290 w 547252"/>
              <a:gd name="connsiteY1" fmla="*/ 851362 h 1995816"/>
              <a:gd name="connsiteX2" fmla="*/ 0 w 547252"/>
              <a:gd name="connsiteY2" fmla="*/ 1995816 h 1995816"/>
              <a:gd name="connsiteX0" fmla="*/ 293055 w 543213"/>
              <a:gd name="connsiteY0" fmla="*/ 0 h 1995816"/>
              <a:gd name="connsiteX1" fmla="*/ 530290 w 543213"/>
              <a:gd name="connsiteY1" fmla="*/ 851362 h 1995816"/>
              <a:gd name="connsiteX2" fmla="*/ 0 w 543213"/>
              <a:gd name="connsiteY2" fmla="*/ 1995816 h 1995816"/>
              <a:gd name="connsiteX0" fmla="*/ 293055 w 538788"/>
              <a:gd name="connsiteY0" fmla="*/ 0 h 1995816"/>
              <a:gd name="connsiteX1" fmla="*/ 530290 w 538788"/>
              <a:gd name="connsiteY1" fmla="*/ 851362 h 1995816"/>
              <a:gd name="connsiteX2" fmla="*/ 0 w 538788"/>
              <a:gd name="connsiteY2" fmla="*/ 1995816 h 1995816"/>
              <a:gd name="connsiteX0" fmla="*/ 339237 w 541070"/>
              <a:gd name="connsiteY0" fmla="*/ 0 h 2275748"/>
              <a:gd name="connsiteX1" fmla="*/ 530290 w 541070"/>
              <a:gd name="connsiteY1" fmla="*/ 1131294 h 2275748"/>
              <a:gd name="connsiteX2" fmla="*/ 0 w 541070"/>
              <a:gd name="connsiteY2" fmla="*/ 2275748 h 2275748"/>
            </a:gdLst>
            <a:ahLst/>
            <a:cxnLst>
              <a:cxn ang="0">
                <a:pos x="connsiteX0" y="connsiteY0"/>
              </a:cxn>
              <a:cxn ang="0">
                <a:pos x="connsiteX1" y="connsiteY1"/>
              </a:cxn>
              <a:cxn ang="0">
                <a:pos x="connsiteX2" y="connsiteY2"/>
              </a:cxn>
            </a:cxnLst>
            <a:rect l="l" t="t" r="r" b="b"/>
            <a:pathLst>
              <a:path w="541070" h="2275748">
                <a:moveTo>
                  <a:pt x="339237" y="0"/>
                </a:moveTo>
                <a:cubicBezTo>
                  <a:pt x="452626" y="518776"/>
                  <a:pt x="579133" y="798658"/>
                  <a:pt x="530290" y="1131294"/>
                </a:cubicBezTo>
                <a:cubicBezTo>
                  <a:pt x="481448" y="1463930"/>
                  <a:pt x="0" y="2275748"/>
                  <a:pt x="0" y="2275748"/>
                </a:cubicBezTo>
              </a:path>
            </a:pathLst>
          </a:custGeom>
          <a:ln w="12700">
            <a:solidFill>
              <a:srgbClr val="FF0000"/>
            </a:solidFill>
            <a:headEnd type="arrow"/>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 name="Straight Connector 2"/>
          <p:cNvCxnSpPr/>
          <p:nvPr/>
        </p:nvCxnSpPr>
        <p:spPr>
          <a:xfrm flipV="1">
            <a:off x="5562692" y="979649"/>
            <a:ext cx="1752600" cy="68580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5562692" y="1665449"/>
            <a:ext cx="1752600" cy="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7315292" y="979649"/>
            <a:ext cx="0" cy="68580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aphicFrame>
        <p:nvGraphicFramePr>
          <p:cNvPr id="17" name="Object 16"/>
          <p:cNvGraphicFramePr>
            <a:graphicFrameLocks noChangeAspect="1"/>
          </p:cNvGraphicFramePr>
          <p:nvPr/>
        </p:nvGraphicFramePr>
        <p:xfrm>
          <a:off x="6324692" y="979649"/>
          <a:ext cx="228600" cy="228600"/>
        </p:xfrm>
        <a:graphic>
          <a:graphicData uri="http://schemas.openxmlformats.org/presentationml/2006/ole">
            <mc:AlternateContent xmlns:mc="http://schemas.openxmlformats.org/markup-compatibility/2006">
              <mc:Choice xmlns:v="urn:schemas-microsoft-com:vml" Requires="v">
                <p:oleObj name="Equation" r:id="rId7" imgW="152400" imgH="152400" progId="Equation.DSMT4">
                  <p:embed/>
                </p:oleObj>
              </mc:Choice>
              <mc:Fallback>
                <p:oleObj name="Equation" r:id="rId7" imgW="152400" imgH="152400" progId="Equation.DSMT4">
                  <p:embed/>
                  <p:pic>
                    <p:nvPicPr>
                      <p:cNvPr id="17" name="Object 16"/>
                      <p:cNvPicPr/>
                      <p:nvPr/>
                    </p:nvPicPr>
                    <p:blipFill>
                      <a:blip r:embed="rId8"/>
                      <a:stretch>
                        <a:fillRect/>
                      </a:stretch>
                    </p:blipFill>
                    <p:spPr>
                      <a:xfrm>
                        <a:off x="6324692" y="979649"/>
                        <a:ext cx="228600" cy="228600"/>
                      </a:xfrm>
                      <a:prstGeom prst="rect">
                        <a:avLst/>
                      </a:prstGeom>
                    </p:spPr>
                  </p:pic>
                </p:oleObj>
              </mc:Fallback>
            </mc:AlternateContent>
          </a:graphicData>
        </a:graphic>
      </p:graphicFrame>
      <p:graphicFrame>
        <p:nvGraphicFramePr>
          <p:cNvPr id="19" name="Object 18"/>
          <p:cNvGraphicFramePr>
            <a:graphicFrameLocks noChangeAspect="1"/>
          </p:cNvGraphicFramePr>
          <p:nvPr/>
        </p:nvGraphicFramePr>
        <p:xfrm>
          <a:off x="7391492" y="1208249"/>
          <a:ext cx="419100" cy="285750"/>
        </p:xfrm>
        <a:graphic>
          <a:graphicData uri="http://schemas.openxmlformats.org/presentationml/2006/ole">
            <mc:AlternateContent xmlns:mc="http://schemas.openxmlformats.org/markup-compatibility/2006">
              <mc:Choice xmlns:v="urn:schemas-microsoft-com:vml" Requires="v">
                <p:oleObj name="Equation" r:id="rId9" imgW="279400" imgH="190500" progId="Equation.DSMT4">
                  <p:embed/>
                </p:oleObj>
              </mc:Choice>
              <mc:Fallback>
                <p:oleObj name="Equation" r:id="rId9" imgW="279400" imgH="190500" progId="Equation.DSMT4">
                  <p:embed/>
                  <p:pic>
                    <p:nvPicPr>
                      <p:cNvPr id="19" name="Object 18"/>
                      <p:cNvPicPr/>
                      <p:nvPr/>
                    </p:nvPicPr>
                    <p:blipFill>
                      <a:blip r:embed="rId10"/>
                      <a:stretch>
                        <a:fillRect/>
                      </a:stretch>
                    </p:blipFill>
                    <p:spPr>
                      <a:xfrm>
                        <a:off x="7391492" y="1208249"/>
                        <a:ext cx="419100" cy="285750"/>
                      </a:xfrm>
                      <a:prstGeom prst="rect">
                        <a:avLst/>
                      </a:prstGeom>
                    </p:spPr>
                  </p:pic>
                </p:oleObj>
              </mc:Fallback>
            </mc:AlternateContent>
          </a:graphicData>
        </a:graphic>
      </p:graphicFrame>
      <p:graphicFrame>
        <p:nvGraphicFramePr>
          <p:cNvPr id="20" name="Object 19"/>
          <p:cNvGraphicFramePr>
            <a:graphicFrameLocks noChangeAspect="1"/>
          </p:cNvGraphicFramePr>
          <p:nvPr/>
        </p:nvGraphicFramePr>
        <p:xfrm>
          <a:off x="6381842" y="1684499"/>
          <a:ext cx="304800" cy="247650"/>
        </p:xfrm>
        <a:graphic>
          <a:graphicData uri="http://schemas.openxmlformats.org/presentationml/2006/ole">
            <mc:AlternateContent xmlns:mc="http://schemas.openxmlformats.org/markup-compatibility/2006">
              <mc:Choice xmlns:v="urn:schemas-microsoft-com:vml" Requires="v">
                <p:oleObj name="Equation" r:id="rId11" imgW="203200" imgH="165100" progId="Equation.DSMT4">
                  <p:embed/>
                </p:oleObj>
              </mc:Choice>
              <mc:Fallback>
                <p:oleObj name="Equation" r:id="rId11" imgW="203200" imgH="165100" progId="Equation.DSMT4">
                  <p:embed/>
                  <p:pic>
                    <p:nvPicPr>
                      <p:cNvPr id="20" name="Object 19"/>
                      <p:cNvPicPr/>
                      <p:nvPr/>
                    </p:nvPicPr>
                    <p:blipFill>
                      <a:blip r:embed="rId12"/>
                      <a:stretch>
                        <a:fillRect/>
                      </a:stretch>
                    </p:blipFill>
                    <p:spPr>
                      <a:xfrm>
                        <a:off x="6381842" y="1684499"/>
                        <a:ext cx="304800" cy="247650"/>
                      </a:xfrm>
                      <a:prstGeom prst="rect">
                        <a:avLst/>
                      </a:prstGeom>
                    </p:spPr>
                  </p:pic>
                </p:oleObj>
              </mc:Fallback>
            </mc:AlternateContent>
          </a:graphicData>
        </a:graphic>
      </p:graphicFrame>
      <p:sp>
        <p:nvSpPr>
          <p:cNvPr id="2" name="TextBox 1"/>
          <p:cNvSpPr txBox="1"/>
          <p:nvPr/>
        </p:nvSpPr>
        <p:spPr>
          <a:xfrm>
            <a:off x="4298306" y="435955"/>
            <a:ext cx="2575402" cy="369332"/>
          </a:xfrm>
          <a:prstGeom prst="rect">
            <a:avLst/>
          </a:prstGeom>
          <a:noFill/>
          <a:ln>
            <a:solidFill>
              <a:srgbClr val="FF0000"/>
            </a:solidFill>
          </a:ln>
        </p:spPr>
        <p:txBody>
          <a:bodyPr wrap="square" rtlCol="0">
            <a:spAutoFit/>
          </a:bodyPr>
          <a:lstStyle/>
          <a:p>
            <a:pPr algn="ctr"/>
            <a:r>
              <a:rPr lang="en-US" sz="1800" dirty="0">
                <a:solidFill>
                  <a:srgbClr val="C00000"/>
                </a:solidFill>
                <a:latin typeface="+mn-lt"/>
              </a:rPr>
              <a:t>Remember forever!</a:t>
            </a:r>
          </a:p>
        </p:txBody>
      </p:sp>
      <p:sp>
        <p:nvSpPr>
          <p:cNvPr id="5" name="Date Placeholder 4">
            <a:extLst>
              <a:ext uri="{FF2B5EF4-FFF2-40B4-BE49-F238E27FC236}">
                <a16:creationId xmlns:a16="http://schemas.microsoft.com/office/drawing/2014/main" id="{CEDD299E-4183-C44B-A3BC-E4BCC1B80C21}"/>
              </a:ext>
            </a:extLst>
          </p:cNvPr>
          <p:cNvSpPr>
            <a:spLocks noGrp="1"/>
          </p:cNvSpPr>
          <p:nvPr>
            <p:ph type="dt" sz="half" idx="10"/>
          </p:nvPr>
        </p:nvSpPr>
        <p:spPr/>
        <p:txBody>
          <a:bodyPr/>
          <a:lstStyle/>
          <a:p>
            <a:pPr>
              <a:defRPr/>
            </a:pPr>
            <a:r>
              <a:rPr lang="en-US"/>
              <a:t>Phy 40, Fall 2025</a:t>
            </a:r>
            <a:endParaRPr lang="en-US" dirty="0"/>
          </a:p>
        </p:txBody>
      </p:sp>
      <p:sp>
        <p:nvSpPr>
          <p:cNvPr id="15" name="Footer Placeholder 14">
            <a:extLst>
              <a:ext uri="{FF2B5EF4-FFF2-40B4-BE49-F238E27FC236}">
                <a16:creationId xmlns:a16="http://schemas.microsoft.com/office/drawing/2014/main" id="{F502D7CF-9650-8C4A-8819-27DFBFB54F1A}"/>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24E3577B-7F15-4888-84E1-B14E178D1F43}"/>
              </a:ext>
            </a:extLst>
          </p:cNvPr>
          <p:cNvSpPr>
            <a:spLocks noGrp="1"/>
          </p:cNvSpPr>
          <p:nvPr>
            <p:ph type="sldNum" sz="quarter" idx="12"/>
          </p:nvPr>
        </p:nvSpPr>
        <p:spPr/>
        <p:txBody>
          <a:bodyPr/>
          <a:lstStyle/>
          <a:p>
            <a:pPr>
              <a:defRPr/>
            </a:pPr>
            <a:fld id="{BCA26155-0DCC-45D2-90B6-32F65F3F6C0F}" type="slidenum">
              <a:rPr lang="en-US" smtClean="0"/>
              <a:pPr>
                <a:defRPr/>
              </a:pPr>
              <a:t>2</a:t>
            </a:fld>
            <a:endParaRPr lang="en-US"/>
          </a:p>
        </p:txBody>
      </p:sp>
    </p:spTree>
    <p:extLst>
      <p:ext uri="{BB962C8B-B14F-4D97-AF65-F5344CB8AC3E}">
        <p14:creationId xmlns:p14="http://schemas.microsoft.com/office/powerpoint/2010/main" val="342557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398339"/>
                                        </p:tgtEl>
                                        <p:attrNameLst>
                                          <p:attrName>style.visibility</p:attrName>
                                        </p:attrNameLst>
                                      </p:cBhvr>
                                      <p:to>
                                        <p:strVal val="visible"/>
                                      </p:to>
                                    </p:set>
                                    <p:animEffect transition="in" filter="fade">
                                      <p:cBhvr>
                                        <p:cTn id="10" dur="500"/>
                                        <p:tgtEl>
                                          <p:spTgt spid="398339"/>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10" end="10"/>
                                            </p:txEl>
                                          </p:spTgt>
                                        </p:tgtEl>
                                        <p:attrNameLst>
                                          <p:attrName>style.visibility</p:attrName>
                                        </p:attrNameLst>
                                      </p:cBhvr>
                                      <p:to>
                                        <p:strVal val="visible"/>
                                      </p:to>
                                    </p:set>
                                    <p:animEffect transition="in" filter="fade">
                                      <p:cBhvr>
                                        <p:cTn id="33" dur="500"/>
                                        <p:tgtEl>
                                          <p:spTgt spid="10">
                                            <p:txEl>
                                              <p:pRg st="10" end="1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xEl>
                                              <p:pRg st="11" end="11"/>
                                            </p:txEl>
                                          </p:spTgt>
                                        </p:tgtEl>
                                        <p:attrNameLst>
                                          <p:attrName>style.visibility</p:attrName>
                                        </p:attrNameLst>
                                      </p:cBhvr>
                                      <p:to>
                                        <p:strVal val="visible"/>
                                      </p:to>
                                    </p:set>
                                    <p:animEffect transition="in" filter="fade">
                                      <p:cBhvr>
                                        <p:cTn id="36" dur="500"/>
                                        <p:tgtEl>
                                          <p:spTgt spid="10">
                                            <p:txEl>
                                              <p:pRg st="11" end="1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xEl>
                                              <p:pRg st="12" end="12"/>
                                            </p:txEl>
                                          </p:spTgt>
                                        </p:tgtEl>
                                        <p:attrNameLst>
                                          <p:attrName>style.visibility</p:attrName>
                                        </p:attrNameLst>
                                      </p:cBhvr>
                                      <p:to>
                                        <p:strVal val="visible"/>
                                      </p:to>
                                    </p:set>
                                    <p:animEffect transition="in" filter="fade">
                                      <p:cBhvr>
                                        <p:cTn id="39" dur="500"/>
                                        <p:tgtEl>
                                          <p:spTgt spid="10">
                                            <p:txEl>
                                              <p:pRg st="12" end="1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xEl>
                                              <p:pRg st="13" end="13"/>
                                            </p:txEl>
                                          </p:spTgt>
                                        </p:tgtEl>
                                        <p:attrNameLst>
                                          <p:attrName>style.visibility</p:attrName>
                                        </p:attrNameLst>
                                      </p:cBhvr>
                                      <p:to>
                                        <p:strVal val="visible"/>
                                      </p:to>
                                    </p:set>
                                    <p:animEffect transition="in" filter="fade">
                                      <p:cBhvr>
                                        <p:cTn id="42" dur="500"/>
                                        <p:tgtEl>
                                          <p:spTgt spid="10">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3" grpId="0"/>
      <p:bldP spid="12" grpId="0"/>
      <p:bldP spid="4" grpId="0" animBg="1"/>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72520" y="374476"/>
            <a:ext cx="7886700" cy="600164"/>
          </a:xfrm>
        </p:spPr>
        <p:txBody>
          <a:bodyPr/>
          <a:lstStyle/>
          <a:p>
            <a:r>
              <a:rPr lang="en-US" dirty="0"/>
              <a:t>Kinetic Energy</a:t>
            </a:r>
          </a:p>
        </p:txBody>
      </p:sp>
      <p:sp>
        <p:nvSpPr>
          <p:cNvPr id="19" name="Content Placeholder 18"/>
          <p:cNvSpPr>
            <a:spLocks noGrp="1"/>
          </p:cNvSpPr>
          <p:nvPr>
            <p:ph idx="1"/>
          </p:nvPr>
        </p:nvSpPr>
        <p:spPr>
          <a:xfrm>
            <a:off x="381048" y="887656"/>
            <a:ext cx="8438776" cy="3012107"/>
          </a:xfrm>
        </p:spPr>
        <p:txBody>
          <a:bodyPr>
            <a:normAutofit lnSpcReduction="10000"/>
          </a:bodyPr>
          <a:lstStyle/>
          <a:p>
            <a:r>
              <a:rPr lang="en-US" sz="1600" dirty="0"/>
              <a:t>A body in motion will have a</a:t>
            </a:r>
            <a:br>
              <a:rPr lang="en-US" sz="1600" dirty="0"/>
            </a:br>
            <a:r>
              <a:rPr lang="en-US" sz="1600" dirty="0"/>
              <a:t>total energy given by</a:t>
            </a:r>
            <a:br>
              <a:rPr lang="en-US" sz="1600" dirty="0"/>
            </a:br>
            <a:br>
              <a:rPr lang="en-US" sz="1600" dirty="0"/>
            </a:br>
            <a:br>
              <a:rPr lang="en-US" sz="1600" dirty="0"/>
            </a:br>
            <a:br>
              <a:rPr lang="en-US" sz="1600" dirty="0"/>
            </a:br>
            <a:br>
              <a:rPr lang="en-US" sz="1600" dirty="0"/>
            </a:br>
            <a:endParaRPr lang="en-US" sz="1600" dirty="0"/>
          </a:p>
          <a:p>
            <a:r>
              <a:rPr lang="en-US" sz="1600" dirty="0"/>
              <a:t>The difference between this</a:t>
            </a:r>
            <a:br>
              <a:rPr lang="en-US" sz="1600" dirty="0"/>
            </a:br>
            <a:r>
              <a:rPr lang="en-US" sz="1600" dirty="0"/>
              <a:t>and </a:t>
            </a:r>
            <a:r>
              <a:rPr lang="en-US" sz="1600" i="1" dirty="0"/>
              <a:t>mc</a:t>
            </a:r>
            <a:r>
              <a:rPr lang="en-US" sz="1600" i="1" baseline="30000" dirty="0"/>
              <a:t>2</a:t>
            </a:r>
            <a:r>
              <a:rPr lang="en-US" sz="1600" i="1" dirty="0"/>
              <a:t> </a:t>
            </a:r>
            <a:r>
              <a:rPr lang="en-US" sz="1600" dirty="0"/>
              <a:t>is called the “kinetic</a:t>
            </a:r>
            <a:br>
              <a:rPr lang="en-US" sz="1600" dirty="0"/>
            </a:br>
            <a:r>
              <a:rPr lang="en-US" sz="1600" dirty="0"/>
              <a:t>energy”</a:t>
            </a:r>
          </a:p>
          <a:p>
            <a:r>
              <a:rPr lang="en-US" sz="1600" dirty="0"/>
              <a:t>Here are some examples of</a:t>
            </a:r>
            <a:br>
              <a:rPr lang="en-US" sz="1600" dirty="0"/>
            </a:br>
            <a:r>
              <a:rPr lang="en-US" sz="1600" dirty="0"/>
              <a:t>kinetic energy</a:t>
            </a:r>
          </a:p>
        </p:txBody>
      </p:sp>
      <p:pic>
        <p:nvPicPr>
          <p:cNvPr id="8" name="Picture 7"/>
          <p:cNvPicPr>
            <a:picLocks noChangeAspect="1"/>
          </p:cNvPicPr>
          <p:nvPr/>
        </p:nvPicPr>
        <p:blipFill rotWithShape="1">
          <a:blip r:embed="rId2" cstate="print">
            <a:extLst>
              <a:ext uri="{28A0092B-C50C-407E-A947-70E740481C1C}">
                <a14:useLocalDpi xmlns:a14="http://schemas.microsoft.com/office/drawing/2010/main"/>
              </a:ext>
            </a:extLst>
          </a:blip>
          <a:srcRect l="2705" t="1712" r="6733" b="2245"/>
          <a:stretch/>
        </p:blipFill>
        <p:spPr>
          <a:xfrm>
            <a:off x="3651494" y="442671"/>
            <a:ext cx="5069660" cy="3661104"/>
          </a:xfrm>
          <a:prstGeom prst="rect">
            <a:avLst/>
          </a:prstGeom>
        </p:spPr>
      </p:pic>
      <p:sp>
        <p:nvSpPr>
          <p:cNvPr id="9" name="TextBox 8"/>
          <p:cNvSpPr txBox="1"/>
          <p:nvPr/>
        </p:nvSpPr>
        <p:spPr>
          <a:xfrm>
            <a:off x="5587893" y="3376811"/>
            <a:ext cx="1497725" cy="276999"/>
          </a:xfrm>
          <a:prstGeom prst="rect">
            <a:avLst/>
          </a:prstGeom>
          <a:solidFill>
            <a:schemeClr val="bg1"/>
          </a:solidFill>
          <a:ln>
            <a:solidFill>
              <a:schemeClr val="tx1"/>
            </a:solidFill>
          </a:ln>
        </p:spPr>
        <p:txBody>
          <a:bodyPr wrap="square" rtlCol="0">
            <a:spAutoFit/>
          </a:bodyPr>
          <a:lstStyle/>
          <a:p>
            <a:pPr algn="ctr"/>
            <a:r>
              <a:rPr lang="en-US" sz="1200" dirty="0">
                <a:solidFill>
                  <a:srgbClr val="C00000"/>
                </a:solidFill>
                <a:latin typeface="+mn-lt"/>
              </a:rPr>
              <a:t>Rest Energy</a:t>
            </a:r>
          </a:p>
        </p:txBody>
      </p:sp>
      <p:sp>
        <p:nvSpPr>
          <p:cNvPr id="10" name="TextBox 9"/>
          <p:cNvSpPr txBox="1"/>
          <p:nvPr/>
        </p:nvSpPr>
        <p:spPr>
          <a:xfrm>
            <a:off x="7952720" y="2863555"/>
            <a:ext cx="674414" cy="430887"/>
          </a:xfrm>
          <a:prstGeom prst="rect">
            <a:avLst/>
          </a:prstGeom>
          <a:solidFill>
            <a:schemeClr val="bg1"/>
          </a:solidFill>
          <a:ln>
            <a:solidFill>
              <a:schemeClr val="tx1"/>
            </a:solidFill>
          </a:ln>
        </p:spPr>
        <p:txBody>
          <a:bodyPr wrap="square" rtlCol="0">
            <a:spAutoFit/>
          </a:bodyPr>
          <a:lstStyle/>
          <a:p>
            <a:pPr algn="r"/>
            <a:r>
              <a:rPr lang="en-US" sz="1100" dirty="0">
                <a:solidFill>
                  <a:srgbClr val="C00000"/>
                </a:solidFill>
                <a:latin typeface="+mn-lt"/>
              </a:rPr>
              <a:t>Kinetic Energy</a:t>
            </a:r>
          </a:p>
        </p:txBody>
      </p:sp>
      <p:sp>
        <p:nvSpPr>
          <p:cNvPr id="11" name="TextBox 10"/>
          <p:cNvSpPr txBox="1"/>
          <p:nvPr/>
        </p:nvSpPr>
        <p:spPr>
          <a:xfrm>
            <a:off x="3992071" y="1569029"/>
            <a:ext cx="2286000" cy="523220"/>
          </a:xfrm>
          <a:prstGeom prst="rect">
            <a:avLst/>
          </a:prstGeom>
          <a:solidFill>
            <a:schemeClr val="bg1"/>
          </a:solidFill>
          <a:ln>
            <a:solidFill>
              <a:schemeClr val="tx1"/>
            </a:solidFill>
          </a:ln>
        </p:spPr>
        <p:txBody>
          <a:bodyPr wrap="square" rtlCol="0">
            <a:spAutoFit/>
          </a:bodyPr>
          <a:lstStyle/>
          <a:p>
            <a:r>
              <a:rPr lang="en-US" sz="1400" dirty="0">
                <a:solidFill>
                  <a:srgbClr val="C00000"/>
                </a:solidFill>
                <a:latin typeface="+mn-lt"/>
              </a:rPr>
              <a:t>For v&lt;&lt;c (speed of light),</a:t>
            </a:r>
          </a:p>
          <a:p>
            <a:r>
              <a:rPr lang="en-US" sz="1400" dirty="0">
                <a:solidFill>
                  <a:srgbClr val="C00000"/>
                </a:solidFill>
                <a:latin typeface="+mn-lt"/>
              </a:rPr>
              <a:t>Kinetic energy ~ ½mv</a:t>
            </a:r>
            <a:r>
              <a:rPr lang="en-US" sz="1400" baseline="30000" dirty="0">
                <a:solidFill>
                  <a:srgbClr val="C00000"/>
                </a:solidFill>
                <a:latin typeface="+mn-lt"/>
              </a:rPr>
              <a:t>2</a:t>
            </a:r>
          </a:p>
        </p:txBody>
      </p:sp>
      <p:cxnSp>
        <p:nvCxnSpPr>
          <p:cNvPr id="13" name="Straight Arrow Connector 12"/>
          <p:cNvCxnSpPr/>
          <p:nvPr/>
        </p:nvCxnSpPr>
        <p:spPr>
          <a:xfrm>
            <a:off x="4580650" y="2098052"/>
            <a:ext cx="131380" cy="1094827"/>
          </a:xfrm>
          <a:prstGeom prst="straightConnector1">
            <a:avLst/>
          </a:prstGeom>
          <a:ln w="127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8" name="Group 17"/>
          <p:cNvGrpSpPr/>
          <p:nvPr/>
        </p:nvGrpSpPr>
        <p:grpSpPr>
          <a:xfrm>
            <a:off x="6735272" y="1188031"/>
            <a:ext cx="1287517" cy="945931"/>
            <a:chOff x="6560207" y="691930"/>
            <a:chExt cx="1287517" cy="945931"/>
          </a:xfrm>
        </p:grpSpPr>
        <p:sp>
          <p:nvSpPr>
            <p:cNvPr id="17" name="Rectangle 16"/>
            <p:cNvSpPr/>
            <p:nvPr/>
          </p:nvSpPr>
          <p:spPr>
            <a:xfrm>
              <a:off x="6560207" y="691930"/>
              <a:ext cx="1287517" cy="945931"/>
            </a:xfrm>
            <a:prstGeom prst="rect">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p:cNvGraphicFramePr>
              <a:graphicFrameLocks noChangeAspect="1"/>
            </p:cNvGraphicFramePr>
            <p:nvPr/>
          </p:nvGraphicFramePr>
          <p:xfrm>
            <a:off x="6581226" y="693464"/>
            <a:ext cx="1264845" cy="935639"/>
          </p:xfrm>
          <a:graphic>
            <a:graphicData uri="http://schemas.openxmlformats.org/presentationml/2006/ole">
              <mc:AlternateContent xmlns:mc="http://schemas.openxmlformats.org/markup-compatibility/2006">
                <mc:Choice xmlns:v="urn:schemas-microsoft-com:vml" Requires="v">
                  <p:oleObj name="Equation" r:id="rId3" imgW="927100" imgH="685800" progId="Equation.DSMT4">
                    <p:embed/>
                  </p:oleObj>
                </mc:Choice>
                <mc:Fallback>
                  <p:oleObj name="Equation" r:id="rId3" imgW="927100" imgH="685800" progId="Equation.DSMT4">
                    <p:embed/>
                    <p:pic>
                      <p:nvPicPr>
                        <p:cNvPr id="14" name="Object 13"/>
                        <p:cNvPicPr/>
                        <p:nvPr/>
                      </p:nvPicPr>
                      <p:blipFill>
                        <a:blip r:embed="rId4"/>
                        <a:stretch>
                          <a:fillRect/>
                        </a:stretch>
                      </p:blipFill>
                      <p:spPr>
                        <a:xfrm>
                          <a:off x="6581226" y="693464"/>
                          <a:ext cx="1264845" cy="935639"/>
                        </a:xfrm>
                        <a:prstGeom prst="rect">
                          <a:avLst/>
                        </a:prstGeom>
                      </p:spPr>
                    </p:pic>
                  </p:oleObj>
                </mc:Fallback>
              </mc:AlternateContent>
            </a:graphicData>
          </a:graphic>
        </p:graphicFrame>
      </p:grpSp>
      <p:graphicFrame>
        <p:nvGraphicFramePr>
          <p:cNvPr id="20" name="Object 19"/>
          <p:cNvGraphicFramePr>
            <a:graphicFrameLocks noChangeAspect="1"/>
          </p:cNvGraphicFramePr>
          <p:nvPr/>
        </p:nvGraphicFramePr>
        <p:xfrm>
          <a:off x="751381" y="1365826"/>
          <a:ext cx="2213085" cy="1106543"/>
        </p:xfrm>
        <a:graphic>
          <a:graphicData uri="http://schemas.openxmlformats.org/presentationml/2006/ole">
            <mc:AlternateContent xmlns:mc="http://schemas.openxmlformats.org/markup-compatibility/2006">
              <mc:Choice xmlns:v="urn:schemas-microsoft-com:vml" Requires="v">
                <p:oleObj name="Equation" r:id="rId5" imgW="1422400" imgH="711200" progId="Equation.DSMT4">
                  <p:embed/>
                </p:oleObj>
              </mc:Choice>
              <mc:Fallback>
                <p:oleObj name="Equation" r:id="rId5" imgW="1422400" imgH="711200" progId="Equation.DSMT4">
                  <p:embed/>
                  <p:pic>
                    <p:nvPicPr>
                      <p:cNvPr id="20" name="Object 19"/>
                      <p:cNvPicPr/>
                      <p:nvPr/>
                    </p:nvPicPr>
                    <p:blipFill>
                      <a:blip r:embed="rId6"/>
                      <a:stretch>
                        <a:fillRect/>
                      </a:stretch>
                    </p:blipFill>
                    <p:spPr>
                      <a:xfrm>
                        <a:off x="751381" y="1365826"/>
                        <a:ext cx="2213085" cy="1106543"/>
                      </a:xfrm>
                      <a:prstGeom prst="rect">
                        <a:avLst/>
                      </a:prstGeom>
                    </p:spPr>
                  </p:pic>
                </p:oleObj>
              </mc:Fallback>
            </mc:AlternateContent>
          </a:graphicData>
        </a:graphic>
      </p:graphicFrame>
      <p:pic>
        <p:nvPicPr>
          <p:cNvPr id="12" name="Picture 11"/>
          <p:cNvPicPr>
            <a:picLocks noChangeAspect="1"/>
          </p:cNvPicPr>
          <p:nvPr/>
        </p:nvPicPr>
        <p:blipFill>
          <a:blip r:embed="rId7"/>
          <a:stretch>
            <a:fillRect/>
          </a:stretch>
        </p:blipFill>
        <p:spPr>
          <a:xfrm>
            <a:off x="4525471" y="578429"/>
            <a:ext cx="3314700" cy="304800"/>
          </a:xfrm>
          <a:prstGeom prst="rect">
            <a:avLst/>
          </a:prstGeom>
          <a:solidFill>
            <a:schemeClr val="bg1"/>
          </a:solidFill>
          <a:ln>
            <a:solidFill>
              <a:srgbClr val="FF0000"/>
            </a:solidFill>
          </a:ln>
        </p:spPr>
      </p:pic>
      <p:pic>
        <p:nvPicPr>
          <p:cNvPr id="15" name="Picture 14">
            <a:extLst>
              <a:ext uri="{FF2B5EF4-FFF2-40B4-BE49-F238E27FC236}">
                <a16:creationId xmlns:a16="http://schemas.microsoft.com/office/drawing/2014/main" id="{724B8E82-7484-EB4B-957A-317815B97539}"/>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t="60169" b="-3806"/>
          <a:stretch/>
        </p:blipFill>
        <p:spPr>
          <a:xfrm>
            <a:off x="288050" y="5577840"/>
            <a:ext cx="8585200" cy="914400"/>
          </a:xfrm>
          <a:prstGeom prst="rect">
            <a:avLst/>
          </a:prstGeom>
        </p:spPr>
      </p:pic>
      <p:sp>
        <p:nvSpPr>
          <p:cNvPr id="2" name="Date Placeholder 1">
            <a:extLst>
              <a:ext uri="{FF2B5EF4-FFF2-40B4-BE49-F238E27FC236}">
                <a16:creationId xmlns:a16="http://schemas.microsoft.com/office/drawing/2014/main" id="{0CB223D9-AF03-DC4A-92D6-E694060C0D8D}"/>
              </a:ext>
            </a:extLst>
          </p:cNvPr>
          <p:cNvSpPr>
            <a:spLocks noGrp="1"/>
          </p:cNvSpPr>
          <p:nvPr>
            <p:ph type="dt" sz="half" idx="10"/>
          </p:nvPr>
        </p:nvSpPr>
        <p:spPr/>
        <p:txBody>
          <a:bodyPr/>
          <a:lstStyle/>
          <a:p>
            <a:pPr>
              <a:defRPr/>
            </a:pPr>
            <a:r>
              <a:rPr lang="en-US"/>
              <a:t>Phy 40, Fall 2025</a:t>
            </a:r>
            <a:endParaRPr lang="en-US" dirty="0"/>
          </a:p>
        </p:txBody>
      </p:sp>
      <p:sp>
        <p:nvSpPr>
          <p:cNvPr id="16" name="Footer Placeholder 15">
            <a:extLst>
              <a:ext uri="{FF2B5EF4-FFF2-40B4-BE49-F238E27FC236}">
                <a16:creationId xmlns:a16="http://schemas.microsoft.com/office/drawing/2014/main" id="{41186440-79BD-6044-8130-259F5CAB67AC}"/>
              </a:ext>
            </a:extLst>
          </p:cNvPr>
          <p:cNvSpPr>
            <a:spLocks noGrp="1"/>
          </p:cNvSpPr>
          <p:nvPr>
            <p:ph type="ftr" sz="quarter" idx="11"/>
          </p:nvPr>
        </p:nvSpPr>
        <p:spPr/>
        <p:txBody>
          <a:bodyPr/>
          <a:lstStyle/>
          <a:p>
            <a:pPr>
              <a:defRPr/>
            </a:pPr>
            <a:r>
              <a:rPr lang="en-US"/>
              <a:t>Pion Decay Example</a:t>
            </a:r>
            <a:endParaRPr lang="en-US">
              <a:latin typeface="+mn-lt"/>
            </a:endParaRPr>
          </a:p>
        </p:txBody>
      </p:sp>
      <p:grpSp>
        <p:nvGrpSpPr>
          <p:cNvPr id="22" name="Group 21">
            <a:extLst>
              <a:ext uri="{FF2B5EF4-FFF2-40B4-BE49-F238E27FC236}">
                <a16:creationId xmlns:a16="http://schemas.microsoft.com/office/drawing/2014/main" id="{37C641EC-A6EF-D92B-16D3-BED306276909}"/>
              </a:ext>
            </a:extLst>
          </p:cNvPr>
          <p:cNvGrpSpPr/>
          <p:nvPr/>
        </p:nvGrpSpPr>
        <p:grpSpPr>
          <a:xfrm>
            <a:off x="288050" y="4317166"/>
            <a:ext cx="8585200" cy="1344168"/>
            <a:chOff x="288050" y="4317166"/>
            <a:chExt cx="8585200" cy="1344168"/>
          </a:xfrm>
        </p:grpSpPr>
        <p:pic>
          <p:nvPicPr>
            <p:cNvPr id="3" name="Picture 2">
              <a:extLst>
                <a:ext uri="{FF2B5EF4-FFF2-40B4-BE49-F238E27FC236}">
                  <a16:creationId xmlns:a16="http://schemas.microsoft.com/office/drawing/2014/main" id="{2CAF3FAC-CB3B-3B4E-9DE4-3E79D473D1D8}"/>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b="35856"/>
            <a:stretch/>
          </p:blipFill>
          <p:spPr>
            <a:xfrm>
              <a:off x="288050" y="4317166"/>
              <a:ext cx="8585200" cy="1344168"/>
            </a:xfrm>
            <a:prstGeom prst="rect">
              <a:avLst/>
            </a:prstGeom>
          </p:spPr>
        </p:pic>
        <p:sp>
          <p:nvSpPr>
            <p:cNvPr id="6" name="Rectangle 5">
              <a:extLst>
                <a:ext uri="{FF2B5EF4-FFF2-40B4-BE49-F238E27FC236}">
                  <a16:creationId xmlns:a16="http://schemas.microsoft.com/office/drawing/2014/main" id="{03E1DF47-DDBC-50FC-8296-0BE2DC7AD877}"/>
                </a:ext>
              </a:extLst>
            </p:cNvPr>
            <p:cNvSpPr/>
            <p:nvPr/>
          </p:nvSpPr>
          <p:spPr>
            <a:xfrm>
              <a:off x="922456" y="5325273"/>
              <a:ext cx="242315" cy="25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7A96F08-A304-4679-4CDA-95EF5A0BAA8E}"/>
                </a:ext>
              </a:extLst>
            </p:cNvPr>
            <p:cNvSpPr txBox="1"/>
            <p:nvPr/>
          </p:nvSpPr>
          <p:spPr>
            <a:xfrm>
              <a:off x="818963" y="5289974"/>
              <a:ext cx="449299" cy="323165"/>
            </a:xfrm>
            <a:prstGeom prst="rect">
              <a:avLst/>
            </a:prstGeom>
            <a:noFill/>
          </p:spPr>
          <p:txBody>
            <a:bodyPr wrap="square" rtlCol="0">
              <a:spAutoFit/>
            </a:bodyPr>
            <a:lstStyle/>
            <a:p>
              <a:pPr algn="ctr"/>
              <a:r>
                <a:rPr lang="en-US" sz="1500" dirty="0">
                  <a:latin typeface="+mn-lt"/>
                </a:rPr>
                <a:t>10</a:t>
              </a:r>
            </a:p>
          </p:txBody>
        </p:sp>
      </p:grpSp>
      <p:sp>
        <p:nvSpPr>
          <p:cNvPr id="4" name="Slide Number Placeholder 3">
            <a:extLst>
              <a:ext uri="{FF2B5EF4-FFF2-40B4-BE49-F238E27FC236}">
                <a16:creationId xmlns:a16="http://schemas.microsoft.com/office/drawing/2014/main" id="{180DD171-63C8-8D29-AC5B-E7BF27CF5370}"/>
              </a:ext>
            </a:extLst>
          </p:cNvPr>
          <p:cNvSpPr>
            <a:spLocks noGrp="1"/>
          </p:cNvSpPr>
          <p:nvPr>
            <p:ph type="sldNum" sz="quarter" idx="12"/>
          </p:nvPr>
        </p:nvSpPr>
        <p:spPr/>
        <p:txBody>
          <a:bodyPr/>
          <a:lstStyle/>
          <a:p>
            <a:pPr>
              <a:defRPr/>
            </a:pPr>
            <a:fld id="{BCA26155-0DCC-45D2-90B6-32F65F3F6C0F}" type="slidenum">
              <a:rPr lang="en-US" smtClean="0"/>
              <a:pPr>
                <a:defRPr/>
              </a:pPr>
              <a:t>3</a:t>
            </a:fld>
            <a:endParaRPr lang="en-US"/>
          </a:p>
        </p:txBody>
      </p:sp>
    </p:spTree>
    <p:extLst>
      <p:ext uri="{BB962C8B-B14F-4D97-AF65-F5344CB8AC3E}">
        <p14:creationId xmlns:p14="http://schemas.microsoft.com/office/powerpoint/2010/main" val="287914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Effect transition="in" filter="fade">
                                      <p:cBhvr>
                                        <p:cTn id="7" dur="500"/>
                                        <p:tgtEl>
                                          <p:spTgt spid="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630" y="481729"/>
            <a:ext cx="7886700" cy="600164"/>
          </a:xfrm>
        </p:spPr>
        <p:txBody>
          <a:bodyPr/>
          <a:lstStyle/>
          <a:p>
            <a:r>
              <a:rPr lang="en-US" dirty="0"/>
              <a:t>Example Beam Parameters</a:t>
            </a:r>
          </a:p>
        </p:txBody>
      </p:sp>
      <p:graphicFrame>
        <p:nvGraphicFramePr>
          <p:cNvPr id="9" name="Table 8"/>
          <p:cNvGraphicFramePr>
            <a:graphicFrameLocks noGrp="1"/>
          </p:cNvGraphicFramePr>
          <p:nvPr/>
        </p:nvGraphicFramePr>
        <p:xfrm>
          <a:off x="877238" y="3868537"/>
          <a:ext cx="7389524" cy="2221065"/>
        </p:xfrm>
        <a:graphic>
          <a:graphicData uri="http://schemas.openxmlformats.org/drawingml/2006/table">
            <a:tbl>
              <a:tblPr/>
              <a:tblGrid>
                <a:gridCol w="1203304">
                  <a:extLst>
                    <a:ext uri="{9D8B030D-6E8A-4147-A177-3AD203B41FA5}">
                      <a16:colId xmlns:a16="http://schemas.microsoft.com/office/drawing/2014/main" val="20000"/>
                    </a:ext>
                  </a:extLst>
                </a:gridCol>
                <a:gridCol w="1011010">
                  <a:extLst>
                    <a:ext uri="{9D8B030D-6E8A-4147-A177-3AD203B41FA5}">
                      <a16:colId xmlns:a16="http://schemas.microsoft.com/office/drawing/2014/main" val="20001"/>
                    </a:ext>
                  </a:extLst>
                </a:gridCol>
                <a:gridCol w="1583447">
                  <a:extLst>
                    <a:ext uri="{9D8B030D-6E8A-4147-A177-3AD203B41FA5}">
                      <a16:colId xmlns:a16="http://schemas.microsoft.com/office/drawing/2014/main" val="20002"/>
                    </a:ext>
                  </a:extLst>
                </a:gridCol>
                <a:gridCol w="969173">
                  <a:extLst>
                    <a:ext uri="{9D8B030D-6E8A-4147-A177-3AD203B41FA5}">
                      <a16:colId xmlns:a16="http://schemas.microsoft.com/office/drawing/2014/main" val="20003"/>
                    </a:ext>
                  </a:extLst>
                </a:gridCol>
                <a:gridCol w="1311295">
                  <a:extLst>
                    <a:ext uri="{9D8B030D-6E8A-4147-A177-3AD203B41FA5}">
                      <a16:colId xmlns:a16="http://schemas.microsoft.com/office/drawing/2014/main" val="20004"/>
                    </a:ext>
                  </a:extLst>
                </a:gridCol>
                <a:gridCol w="1311295">
                  <a:extLst>
                    <a:ext uri="{9D8B030D-6E8A-4147-A177-3AD203B41FA5}">
                      <a16:colId xmlns:a16="http://schemas.microsoft.com/office/drawing/2014/main" val="20005"/>
                    </a:ext>
                  </a:extLst>
                </a:gridCol>
              </a:tblGrid>
              <a:tr h="317295">
                <a:tc>
                  <a:txBody>
                    <a:bodyPr/>
                    <a:lstStyle/>
                    <a:p>
                      <a:pPr algn="ctr" fontAlgn="b"/>
                      <a:r>
                        <a:rPr lang="en-US" sz="1800" b="1" i="0" u="none" strike="noStrike" dirty="0">
                          <a:solidFill>
                            <a:srgbClr val="000000"/>
                          </a:solidFill>
                          <a:effectLst/>
                          <a:latin typeface="Calibri"/>
                        </a:rPr>
                        <a:t>Parameter</a:t>
                      </a:r>
                    </a:p>
                  </a:txBody>
                  <a:tcPr marL="0" marR="0" marT="0" marB="0" anchor="b">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fontAlgn="b"/>
                      <a:r>
                        <a:rPr lang="en-US" sz="1800" b="1" i="0" u="none" strike="noStrike" dirty="0">
                          <a:solidFill>
                            <a:srgbClr val="000000"/>
                          </a:solidFill>
                          <a:effectLst/>
                          <a:latin typeface="Calibri"/>
                        </a:rPr>
                        <a:t>Symbol</a:t>
                      </a:r>
                    </a:p>
                  </a:txBody>
                  <a:tcPr marL="0" marR="0" marT="0" marB="0" anchor="b">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fontAlgn="b"/>
                      <a:r>
                        <a:rPr lang="en-US" sz="1800" b="1" i="0" u="none" strike="noStrike" dirty="0">
                          <a:solidFill>
                            <a:srgbClr val="000000"/>
                          </a:solidFill>
                          <a:effectLst/>
                          <a:latin typeface="Calibri"/>
                        </a:rPr>
                        <a:t>Equation</a:t>
                      </a:r>
                    </a:p>
                  </a:txBody>
                  <a:tcPr marL="0" marR="0" marT="0" marB="0" anchor="b">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a:rPr>
                        <a:t>CNL</a:t>
                      </a:r>
                    </a:p>
                  </a:txBody>
                  <a:tcPr marL="0" marR="0" marT="0" marB="0" anchor="b">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a:rPr>
                        <a:t>LINAC</a:t>
                      </a:r>
                    </a:p>
                  </a:txBody>
                  <a:tcPr marL="0" marR="0" marT="0" marB="0" anchor="b">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a:rPr>
                        <a:t>LHC</a:t>
                      </a:r>
                    </a:p>
                  </a:txBody>
                  <a:tcPr marL="0" marR="0" marT="0" marB="0" anchor="b">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17295">
                <a:tc>
                  <a:txBody>
                    <a:bodyPr/>
                    <a:lstStyle/>
                    <a:p>
                      <a:pPr algn="ctr" fontAlgn="b"/>
                      <a:r>
                        <a:rPr lang="en-US" sz="1600" b="0" i="0" u="none" strike="noStrike" dirty="0">
                          <a:solidFill>
                            <a:srgbClr val="000000"/>
                          </a:solidFill>
                          <a:effectLst/>
                          <a:latin typeface="Calibri"/>
                        </a:rPr>
                        <a:t>Mass</a:t>
                      </a: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m [</a:t>
                      </a:r>
                      <a:r>
                        <a:rPr lang="en-US" sz="1600" b="0" i="0" u="none" strike="noStrike" dirty="0" err="1">
                          <a:solidFill>
                            <a:srgbClr val="000000"/>
                          </a:solidFill>
                          <a:effectLst/>
                          <a:latin typeface="Calibri"/>
                        </a:rPr>
                        <a:t>GeV</a:t>
                      </a:r>
                      <a:r>
                        <a:rPr lang="en-US" sz="1600" b="0" i="0" u="none" strike="noStrike" dirty="0">
                          <a:solidFill>
                            <a:srgbClr val="000000"/>
                          </a:solidFill>
                          <a:effectLst/>
                          <a:latin typeface="Calibri"/>
                        </a:rPr>
                        <a:t>/c</a:t>
                      </a:r>
                      <a:r>
                        <a:rPr lang="en-US" sz="1600" b="0" i="0" u="none" strike="noStrike" baseline="30000" dirty="0">
                          <a:solidFill>
                            <a:srgbClr val="000000"/>
                          </a:solidFill>
                          <a:effectLst/>
                          <a:latin typeface="Calibri"/>
                        </a:rPr>
                        <a:t>2</a:t>
                      </a:r>
                      <a:r>
                        <a:rPr lang="en-US" sz="1600" b="0" i="0" u="none" strike="noStrike" dirty="0">
                          <a:solidFill>
                            <a:srgbClr val="000000"/>
                          </a:solidFill>
                          <a:effectLst/>
                          <a:latin typeface="Calibri"/>
                        </a:rPr>
                        <a:t>]</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gridSpan="3">
                  <a:txBody>
                    <a:bodyPr/>
                    <a:lstStyle/>
                    <a:p>
                      <a:pPr algn="ctr" fontAlgn="b"/>
                      <a:r>
                        <a:rPr lang="en-US" sz="1600" b="0" i="0" u="none" strike="noStrike" dirty="0">
                          <a:solidFill>
                            <a:srgbClr val="000000"/>
                          </a:solidFill>
                          <a:effectLst/>
                          <a:latin typeface="Calibri"/>
                        </a:rPr>
                        <a:t>0.938</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hMerge="1">
                  <a:txBody>
                    <a:bodyPr/>
                    <a:lstStyle/>
                    <a:p>
                      <a:pPr algn="ctr" fontAlgn="b"/>
                      <a:endParaRPr lang="en-US" sz="1600" b="0" i="0" u="none" strike="noStrike" dirty="0">
                        <a:solidFill>
                          <a:srgbClr val="000000"/>
                        </a:solidFill>
                        <a:effectLst/>
                        <a:latin typeface="Calibri"/>
                      </a:endParaRPr>
                    </a:p>
                  </a:txBody>
                  <a:tcPr marL="0" marR="0" marT="0" marB="0" anchor="b">
                    <a:lnL w="6350" cap="flat" cmpd="sng" algn="ctr">
                      <a:solidFill>
                        <a:scrgbClr r="0" g="0" b="0"/>
                      </a:solidFill>
                      <a:prstDash val="solid"/>
                      <a:round/>
                      <a:headEnd type="none" w="med" len="med"/>
                      <a:tailEnd type="none" w="med" len="med"/>
                    </a:lnL>
                    <a:lnR w="190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hMerge="1">
                  <a:txBody>
                    <a:bodyPr/>
                    <a:lstStyle/>
                    <a:p>
                      <a:pPr algn="ctr"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17295">
                <a:tc>
                  <a:txBody>
                    <a:bodyPr/>
                    <a:lstStyle/>
                    <a:p>
                      <a:pPr algn="ctr" fontAlgn="b"/>
                      <a:r>
                        <a:rPr lang="en-US" sz="1600" b="0" i="0" u="none" strike="noStrike" dirty="0">
                          <a:solidFill>
                            <a:srgbClr val="000000"/>
                          </a:solidFill>
                          <a:effectLst/>
                          <a:latin typeface="Calibri"/>
                        </a:rPr>
                        <a:t>kinetic energy</a:t>
                      </a: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K [</a:t>
                      </a:r>
                      <a:r>
                        <a:rPr lang="en-US" sz="1600" b="0" i="0" u="none" strike="noStrike" dirty="0" err="1">
                          <a:solidFill>
                            <a:srgbClr val="000000"/>
                          </a:solidFill>
                          <a:effectLst/>
                          <a:latin typeface="Calibri"/>
                        </a:rPr>
                        <a:t>GeV</a:t>
                      </a:r>
                      <a:r>
                        <a:rPr lang="en-US" sz="1600" b="0" i="0" u="none" strike="noStrike" dirty="0">
                          <a:solidFill>
                            <a:srgbClr val="000000"/>
                          </a:solidFill>
                          <a:effectLst/>
                          <a:latin typeface="Calibri"/>
                        </a:rPr>
                        <a:t>]</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0.067</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0.400</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7000</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17295">
                <a:tc>
                  <a:txBody>
                    <a:bodyPr/>
                    <a:lstStyle/>
                    <a:p>
                      <a:pPr algn="ctr" fontAlgn="b"/>
                      <a:r>
                        <a:rPr lang="en-US" sz="1600" b="0" i="0" u="none" strike="noStrike" dirty="0">
                          <a:solidFill>
                            <a:srgbClr val="000000"/>
                          </a:solidFill>
                          <a:effectLst/>
                          <a:latin typeface="Calibri"/>
                        </a:rPr>
                        <a:t>total energy</a:t>
                      </a: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a:rPr>
                        <a:t>E [GeV]</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1.005</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1.3382</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7000.938</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17295">
                <a:tc>
                  <a:txBody>
                    <a:bodyPr/>
                    <a:lstStyle/>
                    <a:p>
                      <a:pPr algn="ctr" fontAlgn="b"/>
                      <a:r>
                        <a:rPr lang="en-US" sz="1600" b="0" i="0" u="none" strike="noStrike" dirty="0">
                          <a:solidFill>
                            <a:srgbClr val="000000"/>
                          </a:solidFill>
                          <a:effectLst/>
                          <a:latin typeface="Calibri"/>
                        </a:rPr>
                        <a:t>momentum</a:t>
                      </a: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a:rPr>
                        <a:t>p [GeV/c]</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.3608</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0.95426</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7000.938</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17295">
                <a:tc>
                  <a:txBody>
                    <a:bodyPr/>
                    <a:lstStyle/>
                    <a:p>
                      <a:pPr algn="ctr" fontAlgn="b"/>
                      <a:r>
                        <a:rPr lang="en-US" sz="1600" b="0" i="0" u="none" strike="noStrike" dirty="0">
                          <a:solidFill>
                            <a:srgbClr val="000000"/>
                          </a:solidFill>
                          <a:effectLst/>
                          <a:latin typeface="Calibri"/>
                        </a:rPr>
                        <a:t>rel.</a:t>
                      </a:r>
                      <a:r>
                        <a:rPr lang="en-US" sz="1600" b="0" i="0" u="none" strike="noStrike" baseline="0" dirty="0">
                          <a:solidFill>
                            <a:srgbClr val="000000"/>
                          </a:solidFill>
                          <a:effectLst/>
                          <a:latin typeface="Calibri"/>
                        </a:rPr>
                        <a:t> beta</a:t>
                      </a:r>
                      <a:endParaRPr lang="en-US" sz="1600" b="0" i="0" u="none" strike="noStrike" dirty="0">
                        <a:solidFill>
                          <a:srgbClr val="000000"/>
                        </a:solidFill>
                        <a:effectLst/>
                        <a:latin typeface="Calibri"/>
                      </a:endParaRP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l-GR" sz="1600" b="0" i="0" u="none" strike="noStrike" dirty="0">
                          <a:solidFill>
                            <a:srgbClr val="000000"/>
                          </a:solidFill>
                          <a:effectLst/>
                          <a:latin typeface="Calibri"/>
                        </a:rPr>
                        <a:t>β</a:t>
                      </a:r>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.359</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0.713</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0.999999991</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17295">
                <a:tc>
                  <a:txBody>
                    <a:bodyPr/>
                    <a:lstStyle/>
                    <a:p>
                      <a:pPr algn="ctr" fontAlgn="b"/>
                      <a:r>
                        <a:rPr lang="en-US" sz="1600" b="0" i="0" u="none" strike="noStrike" dirty="0">
                          <a:solidFill>
                            <a:srgbClr val="000000"/>
                          </a:solidFill>
                          <a:effectLst/>
                          <a:latin typeface="Calibri"/>
                        </a:rPr>
                        <a:t>rel. gamma</a:t>
                      </a:r>
                    </a:p>
                  </a:txBody>
                  <a:tcPr marL="0" marR="0" marT="0" marB="0" anchor="ctr">
                    <a:lnL w="190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l-GR" sz="1600" b="0" i="0" u="none" strike="noStrike" dirty="0">
                          <a:solidFill>
                            <a:srgbClr val="000000"/>
                          </a:solidFill>
                          <a:effectLst/>
                          <a:latin typeface="Calibri"/>
                        </a:rPr>
                        <a:t>γ</a:t>
                      </a:r>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l" fontAlgn="b"/>
                      <a:endParaRPr lang="en-US" sz="1600" b="0" i="0" u="none" strike="noStrike" dirty="0">
                        <a:solidFill>
                          <a:srgbClr val="000000"/>
                        </a:solidFill>
                        <a:effectLst/>
                        <a:latin typeface="Calibri"/>
                      </a:endParaRP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1.071</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1.426</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a:rPr>
                        <a:t>7461.5</a:t>
                      </a:r>
                    </a:p>
                  </a:txBody>
                  <a:tcPr marL="0" marR="0" marT="0" marB="0" anchor="ctr">
                    <a:lnL w="6350" cap="flat" cmpd="sng" algn="ctr">
                      <a:solidFill>
                        <a:scrgbClr r="0" g="0" b="0"/>
                      </a:solidFill>
                      <a:prstDash val="solid"/>
                      <a:round/>
                      <a:headEnd type="none" w="med" len="med"/>
                      <a:tailEnd type="none" w="med" len="med"/>
                    </a:lnL>
                    <a:lnR w="6350" cap="flat" cmpd="sng" algn="ctr">
                      <a:solidFill>
                        <a:scrgbClr r="0" g="0" b="0"/>
                      </a:solidFill>
                      <a:prstDash val="solid"/>
                      <a:round/>
                      <a:headEnd type="none" w="med" len="med"/>
                      <a:tailEnd type="none" w="med" len="med"/>
                    </a:lnR>
                    <a:lnT w="6350" cap="flat" cmpd="sng" algn="ctr">
                      <a:solidFill>
                        <a:scrgbClr r="0" g="0" b="0"/>
                      </a:solidFill>
                      <a:prstDash val="solid"/>
                      <a:round/>
                      <a:headEnd type="none" w="med" len="med"/>
                      <a:tailEnd type="none" w="med" len="med"/>
                    </a:lnT>
                    <a:lnB w="63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0" name="Object 9"/>
          <p:cNvGraphicFramePr>
            <a:graphicFrameLocks noChangeAspect="1"/>
          </p:cNvGraphicFramePr>
          <p:nvPr/>
        </p:nvGraphicFramePr>
        <p:xfrm>
          <a:off x="3535588" y="4813399"/>
          <a:ext cx="670202" cy="266700"/>
        </p:xfrm>
        <a:graphic>
          <a:graphicData uri="http://schemas.openxmlformats.org/presentationml/2006/ole">
            <mc:AlternateContent xmlns:mc="http://schemas.openxmlformats.org/markup-compatibility/2006">
              <mc:Choice xmlns:v="urn:schemas-microsoft-com:vml" Requires="v">
                <p:oleObj name="Equation" r:id="rId3" imgW="520920" imgH="182520" progId="">
                  <p:embed/>
                </p:oleObj>
              </mc:Choice>
              <mc:Fallback>
                <p:oleObj name="Equation" r:id="rId3" imgW="520920" imgH="182520" progId="">
                  <p:embed/>
                  <p:pic>
                    <p:nvPicPr>
                      <p:cNvPr id="1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5588" y="4813399"/>
                        <a:ext cx="670202" cy="266700"/>
                      </a:xfrm>
                      <a:prstGeom prst="rect">
                        <a:avLst/>
                      </a:prstGeom>
                      <a:noFill/>
                    </p:spPr>
                  </p:pic>
                </p:oleObj>
              </mc:Fallback>
            </mc:AlternateContent>
          </a:graphicData>
        </a:graphic>
      </p:graphicFrame>
      <p:graphicFrame>
        <p:nvGraphicFramePr>
          <p:cNvPr id="11" name="Object 10"/>
          <p:cNvGraphicFramePr>
            <a:graphicFrameLocks noChangeAspect="1"/>
          </p:cNvGraphicFramePr>
          <p:nvPr/>
        </p:nvGraphicFramePr>
        <p:xfrm>
          <a:off x="3485252" y="5127513"/>
          <a:ext cx="802612" cy="355600"/>
        </p:xfrm>
        <a:graphic>
          <a:graphicData uri="http://schemas.openxmlformats.org/presentationml/2006/ole">
            <mc:AlternateContent xmlns:mc="http://schemas.openxmlformats.org/markup-compatibility/2006">
              <mc:Choice xmlns:v="urn:schemas-microsoft-com:vml" Requires="v">
                <p:oleObj name="Equation" r:id="rId5" imgW="877680" imgH="347400" progId="">
                  <p:embed/>
                </p:oleObj>
              </mc:Choice>
              <mc:Fallback>
                <p:oleObj name="Equation" r:id="rId5" imgW="877680" imgH="347400" progId="">
                  <p:embed/>
                  <p:pic>
                    <p:nvPicPr>
                      <p:cNvPr id="11"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5252" y="5127513"/>
                        <a:ext cx="802612" cy="355600"/>
                      </a:xfrm>
                      <a:prstGeom prst="rect">
                        <a:avLst/>
                      </a:prstGeom>
                      <a:noFill/>
                    </p:spPr>
                  </p:pic>
                </p:oleObj>
              </mc:Fallback>
            </mc:AlternateContent>
          </a:graphicData>
        </a:graphic>
      </p:graphicFrame>
      <p:graphicFrame>
        <p:nvGraphicFramePr>
          <p:cNvPr id="12" name="Object 11"/>
          <p:cNvGraphicFramePr>
            <a:graphicFrameLocks noChangeAspect="1"/>
          </p:cNvGraphicFramePr>
          <p:nvPr/>
        </p:nvGraphicFramePr>
        <p:xfrm>
          <a:off x="3535589" y="5431676"/>
          <a:ext cx="670202" cy="328613"/>
        </p:xfrm>
        <a:graphic>
          <a:graphicData uri="http://schemas.openxmlformats.org/presentationml/2006/ole">
            <mc:AlternateContent xmlns:mc="http://schemas.openxmlformats.org/markup-compatibility/2006">
              <mc:Choice xmlns:v="urn:schemas-microsoft-com:vml" Requires="v">
                <p:oleObj name="Equation" r:id="rId7" imgW="511920" imgH="219240" progId="">
                  <p:embed/>
                </p:oleObj>
              </mc:Choice>
              <mc:Fallback>
                <p:oleObj name="Equation" r:id="rId7" imgW="511920" imgH="219240" progId="">
                  <p:embed/>
                  <p:pic>
                    <p:nvPicPr>
                      <p:cNvPr id="12"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5589" y="5431676"/>
                        <a:ext cx="670202" cy="328613"/>
                      </a:xfrm>
                      <a:prstGeom prst="rect">
                        <a:avLst/>
                      </a:prstGeom>
                      <a:noFill/>
                    </p:spPr>
                  </p:pic>
                </p:oleObj>
              </mc:Fallback>
            </mc:AlternateContent>
          </a:graphicData>
        </a:graphic>
      </p:graphicFrame>
      <p:graphicFrame>
        <p:nvGraphicFramePr>
          <p:cNvPr id="13" name="Object 12"/>
          <p:cNvGraphicFramePr>
            <a:graphicFrameLocks noChangeAspect="1"/>
          </p:cNvGraphicFramePr>
          <p:nvPr/>
        </p:nvGraphicFramePr>
        <p:xfrm>
          <a:off x="3446688" y="5709487"/>
          <a:ext cx="759102" cy="328612"/>
        </p:xfrm>
        <a:graphic>
          <a:graphicData uri="http://schemas.openxmlformats.org/presentationml/2006/ole">
            <mc:AlternateContent xmlns:mc="http://schemas.openxmlformats.org/markup-compatibility/2006">
              <mc:Choice xmlns:v="urn:schemas-microsoft-com:vml" Requires="v">
                <p:oleObj name="Equation" r:id="rId9" imgW="585000" imgH="219240" progId="">
                  <p:embed/>
                </p:oleObj>
              </mc:Choice>
              <mc:Fallback>
                <p:oleObj name="Equation" r:id="rId9" imgW="585000" imgH="219240" progId="">
                  <p:embed/>
                  <p:pic>
                    <p:nvPicPr>
                      <p:cNvPr id="13"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6688" y="5709487"/>
                        <a:ext cx="759102" cy="328612"/>
                      </a:xfrm>
                      <a:prstGeom prst="rect">
                        <a:avLst/>
                      </a:prstGeom>
                      <a:noFill/>
                    </p:spPr>
                  </p:pic>
                </p:oleObj>
              </mc:Fallback>
            </mc:AlternateContent>
          </a:graphicData>
        </a:graphic>
      </p:graphicFrame>
      <p:sp>
        <p:nvSpPr>
          <p:cNvPr id="6" name="Date Placeholder 5">
            <a:extLst>
              <a:ext uri="{FF2B5EF4-FFF2-40B4-BE49-F238E27FC236}">
                <a16:creationId xmlns:a16="http://schemas.microsoft.com/office/drawing/2014/main" id="{5AB4B270-5348-874C-9765-9FC8839E603D}"/>
              </a:ext>
            </a:extLst>
          </p:cNvPr>
          <p:cNvSpPr>
            <a:spLocks noGrp="1"/>
          </p:cNvSpPr>
          <p:nvPr>
            <p:ph type="dt" sz="half" idx="10"/>
          </p:nvPr>
        </p:nvSpPr>
        <p:spPr/>
        <p:txBody>
          <a:bodyPr/>
          <a:lstStyle/>
          <a:p>
            <a:pPr>
              <a:defRPr/>
            </a:pPr>
            <a:r>
              <a:rPr lang="en-US"/>
              <a:t>Phy 40, Fall 2025</a:t>
            </a:r>
            <a:endParaRPr lang="en-US" dirty="0"/>
          </a:p>
        </p:txBody>
      </p:sp>
      <p:sp>
        <p:nvSpPr>
          <p:cNvPr id="15" name="Footer Placeholder 14">
            <a:extLst>
              <a:ext uri="{FF2B5EF4-FFF2-40B4-BE49-F238E27FC236}">
                <a16:creationId xmlns:a16="http://schemas.microsoft.com/office/drawing/2014/main" id="{B0725FF7-D371-6F44-BF0A-B45B813B1424}"/>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3" name="Slide Number Placeholder 2">
            <a:extLst>
              <a:ext uri="{FF2B5EF4-FFF2-40B4-BE49-F238E27FC236}">
                <a16:creationId xmlns:a16="http://schemas.microsoft.com/office/drawing/2014/main" id="{2DA2A011-B146-4ED2-B2E6-9B19E92556C1}"/>
              </a:ext>
            </a:extLst>
          </p:cNvPr>
          <p:cNvSpPr>
            <a:spLocks noGrp="1"/>
          </p:cNvSpPr>
          <p:nvPr>
            <p:ph type="sldNum" sz="quarter" idx="12"/>
          </p:nvPr>
        </p:nvSpPr>
        <p:spPr/>
        <p:txBody>
          <a:bodyPr/>
          <a:lstStyle/>
          <a:p>
            <a:pPr>
              <a:defRPr/>
            </a:pPr>
            <a:fld id="{BCA26155-0DCC-45D2-90B6-32F65F3F6C0F}" type="slidenum">
              <a:rPr lang="en-US" smtClean="0"/>
              <a:pPr>
                <a:defRPr/>
              </a:pPr>
              <a:t>4</a:t>
            </a:fld>
            <a:endParaRPr lang="en-US"/>
          </a:p>
        </p:txBody>
      </p:sp>
      <p:pic>
        <p:nvPicPr>
          <p:cNvPr id="5" name="Picture 4" descr="A picture containing indoor&#10;&#10;Description automatically generated">
            <a:extLst>
              <a:ext uri="{FF2B5EF4-FFF2-40B4-BE49-F238E27FC236}">
                <a16:creationId xmlns:a16="http://schemas.microsoft.com/office/drawing/2014/main" id="{E5E98043-0ACC-472C-A697-4EF034EB687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18348" y="1143591"/>
            <a:ext cx="2924416" cy="1943537"/>
          </a:xfrm>
          <a:prstGeom prst="rect">
            <a:avLst/>
          </a:prstGeom>
        </p:spPr>
      </p:pic>
      <p:sp>
        <p:nvSpPr>
          <p:cNvPr id="7" name="TextBox 6">
            <a:extLst>
              <a:ext uri="{FF2B5EF4-FFF2-40B4-BE49-F238E27FC236}">
                <a16:creationId xmlns:a16="http://schemas.microsoft.com/office/drawing/2014/main" id="{3EB280D3-134E-4B19-BFE3-ADCA8E694651}"/>
              </a:ext>
            </a:extLst>
          </p:cNvPr>
          <p:cNvSpPr txBox="1"/>
          <p:nvPr/>
        </p:nvSpPr>
        <p:spPr>
          <a:xfrm>
            <a:off x="124962" y="3134542"/>
            <a:ext cx="3410626" cy="523220"/>
          </a:xfrm>
          <a:prstGeom prst="rect">
            <a:avLst/>
          </a:prstGeom>
          <a:noFill/>
        </p:spPr>
        <p:txBody>
          <a:bodyPr wrap="square" rtlCol="0">
            <a:spAutoFit/>
          </a:bodyPr>
          <a:lstStyle/>
          <a:p>
            <a:r>
              <a:rPr lang="en-US" sz="1400" dirty="0">
                <a:latin typeface="+mn-lt"/>
              </a:rPr>
              <a:t>Crocker Nuclear Lab (across the path)</a:t>
            </a:r>
          </a:p>
          <a:p>
            <a:pPr algn="ctr"/>
            <a:r>
              <a:rPr lang="en-US" sz="1400" dirty="0">
                <a:latin typeface="+mn-lt"/>
              </a:rPr>
              <a:t>67 MeV protons</a:t>
            </a:r>
          </a:p>
        </p:txBody>
      </p:sp>
      <p:pic>
        <p:nvPicPr>
          <p:cNvPr id="17" name="Picture 16" descr="A picture containing indoor, several&#10;&#10;Description automatically generated">
            <a:extLst>
              <a:ext uri="{FF2B5EF4-FFF2-40B4-BE49-F238E27FC236}">
                <a16:creationId xmlns:a16="http://schemas.microsoft.com/office/drawing/2014/main" id="{8ACFA830-07CF-4C2A-843D-B8BD222F592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b="31068"/>
          <a:stretch/>
        </p:blipFill>
        <p:spPr>
          <a:xfrm>
            <a:off x="3535588" y="1166866"/>
            <a:ext cx="2290060" cy="1943537"/>
          </a:xfrm>
          <a:prstGeom prst="rect">
            <a:avLst/>
          </a:prstGeom>
        </p:spPr>
      </p:pic>
      <p:sp>
        <p:nvSpPr>
          <p:cNvPr id="20" name="TextBox 19">
            <a:extLst>
              <a:ext uri="{FF2B5EF4-FFF2-40B4-BE49-F238E27FC236}">
                <a16:creationId xmlns:a16="http://schemas.microsoft.com/office/drawing/2014/main" id="{D17FE78E-D1FF-41AA-8C82-12C05AD7ED0F}"/>
              </a:ext>
            </a:extLst>
          </p:cNvPr>
          <p:cNvSpPr txBox="1"/>
          <p:nvPr/>
        </p:nvSpPr>
        <p:spPr>
          <a:xfrm>
            <a:off x="3818185" y="3182981"/>
            <a:ext cx="1724865" cy="523220"/>
          </a:xfrm>
          <a:prstGeom prst="rect">
            <a:avLst/>
          </a:prstGeom>
          <a:noFill/>
        </p:spPr>
        <p:txBody>
          <a:bodyPr wrap="square" rtlCol="0">
            <a:spAutoFit/>
          </a:bodyPr>
          <a:lstStyle/>
          <a:p>
            <a:pPr algn="ctr"/>
            <a:r>
              <a:rPr lang="en-US" sz="1400" dirty="0">
                <a:latin typeface="+mn-lt"/>
              </a:rPr>
              <a:t>Fermilab LINAC</a:t>
            </a:r>
          </a:p>
          <a:p>
            <a:pPr algn="ctr"/>
            <a:r>
              <a:rPr lang="en-US" sz="1400" dirty="0">
                <a:latin typeface="+mn-lt"/>
              </a:rPr>
              <a:t>400 MeV protons</a:t>
            </a:r>
          </a:p>
        </p:txBody>
      </p:sp>
      <p:pic>
        <p:nvPicPr>
          <p:cNvPr id="21" name="Picture 20" descr="Map&#10;&#10;Description automatically generated">
            <a:extLst>
              <a:ext uri="{FF2B5EF4-FFF2-40B4-BE49-F238E27FC236}">
                <a16:creationId xmlns:a16="http://schemas.microsoft.com/office/drawing/2014/main" id="{10662F1C-8996-4112-B652-B6CCE2B84B9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74176" y="1166866"/>
            <a:ext cx="2751476" cy="2000251"/>
          </a:xfrm>
          <a:prstGeom prst="rect">
            <a:avLst/>
          </a:prstGeom>
        </p:spPr>
      </p:pic>
      <p:sp>
        <p:nvSpPr>
          <p:cNvPr id="23" name="TextBox 22">
            <a:extLst>
              <a:ext uri="{FF2B5EF4-FFF2-40B4-BE49-F238E27FC236}">
                <a16:creationId xmlns:a16="http://schemas.microsoft.com/office/drawing/2014/main" id="{0CAB01EE-92B0-41A5-BD42-4B81A703A724}"/>
              </a:ext>
            </a:extLst>
          </p:cNvPr>
          <p:cNvSpPr txBox="1"/>
          <p:nvPr/>
        </p:nvSpPr>
        <p:spPr>
          <a:xfrm>
            <a:off x="6525619" y="3182981"/>
            <a:ext cx="1724865" cy="523220"/>
          </a:xfrm>
          <a:prstGeom prst="rect">
            <a:avLst/>
          </a:prstGeom>
          <a:noFill/>
        </p:spPr>
        <p:txBody>
          <a:bodyPr wrap="square" rtlCol="0">
            <a:spAutoFit/>
          </a:bodyPr>
          <a:lstStyle/>
          <a:p>
            <a:pPr algn="ctr"/>
            <a:r>
              <a:rPr lang="en-US" sz="1400" dirty="0">
                <a:latin typeface="+mn-lt"/>
              </a:rPr>
              <a:t>LHC at CERN</a:t>
            </a:r>
          </a:p>
          <a:p>
            <a:pPr algn="ctr"/>
            <a:r>
              <a:rPr lang="en-US" sz="1400" dirty="0">
                <a:latin typeface="+mn-lt"/>
              </a:rPr>
              <a:t>7 </a:t>
            </a:r>
            <a:r>
              <a:rPr lang="en-US" sz="1400" dirty="0" err="1">
                <a:latin typeface="+mn-lt"/>
              </a:rPr>
              <a:t>TeV</a:t>
            </a:r>
            <a:endParaRPr lang="en-US" sz="1400" dirty="0">
              <a:latin typeface="+mn-lt"/>
            </a:endParaRPr>
          </a:p>
        </p:txBody>
      </p:sp>
      <p:sp>
        <p:nvSpPr>
          <p:cNvPr id="24" name="TextBox 23">
            <a:extLst>
              <a:ext uri="{FF2B5EF4-FFF2-40B4-BE49-F238E27FC236}">
                <a16:creationId xmlns:a16="http://schemas.microsoft.com/office/drawing/2014/main" id="{10380095-18F5-445E-A518-9FF0459DFFE3}"/>
              </a:ext>
            </a:extLst>
          </p:cNvPr>
          <p:cNvSpPr txBox="1"/>
          <p:nvPr/>
        </p:nvSpPr>
        <p:spPr>
          <a:xfrm>
            <a:off x="1286474" y="6251938"/>
            <a:ext cx="6623086" cy="369332"/>
          </a:xfrm>
          <a:prstGeom prst="rect">
            <a:avLst/>
          </a:prstGeom>
          <a:noFill/>
        </p:spPr>
        <p:txBody>
          <a:bodyPr wrap="square" rtlCol="0">
            <a:spAutoFit/>
          </a:bodyPr>
          <a:lstStyle/>
          <a:p>
            <a:pPr algn="ctr"/>
            <a:r>
              <a:rPr lang="en-US" sz="1800" dirty="0">
                <a:latin typeface="+mn-lt"/>
              </a:rPr>
              <a:t>Note: the factors of “c” always cancel out!</a:t>
            </a:r>
          </a:p>
        </p:txBody>
      </p:sp>
    </p:spTree>
    <p:extLst>
      <p:ext uri="{BB962C8B-B14F-4D97-AF65-F5344CB8AC3E}">
        <p14:creationId xmlns:p14="http://schemas.microsoft.com/office/powerpoint/2010/main" val="136281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453" y="373748"/>
            <a:ext cx="8229600" cy="628207"/>
          </a:xfrm>
        </p:spPr>
        <p:txBody>
          <a:bodyPr/>
          <a:lstStyle/>
          <a:p>
            <a:r>
              <a:rPr lang="en-US" dirty="0"/>
              <a:t>4-Vectors and Lorentz Transformations</a:t>
            </a:r>
          </a:p>
        </p:txBody>
      </p:sp>
      <p:sp>
        <p:nvSpPr>
          <p:cNvPr id="3" name="Content Placeholder 2"/>
          <p:cNvSpPr>
            <a:spLocks noGrp="1"/>
          </p:cNvSpPr>
          <p:nvPr>
            <p:ph idx="1"/>
          </p:nvPr>
        </p:nvSpPr>
        <p:spPr>
          <a:xfrm>
            <a:off x="311453" y="1028231"/>
            <a:ext cx="8251825" cy="5009566"/>
          </a:xfrm>
        </p:spPr>
        <p:txBody>
          <a:bodyPr>
            <a:normAutofit/>
          </a:bodyPr>
          <a:lstStyle/>
          <a:p>
            <a:r>
              <a:rPr lang="en-US" sz="2000" dirty="0"/>
              <a:t>Usual conventions</a:t>
            </a:r>
          </a:p>
          <a:p>
            <a:endParaRPr lang="en-US" sz="32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Note that for a system of particles</a:t>
            </a:r>
          </a:p>
          <a:p>
            <a:endParaRPr lang="en-US" sz="2000" dirty="0"/>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5</a:t>
            </a:fld>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2089663654"/>
              </p:ext>
            </p:extLst>
          </p:nvPr>
        </p:nvGraphicFramePr>
        <p:xfrm>
          <a:off x="790603" y="1514111"/>
          <a:ext cx="5276794" cy="3654668"/>
        </p:xfrm>
        <a:graphic>
          <a:graphicData uri="http://schemas.openxmlformats.org/presentationml/2006/ole">
            <mc:AlternateContent xmlns:mc="http://schemas.openxmlformats.org/markup-compatibility/2006">
              <mc:Choice xmlns:v="urn:schemas-microsoft-com:vml" Requires="v">
                <p:oleObj name="Equation" r:id="rId2" imgW="3429000" imgH="2374560" progId="Equation.3">
                  <p:embed/>
                </p:oleObj>
              </mc:Choice>
              <mc:Fallback>
                <p:oleObj name="Equation" r:id="rId2" imgW="3429000" imgH="237456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03" y="1514111"/>
                        <a:ext cx="5276794" cy="3654668"/>
                      </a:xfrm>
                      <a:prstGeom prst="rect">
                        <a:avLst/>
                      </a:prstGeom>
                      <a:noFill/>
                      <a:ln w="9525">
                        <a:solidFill>
                          <a:srgbClr val="FF0000"/>
                        </a:solidFill>
                        <a:miter lim="800000"/>
                        <a:headEnd/>
                        <a:tailEnd/>
                      </a:ln>
                    </p:spPr>
                  </p:pic>
                </p:oleObj>
              </mc:Fallback>
            </mc:AlternateContent>
          </a:graphicData>
        </a:graphic>
      </p:graphicFrame>
      <p:graphicFrame>
        <p:nvGraphicFramePr>
          <p:cNvPr id="400387" name="Object 3"/>
          <p:cNvGraphicFramePr>
            <a:graphicFrameLocks noChangeAspect="1"/>
          </p:cNvGraphicFramePr>
          <p:nvPr>
            <p:extLst>
              <p:ext uri="{D42A27DB-BD31-4B8C-83A1-F6EECF244321}">
                <p14:modId xmlns:p14="http://schemas.microsoft.com/office/powerpoint/2010/main" val="3287464238"/>
              </p:ext>
            </p:extLst>
          </p:nvPr>
        </p:nvGraphicFramePr>
        <p:xfrm>
          <a:off x="4649903" y="5343889"/>
          <a:ext cx="1967633" cy="432128"/>
        </p:xfrm>
        <a:graphic>
          <a:graphicData uri="http://schemas.openxmlformats.org/presentationml/2006/ole">
            <mc:AlternateContent xmlns:mc="http://schemas.openxmlformats.org/markup-compatibility/2006">
              <mc:Choice xmlns:v="urn:schemas-microsoft-com:vml" Requires="v">
                <p:oleObj name="Equation" r:id="rId4" imgW="1384200" imgH="304560" progId="Equation.DSMT4">
                  <p:embed/>
                </p:oleObj>
              </mc:Choice>
              <mc:Fallback>
                <p:oleObj name="Equation" r:id="rId4" imgW="1384200" imgH="304560" progId="Equation.DSMT4">
                  <p:embed/>
                  <p:pic>
                    <p:nvPicPr>
                      <p:cNvPr id="40038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9903" y="5343889"/>
                        <a:ext cx="1967633" cy="43212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6584466"/>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333A-9E7A-022E-8949-35D4D96BB1D4}"/>
              </a:ext>
            </a:extLst>
          </p:cNvPr>
          <p:cNvSpPr>
            <a:spLocks noGrp="1"/>
          </p:cNvSpPr>
          <p:nvPr>
            <p:ph type="title"/>
          </p:nvPr>
        </p:nvSpPr>
        <p:spPr/>
        <p:txBody>
          <a:bodyPr/>
          <a:lstStyle/>
          <a:p>
            <a:r>
              <a:rPr lang="en-US" dirty="0"/>
              <a:t>Charged </a:t>
            </a:r>
            <a:r>
              <a:rPr lang="en-US" dirty="0" err="1"/>
              <a:t>Pions</a:t>
            </a:r>
            <a:endParaRPr lang="en-US" dirty="0"/>
          </a:p>
        </p:txBody>
      </p:sp>
      <p:sp>
        <p:nvSpPr>
          <p:cNvPr id="3" name="Content Placeholder 2">
            <a:extLst>
              <a:ext uri="{FF2B5EF4-FFF2-40B4-BE49-F238E27FC236}">
                <a16:creationId xmlns:a16="http://schemas.microsoft.com/office/drawing/2014/main" id="{5B45E227-8B55-6BA1-6CC8-C1FB121FBAC8}"/>
              </a:ext>
            </a:extLst>
          </p:cNvPr>
          <p:cNvSpPr>
            <a:spLocks noGrp="1"/>
          </p:cNvSpPr>
          <p:nvPr>
            <p:ph idx="1"/>
          </p:nvPr>
        </p:nvSpPr>
        <p:spPr/>
        <p:txBody>
          <a:bodyPr>
            <a:normAutofit/>
          </a:bodyPr>
          <a:lstStyle/>
          <a:p>
            <a:r>
              <a:rPr lang="en-US" sz="1800" dirty="0" err="1"/>
              <a:t>Pions</a:t>
            </a:r>
            <a:r>
              <a:rPr lang="en-US" sz="1800" dirty="0"/>
              <a:t> can be thought of as mediating the strong </a:t>
            </a:r>
            <a:br>
              <a:rPr lang="en-US" sz="1800" dirty="0"/>
            </a:br>
            <a:r>
              <a:rPr lang="en-US" sz="1800" dirty="0"/>
              <a:t>force that hold nuclei together.</a:t>
            </a:r>
          </a:p>
          <a:p>
            <a:r>
              <a:rPr lang="en-US" sz="1800" dirty="0"/>
              <a:t>A </a:t>
            </a:r>
            <a:r>
              <a:rPr lang="en-US" sz="1800" dirty="0">
                <a:latin typeface="Symbol" pitchFamily="2" charset="2"/>
              </a:rPr>
              <a:t>p</a:t>
            </a:r>
            <a:r>
              <a:rPr lang="en-US" sz="1800" baseline="30000" dirty="0"/>
              <a:t>+</a:t>
            </a:r>
            <a:r>
              <a:rPr lang="en-US" sz="1800" dirty="0"/>
              <a:t> consists of an up quark and an anti-down</a:t>
            </a:r>
            <a:br>
              <a:rPr lang="en-US" sz="1800" dirty="0"/>
            </a:br>
            <a:r>
              <a:rPr lang="en-US" sz="1800" dirty="0"/>
              <a:t>quark while a down </a:t>
            </a:r>
            <a:r>
              <a:rPr lang="en-US" sz="1800" dirty="0">
                <a:latin typeface="Symbol" pitchFamily="2" charset="2"/>
              </a:rPr>
              <a:t>p</a:t>
            </a:r>
            <a:r>
              <a:rPr lang="en-US" sz="1800" baseline="30000" dirty="0"/>
              <a:t>-</a:t>
            </a:r>
            <a:r>
              <a:rPr lang="en-US" sz="1800" dirty="0"/>
              <a:t> consists of an anti-up</a:t>
            </a:r>
            <a:br>
              <a:rPr lang="en-US" sz="1800" dirty="0"/>
            </a:br>
            <a:r>
              <a:rPr lang="en-US" sz="1800" dirty="0"/>
              <a:t>quark and a down quark.</a:t>
            </a:r>
          </a:p>
          <a:p>
            <a:r>
              <a:rPr lang="en-US" sz="1800" dirty="0"/>
              <a:t>When a high energy proton beam hits a target, it </a:t>
            </a:r>
            <a:br>
              <a:rPr lang="en-US" sz="1800" dirty="0"/>
            </a:br>
            <a:r>
              <a:rPr lang="en-US" sz="1800" dirty="0"/>
              <a:t>creates mostly </a:t>
            </a:r>
            <a:r>
              <a:rPr lang="en-US" sz="1800" dirty="0" err="1"/>
              <a:t>pions</a:t>
            </a:r>
            <a:r>
              <a:rPr lang="en-US" sz="1800" dirty="0"/>
              <a:t>.</a:t>
            </a:r>
          </a:p>
          <a:p>
            <a:pPr lvl="1"/>
            <a:r>
              <a:rPr lang="en-US" sz="1800" dirty="0"/>
              <a:t>We can make a beam out of the </a:t>
            </a:r>
            <a:r>
              <a:rPr lang="en-US" sz="1800" dirty="0" err="1"/>
              <a:t>pions</a:t>
            </a:r>
            <a:endParaRPr lang="en-US" sz="1800" dirty="0"/>
          </a:p>
          <a:p>
            <a:pPr lvl="1"/>
            <a:r>
              <a:rPr lang="en-US" sz="1800" dirty="0"/>
              <a:t>We can also use their decay products</a:t>
            </a:r>
            <a:br>
              <a:rPr lang="en-US" sz="1800" dirty="0"/>
            </a:br>
            <a:r>
              <a:rPr lang="en-US" sz="1800" dirty="0"/>
              <a:t>muons and neutrinos.</a:t>
            </a:r>
          </a:p>
        </p:txBody>
      </p:sp>
      <p:sp>
        <p:nvSpPr>
          <p:cNvPr id="4" name="Date Placeholder 3">
            <a:extLst>
              <a:ext uri="{FF2B5EF4-FFF2-40B4-BE49-F238E27FC236}">
                <a16:creationId xmlns:a16="http://schemas.microsoft.com/office/drawing/2014/main" id="{E872E800-10E7-DE71-0760-86E6364EFCC3}"/>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AE142CC-95CD-D536-CDA0-1EACAA08E3A8}"/>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C23C6BB1-5335-A8F6-2DB4-DBD4675BE0B2}"/>
              </a:ext>
            </a:extLst>
          </p:cNvPr>
          <p:cNvSpPr>
            <a:spLocks noGrp="1"/>
          </p:cNvSpPr>
          <p:nvPr>
            <p:ph type="sldNum" sz="quarter" idx="12"/>
          </p:nvPr>
        </p:nvSpPr>
        <p:spPr/>
        <p:txBody>
          <a:bodyPr/>
          <a:lstStyle/>
          <a:p>
            <a:pPr>
              <a:defRPr/>
            </a:pPr>
            <a:fld id="{BCA26155-0DCC-45D2-90B6-32F65F3F6C0F}" type="slidenum">
              <a:rPr lang="en-US" smtClean="0"/>
              <a:pPr>
                <a:defRPr/>
              </a:pPr>
              <a:t>6</a:t>
            </a:fld>
            <a:endParaRPr lang="en-US"/>
          </a:p>
        </p:txBody>
      </p:sp>
      <p:pic>
        <p:nvPicPr>
          <p:cNvPr id="1026" name="Picture 2" descr="Nuclear Basics: Forces">
            <a:extLst>
              <a:ext uri="{FF2B5EF4-FFF2-40B4-BE49-F238E27FC236}">
                <a16:creationId xmlns:a16="http://schemas.microsoft.com/office/drawing/2014/main" id="{B69E2D05-B508-391D-9C17-2CE3C8831A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7035" y="471448"/>
            <a:ext cx="1843704" cy="18045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0A5EB94-9965-E161-4ED8-3E9B743A2C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377" r="7560" b="12267"/>
          <a:stretch>
            <a:fillRect/>
          </a:stretch>
        </p:blipFill>
        <p:spPr bwMode="auto">
          <a:xfrm>
            <a:off x="848710" y="4225066"/>
            <a:ext cx="3817410" cy="22690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figure shows four spheres that are labeled proton, neutron, positive pion, and negative pion. The proton sphere contains a blue up quark with spin up, a green down quark with spin down, and a red up quark with spin up. Below the figure are two equations. The upper equation is labeled spin and reads one half plus one half minus one half equals one half, and the lower equation is labeled charge and reads plus two thirds plus two thirds minus one third equals one. The neutron sphere contains a green up q">
            <a:extLst>
              <a:ext uri="{FF2B5EF4-FFF2-40B4-BE49-F238E27FC236}">
                <a16:creationId xmlns:a16="http://schemas.microsoft.com/office/drawing/2014/main" id="{BC229F3A-7D0F-B161-5CAB-E937375685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882"/>
          <a:stretch>
            <a:fillRect/>
          </a:stretch>
        </p:blipFill>
        <p:spPr bwMode="auto">
          <a:xfrm>
            <a:off x="6087034" y="2526702"/>
            <a:ext cx="2034990" cy="18045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7260AC5-603D-666C-C5A4-97CE1BAA0DDA}"/>
              </a:ext>
            </a:extLst>
          </p:cNvPr>
          <p:cNvPicPr>
            <a:picLocks noChangeAspect="1"/>
          </p:cNvPicPr>
          <p:nvPr/>
        </p:nvPicPr>
        <p:blipFill>
          <a:blip r:embed="rId5"/>
          <a:stretch>
            <a:fillRect/>
          </a:stretch>
        </p:blipFill>
        <p:spPr>
          <a:xfrm>
            <a:off x="6279177" y="4638707"/>
            <a:ext cx="2280623" cy="1855422"/>
          </a:xfrm>
          <a:prstGeom prst="rect">
            <a:avLst/>
          </a:prstGeom>
          <a:ln>
            <a:solidFill>
              <a:schemeClr val="tx1"/>
            </a:solidFill>
          </a:ln>
        </p:spPr>
      </p:pic>
    </p:spTree>
    <p:extLst>
      <p:ext uri="{BB962C8B-B14F-4D97-AF65-F5344CB8AC3E}">
        <p14:creationId xmlns:p14="http://schemas.microsoft.com/office/powerpoint/2010/main" val="421658492"/>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0154-F824-DF41-CBC9-6495B6F031C1}"/>
              </a:ext>
            </a:extLst>
          </p:cNvPr>
          <p:cNvSpPr>
            <a:spLocks noGrp="1"/>
          </p:cNvSpPr>
          <p:nvPr>
            <p:ph type="title"/>
          </p:nvPr>
        </p:nvSpPr>
        <p:spPr/>
        <p:txBody>
          <a:bodyPr/>
          <a:lstStyle/>
          <a:p>
            <a:r>
              <a:rPr lang="en-US" dirty="0"/>
              <a:t>Our Example Problem</a:t>
            </a:r>
          </a:p>
        </p:txBody>
      </p:sp>
      <p:sp>
        <p:nvSpPr>
          <p:cNvPr id="3" name="Content Placeholder 2">
            <a:extLst>
              <a:ext uri="{FF2B5EF4-FFF2-40B4-BE49-F238E27FC236}">
                <a16:creationId xmlns:a16="http://schemas.microsoft.com/office/drawing/2014/main" id="{6C440467-F3DA-C8B4-DAF8-39C3E3B09341}"/>
              </a:ext>
            </a:extLst>
          </p:cNvPr>
          <p:cNvSpPr>
            <a:spLocks noGrp="1"/>
          </p:cNvSpPr>
          <p:nvPr>
            <p:ph idx="1"/>
          </p:nvPr>
        </p:nvSpPr>
        <p:spPr/>
        <p:txBody>
          <a:bodyPr>
            <a:normAutofit/>
          </a:bodyPr>
          <a:lstStyle/>
          <a:p>
            <a:r>
              <a:rPr lang="en-US" sz="1800" dirty="0"/>
              <a:t>We’re going to start with a charged pion beam with 1 GeV of kinetic energy.</a:t>
            </a:r>
          </a:p>
          <a:p>
            <a:r>
              <a:rPr lang="en-US" sz="1800" dirty="0"/>
              <a:t>200 downstream of the source will be a tracking detector 6m on a side.</a:t>
            </a:r>
          </a:p>
          <a:p>
            <a:pPr lvl="1"/>
            <a:r>
              <a:rPr lang="en-US" sz="1800" dirty="0"/>
              <a:t>There will also be a 5cm diameter hole so the </a:t>
            </a:r>
            <a:r>
              <a:rPr lang="en-US" sz="1800" dirty="0" err="1"/>
              <a:t>pions</a:t>
            </a:r>
            <a:r>
              <a:rPr lang="en-US" sz="1800" dirty="0"/>
              <a:t> that haven’t decayed can pass through</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Our goal is to calculate the fraction of the </a:t>
            </a:r>
            <a:r>
              <a:rPr lang="en-US" sz="1800" dirty="0" err="1"/>
              <a:t>pions</a:t>
            </a:r>
            <a:r>
              <a:rPr lang="en-US" sz="1800" dirty="0"/>
              <a:t> that will produce a decay muon that hits the tracking chamber.</a:t>
            </a:r>
          </a:p>
        </p:txBody>
      </p:sp>
      <p:sp>
        <p:nvSpPr>
          <p:cNvPr id="4" name="Date Placeholder 3">
            <a:extLst>
              <a:ext uri="{FF2B5EF4-FFF2-40B4-BE49-F238E27FC236}">
                <a16:creationId xmlns:a16="http://schemas.microsoft.com/office/drawing/2014/main" id="{C3AA08C7-5512-3CE4-8ABB-02F1360EC4EA}"/>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6E67B9D-16B3-ABB1-FE76-FE07AFAAF19C}"/>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E1E8752E-EBC0-00C0-1C31-A21D29834721}"/>
              </a:ext>
            </a:extLst>
          </p:cNvPr>
          <p:cNvSpPr>
            <a:spLocks noGrp="1"/>
          </p:cNvSpPr>
          <p:nvPr>
            <p:ph type="sldNum" sz="quarter" idx="12"/>
          </p:nvPr>
        </p:nvSpPr>
        <p:spPr/>
        <p:txBody>
          <a:bodyPr/>
          <a:lstStyle/>
          <a:p>
            <a:pPr>
              <a:defRPr/>
            </a:pPr>
            <a:fld id="{BCA26155-0DCC-45D2-90B6-32F65F3F6C0F}" type="slidenum">
              <a:rPr lang="en-US" smtClean="0"/>
              <a:pPr>
                <a:defRPr/>
              </a:pPr>
              <a:t>7</a:t>
            </a:fld>
            <a:endParaRPr lang="en-US"/>
          </a:p>
        </p:txBody>
      </p:sp>
      <p:cxnSp>
        <p:nvCxnSpPr>
          <p:cNvPr id="8" name="Straight Arrow Connector 7">
            <a:extLst>
              <a:ext uri="{FF2B5EF4-FFF2-40B4-BE49-F238E27FC236}">
                <a16:creationId xmlns:a16="http://schemas.microsoft.com/office/drawing/2014/main" id="{A2A77113-31FE-5237-EC9A-C52C9F5866E3}"/>
              </a:ext>
            </a:extLst>
          </p:cNvPr>
          <p:cNvCxnSpPr/>
          <p:nvPr/>
        </p:nvCxnSpPr>
        <p:spPr>
          <a:xfrm>
            <a:off x="1075765" y="3883511"/>
            <a:ext cx="625019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B6B45BE-FF6F-8660-7BE6-5F48757D8447}"/>
              </a:ext>
            </a:extLst>
          </p:cNvPr>
          <p:cNvSpPr txBox="1"/>
          <p:nvPr/>
        </p:nvSpPr>
        <p:spPr>
          <a:xfrm rot="20911256">
            <a:off x="4733694" y="3259444"/>
            <a:ext cx="1508897" cy="307777"/>
          </a:xfrm>
          <a:prstGeom prst="rect">
            <a:avLst/>
          </a:prstGeom>
          <a:noFill/>
        </p:spPr>
        <p:txBody>
          <a:bodyPr wrap="square" rtlCol="0">
            <a:spAutoFit/>
          </a:bodyPr>
          <a:lstStyle/>
          <a:p>
            <a:pPr algn="ctr"/>
            <a:r>
              <a:rPr lang="en-US" sz="1400" dirty="0">
                <a:latin typeface="Symbol" pitchFamily="2" charset="2"/>
              </a:rPr>
              <a:t>m</a:t>
            </a:r>
            <a:r>
              <a:rPr lang="en-US" sz="1400" baseline="30000" dirty="0">
                <a:latin typeface="+mn-lt"/>
              </a:rPr>
              <a:t>+</a:t>
            </a:r>
            <a:endParaRPr lang="en-US" sz="1400" dirty="0">
              <a:latin typeface="+mn-lt"/>
            </a:endParaRPr>
          </a:p>
        </p:txBody>
      </p:sp>
      <p:cxnSp>
        <p:nvCxnSpPr>
          <p:cNvPr id="11" name="Straight Connector 10">
            <a:extLst>
              <a:ext uri="{FF2B5EF4-FFF2-40B4-BE49-F238E27FC236}">
                <a16:creationId xmlns:a16="http://schemas.microsoft.com/office/drawing/2014/main" id="{BF12B11C-BDAD-13D5-7C6F-9326C5D27CBA}"/>
              </a:ext>
            </a:extLst>
          </p:cNvPr>
          <p:cNvCxnSpPr/>
          <p:nvPr/>
        </p:nvCxnSpPr>
        <p:spPr>
          <a:xfrm flipV="1">
            <a:off x="7013986" y="2934151"/>
            <a:ext cx="0" cy="889603"/>
          </a:xfrm>
          <a:prstGeom prst="line">
            <a:avLst/>
          </a:prstGeom>
          <a:ln w="508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F1882E3-F7C4-6839-ECA9-333303C5104A}"/>
              </a:ext>
            </a:extLst>
          </p:cNvPr>
          <p:cNvCxnSpPr/>
          <p:nvPr/>
        </p:nvCxnSpPr>
        <p:spPr>
          <a:xfrm flipV="1">
            <a:off x="7015776" y="3957926"/>
            <a:ext cx="0" cy="889603"/>
          </a:xfrm>
          <a:prstGeom prst="line">
            <a:avLst/>
          </a:prstGeom>
          <a:ln w="508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F3D9D1B-6B51-5FA5-9F05-D075D99ADCA7}"/>
              </a:ext>
            </a:extLst>
          </p:cNvPr>
          <p:cNvCxnSpPr>
            <a:cxnSpLocks/>
          </p:cNvCxnSpPr>
          <p:nvPr/>
        </p:nvCxnSpPr>
        <p:spPr>
          <a:xfrm flipV="1">
            <a:off x="3533887" y="3302598"/>
            <a:ext cx="3480099" cy="60028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BFA8D53-D852-E3E9-2374-7DCB5FD0753D}"/>
              </a:ext>
            </a:extLst>
          </p:cNvPr>
          <p:cNvSpPr txBox="1"/>
          <p:nvPr/>
        </p:nvSpPr>
        <p:spPr>
          <a:xfrm>
            <a:off x="1250901" y="3575734"/>
            <a:ext cx="1473798" cy="307777"/>
          </a:xfrm>
          <a:prstGeom prst="rect">
            <a:avLst/>
          </a:prstGeom>
          <a:noFill/>
        </p:spPr>
        <p:txBody>
          <a:bodyPr wrap="square" rtlCol="0">
            <a:spAutoFit/>
          </a:bodyPr>
          <a:lstStyle/>
          <a:p>
            <a:r>
              <a:rPr lang="en-US" sz="1400" dirty="0">
                <a:latin typeface="+mn-lt"/>
              </a:rPr>
              <a:t>1 GeV </a:t>
            </a:r>
            <a:r>
              <a:rPr lang="en-US" sz="1400" dirty="0">
                <a:latin typeface="Symbol" pitchFamily="2" charset="2"/>
              </a:rPr>
              <a:t>p</a:t>
            </a:r>
            <a:r>
              <a:rPr lang="en-US" sz="1400" baseline="30000" dirty="0">
                <a:latin typeface="+mn-lt"/>
              </a:rPr>
              <a:t>+</a:t>
            </a:r>
            <a:r>
              <a:rPr lang="en-US" sz="1400" dirty="0">
                <a:latin typeface="+mn-lt"/>
              </a:rPr>
              <a:t> beam</a:t>
            </a:r>
          </a:p>
        </p:txBody>
      </p:sp>
      <p:cxnSp>
        <p:nvCxnSpPr>
          <p:cNvPr id="16" name="Straight Arrow Connector 15">
            <a:extLst>
              <a:ext uri="{FF2B5EF4-FFF2-40B4-BE49-F238E27FC236}">
                <a16:creationId xmlns:a16="http://schemas.microsoft.com/office/drawing/2014/main" id="{21D989BE-71AB-C5C7-273B-9464232ECF5E}"/>
              </a:ext>
            </a:extLst>
          </p:cNvPr>
          <p:cNvCxnSpPr>
            <a:cxnSpLocks/>
          </p:cNvCxnSpPr>
          <p:nvPr/>
        </p:nvCxnSpPr>
        <p:spPr>
          <a:xfrm>
            <a:off x="3533887" y="3916743"/>
            <a:ext cx="3695252" cy="574103"/>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B17712D-3038-0152-CBCA-3E41B0D3123A}"/>
              </a:ext>
            </a:extLst>
          </p:cNvPr>
          <p:cNvSpPr txBox="1"/>
          <p:nvPr/>
        </p:nvSpPr>
        <p:spPr>
          <a:xfrm rot="506215">
            <a:off x="4734815" y="4181134"/>
            <a:ext cx="1508897" cy="307777"/>
          </a:xfrm>
          <a:prstGeom prst="rect">
            <a:avLst/>
          </a:prstGeom>
          <a:noFill/>
        </p:spPr>
        <p:txBody>
          <a:bodyPr wrap="square" rtlCol="0">
            <a:spAutoFit/>
          </a:bodyPr>
          <a:lstStyle/>
          <a:p>
            <a:pPr algn="ctr"/>
            <a:r>
              <a:rPr lang="en-US" sz="1400" dirty="0">
                <a:latin typeface="Symbol" pitchFamily="2" charset="2"/>
              </a:rPr>
              <a:t>n</a:t>
            </a:r>
            <a:r>
              <a:rPr lang="en-US" sz="1400" baseline="-25000" dirty="0">
                <a:latin typeface="Symbol" pitchFamily="2" charset="2"/>
              </a:rPr>
              <a:t>m</a:t>
            </a:r>
            <a:r>
              <a:rPr lang="en-US" sz="1400" dirty="0">
                <a:latin typeface="Symbol" pitchFamily="2" charset="2"/>
              </a:rPr>
              <a:t> </a:t>
            </a:r>
            <a:r>
              <a:rPr lang="en-US" sz="1400" dirty="0">
                <a:latin typeface="+mn-lt"/>
              </a:rPr>
              <a:t>(invisible)</a:t>
            </a:r>
            <a:endParaRPr lang="en-US" sz="1400" baseline="-25000" dirty="0">
              <a:latin typeface="+mn-lt"/>
            </a:endParaRPr>
          </a:p>
        </p:txBody>
      </p:sp>
      <p:cxnSp>
        <p:nvCxnSpPr>
          <p:cNvPr id="19" name="Straight Arrow Connector 18">
            <a:extLst>
              <a:ext uri="{FF2B5EF4-FFF2-40B4-BE49-F238E27FC236}">
                <a16:creationId xmlns:a16="http://schemas.microsoft.com/office/drawing/2014/main" id="{9A1679AB-C3D1-0BED-A01C-EBCF1825D147}"/>
              </a:ext>
            </a:extLst>
          </p:cNvPr>
          <p:cNvCxnSpPr>
            <a:cxnSpLocks/>
          </p:cNvCxnSpPr>
          <p:nvPr/>
        </p:nvCxnSpPr>
        <p:spPr>
          <a:xfrm>
            <a:off x="7494370" y="3883511"/>
            <a:ext cx="724472"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F0EA2BB-DC0A-2E40-627D-C0ABE30D915A}"/>
              </a:ext>
            </a:extLst>
          </p:cNvPr>
          <p:cNvSpPr txBox="1"/>
          <p:nvPr/>
        </p:nvSpPr>
        <p:spPr>
          <a:xfrm>
            <a:off x="7753249" y="3823754"/>
            <a:ext cx="494851" cy="307777"/>
          </a:xfrm>
          <a:prstGeom prst="rect">
            <a:avLst/>
          </a:prstGeom>
          <a:noFill/>
        </p:spPr>
        <p:txBody>
          <a:bodyPr wrap="square" rtlCol="0">
            <a:spAutoFit/>
          </a:bodyPr>
          <a:lstStyle/>
          <a:p>
            <a:r>
              <a:rPr lang="en-US" sz="1400" dirty="0">
                <a:latin typeface="+mn-lt"/>
              </a:rPr>
              <a:t>z</a:t>
            </a:r>
          </a:p>
        </p:txBody>
      </p:sp>
    </p:spTree>
    <p:extLst>
      <p:ext uri="{BB962C8B-B14F-4D97-AF65-F5344CB8AC3E}">
        <p14:creationId xmlns:p14="http://schemas.microsoft.com/office/powerpoint/2010/main" val="2787642212"/>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2A96-7226-A677-CCE0-AC9EF4C30BA6}"/>
              </a:ext>
            </a:extLst>
          </p:cNvPr>
          <p:cNvSpPr>
            <a:spLocks noGrp="1"/>
          </p:cNvSpPr>
          <p:nvPr>
            <p:ph type="title"/>
          </p:nvPr>
        </p:nvSpPr>
        <p:spPr/>
        <p:txBody>
          <a:bodyPr/>
          <a:lstStyle/>
          <a:p>
            <a:r>
              <a:rPr lang="en-US" dirty="0"/>
              <a:t>Steps of the Problem</a:t>
            </a:r>
          </a:p>
        </p:txBody>
      </p:sp>
      <p:sp>
        <p:nvSpPr>
          <p:cNvPr id="3" name="Content Placeholder 2">
            <a:extLst>
              <a:ext uri="{FF2B5EF4-FFF2-40B4-BE49-F238E27FC236}">
                <a16:creationId xmlns:a16="http://schemas.microsoft.com/office/drawing/2014/main" id="{79C82605-CCFF-5AC4-2F93-53CA8058A1FB}"/>
              </a:ext>
            </a:extLst>
          </p:cNvPr>
          <p:cNvSpPr>
            <a:spLocks noGrp="1"/>
          </p:cNvSpPr>
          <p:nvPr>
            <p:ph idx="1"/>
          </p:nvPr>
        </p:nvSpPr>
        <p:spPr/>
        <p:txBody>
          <a:bodyPr/>
          <a:lstStyle/>
          <a:p>
            <a:pPr marL="457200" indent="-457200">
              <a:buFont typeface="+mj-lt"/>
              <a:buAutoNum type="arabicPeriod"/>
            </a:pPr>
            <a:r>
              <a:rPr lang="en-US" dirty="0"/>
              <a:t>Generate a beam of beam of 1 GeV </a:t>
            </a:r>
            <a:r>
              <a:rPr lang="en-US" dirty="0" err="1"/>
              <a:t>pions</a:t>
            </a:r>
            <a:r>
              <a:rPr lang="en-US" dirty="0"/>
              <a:t>, moving in the </a:t>
            </a:r>
            <a:r>
              <a:rPr lang="en-US" i="1" dirty="0"/>
              <a:t>z</a:t>
            </a:r>
            <a:r>
              <a:rPr lang="en-US" dirty="0"/>
              <a:t>-direction </a:t>
            </a:r>
          </a:p>
          <a:p>
            <a:pPr marL="457200" indent="-457200">
              <a:buFont typeface="+mj-lt"/>
              <a:buAutoNum type="arabicPeriod"/>
            </a:pPr>
            <a:r>
              <a:rPr lang="en-US" dirty="0"/>
              <a:t>Calculate the decay position based on the lifetime, corrected for Lorentz time dilation.</a:t>
            </a:r>
          </a:p>
          <a:p>
            <a:pPr marL="457200" indent="-457200">
              <a:buFont typeface="+mj-lt"/>
              <a:buAutoNum type="arabicPeriod"/>
            </a:pPr>
            <a:r>
              <a:rPr lang="en-US" dirty="0" err="1"/>
              <a:t>Isotropically</a:t>
            </a:r>
            <a:r>
              <a:rPr lang="en-US" dirty="0"/>
              <a:t> decay each pion to a muon and neutrino in its own rest frame.</a:t>
            </a:r>
          </a:p>
          <a:p>
            <a:pPr marL="457200" indent="-457200">
              <a:buFont typeface="+mj-lt"/>
              <a:buAutoNum type="arabicPeriod"/>
            </a:pPr>
            <a:r>
              <a:rPr lang="en-US" dirty="0"/>
              <a:t>Project the muon to the detector location.</a:t>
            </a:r>
          </a:p>
          <a:p>
            <a:pPr lvl="1"/>
            <a:r>
              <a:rPr lang="en-US" dirty="0"/>
              <a:t>The neutrino will be invisible.</a:t>
            </a:r>
          </a:p>
          <a:p>
            <a:pPr marL="457200" indent="-457200">
              <a:buFont typeface="+mj-lt"/>
              <a:buAutoNum type="arabicPeriod"/>
            </a:pPr>
            <a:r>
              <a:rPr lang="en-US" dirty="0"/>
              <a:t>Determine whether the decay muons</a:t>
            </a:r>
          </a:p>
          <a:p>
            <a:pPr lvl="1"/>
            <a:r>
              <a:rPr lang="en-US" dirty="0"/>
              <a:t>Hit the tracker</a:t>
            </a:r>
          </a:p>
          <a:p>
            <a:pPr lvl="1"/>
            <a:r>
              <a:rPr lang="en-US" dirty="0"/>
              <a:t>Miss the tracker</a:t>
            </a:r>
          </a:p>
          <a:p>
            <a:pPr lvl="1"/>
            <a:r>
              <a:rPr lang="en-US" dirty="0"/>
              <a:t>Go down the hole.</a:t>
            </a:r>
          </a:p>
        </p:txBody>
      </p:sp>
      <p:sp>
        <p:nvSpPr>
          <p:cNvPr id="4" name="Date Placeholder 3">
            <a:extLst>
              <a:ext uri="{FF2B5EF4-FFF2-40B4-BE49-F238E27FC236}">
                <a16:creationId xmlns:a16="http://schemas.microsoft.com/office/drawing/2014/main" id="{F0EE2441-BA2E-6790-F6F0-FD48B7F6D110}"/>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E5EA6EE7-A188-A619-F09C-0B7E1FCD072F}"/>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3E9D9F5E-D6B5-F933-9ECF-4FA89DC5F8E7}"/>
              </a:ext>
            </a:extLst>
          </p:cNvPr>
          <p:cNvSpPr>
            <a:spLocks noGrp="1"/>
          </p:cNvSpPr>
          <p:nvPr>
            <p:ph type="sldNum" sz="quarter" idx="12"/>
          </p:nvPr>
        </p:nvSpPr>
        <p:spPr/>
        <p:txBody>
          <a:bodyPr/>
          <a:lstStyle/>
          <a:p>
            <a:pPr>
              <a:defRPr/>
            </a:pPr>
            <a:fld id="{BCA26155-0DCC-45D2-90B6-32F65F3F6C0F}" type="slidenum">
              <a:rPr lang="en-US" smtClean="0"/>
              <a:pPr>
                <a:defRPr/>
              </a:pPr>
              <a:t>8</a:t>
            </a:fld>
            <a:endParaRPr lang="en-US"/>
          </a:p>
        </p:txBody>
      </p:sp>
    </p:spTree>
    <p:extLst>
      <p:ext uri="{BB962C8B-B14F-4D97-AF65-F5344CB8AC3E}">
        <p14:creationId xmlns:p14="http://schemas.microsoft.com/office/powerpoint/2010/main" val="1064359564"/>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C3A1-A009-8153-E148-30D8203930FE}"/>
              </a:ext>
            </a:extLst>
          </p:cNvPr>
          <p:cNvSpPr>
            <a:spLocks noGrp="1"/>
          </p:cNvSpPr>
          <p:nvPr>
            <p:ph type="title"/>
          </p:nvPr>
        </p:nvSpPr>
        <p:spPr/>
        <p:txBody>
          <a:bodyPr/>
          <a:lstStyle/>
          <a:p>
            <a:r>
              <a:rPr lang="en-US" dirty="0"/>
              <a:t>Vector Package</a:t>
            </a:r>
          </a:p>
        </p:txBody>
      </p:sp>
      <p:sp>
        <p:nvSpPr>
          <p:cNvPr id="3" name="Content Placeholder 2">
            <a:extLst>
              <a:ext uri="{FF2B5EF4-FFF2-40B4-BE49-F238E27FC236}">
                <a16:creationId xmlns:a16="http://schemas.microsoft.com/office/drawing/2014/main" id="{7388DFC0-0B58-C163-321F-944E7B99559E}"/>
              </a:ext>
            </a:extLst>
          </p:cNvPr>
          <p:cNvSpPr>
            <a:spLocks noGrp="1"/>
          </p:cNvSpPr>
          <p:nvPr>
            <p:ph idx="1"/>
          </p:nvPr>
        </p:nvSpPr>
        <p:spPr/>
        <p:txBody>
          <a:bodyPr/>
          <a:lstStyle/>
          <a:p>
            <a:r>
              <a:rPr lang="en-US" dirty="0"/>
              <a:t>The vector package is a powerful set of routines to deal with 2D, 3D, and </a:t>
            </a:r>
            <a:r>
              <a:rPr lang="en-US" dirty="0" err="1"/>
              <a:t>Lorenitz</a:t>
            </a:r>
            <a:r>
              <a:rPr lang="en-US" dirty="0"/>
              <a:t> 4-vectors.</a:t>
            </a:r>
          </a:p>
          <a:p>
            <a:r>
              <a:rPr lang="en-US" dirty="0"/>
              <a:t>Can work in Cartesian, cylindrical, or polar coordinates.</a:t>
            </a:r>
          </a:p>
          <a:p>
            <a:r>
              <a:rPr lang="en-US" dirty="0"/>
              <a:t>Includes standard geometric operations</a:t>
            </a:r>
          </a:p>
          <a:p>
            <a:r>
              <a:rPr lang="en-US" dirty="0"/>
              <a:t>For 4-vectors, includes Lorentz boosting methods.</a:t>
            </a:r>
          </a:p>
          <a:p>
            <a:r>
              <a:rPr lang="en-US" dirty="0"/>
              <a:t>There is a ”particle” class in Scikit-HEP, which is better suited to more complicated operations, but vector will be find for </a:t>
            </a:r>
            <a:r>
              <a:rPr lang="en-US"/>
              <a:t>this example.</a:t>
            </a:r>
            <a:endParaRPr lang="en-US" dirty="0"/>
          </a:p>
        </p:txBody>
      </p:sp>
      <p:sp>
        <p:nvSpPr>
          <p:cNvPr id="4" name="Date Placeholder 3">
            <a:extLst>
              <a:ext uri="{FF2B5EF4-FFF2-40B4-BE49-F238E27FC236}">
                <a16:creationId xmlns:a16="http://schemas.microsoft.com/office/drawing/2014/main" id="{07B6D2CD-2930-9B51-EF92-05488F056111}"/>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75EB91F2-B883-DC3F-3DFB-24266E1846FF}"/>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584A4F74-5A7D-E2FB-7EDB-E7D6B9870B1A}"/>
              </a:ext>
            </a:extLst>
          </p:cNvPr>
          <p:cNvSpPr>
            <a:spLocks noGrp="1"/>
          </p:cNvSpPr>
          <p:nvPr>
            <p:ph type="sldNum" sz="quarter" idx="12"/>
          </p:nvPr>
        </p:nvSpPr>
        <p:spPr/>
        <p:txBody>
          <a:bodyPr/>
          <a:lstStyle/>
          <a:p>
            <a:pPr>
              <a:defRPr/>
            </a:pPr>
            <a:fld id="{BCA26155-0DCC-45D2-90B6-32F65F3F6C0F}" type="slidenum">
              <a:rPr lang="en-US" smtClean="0"/>
              <a:pPr>
                <a:defRPr/>
              </a:pPr>
              <a:t>9</a:t>
            </a:fld>
            <a:endParaRPr lang="en-US"/>
          </a:p>
        </p:txBody>
      </p:sp>
    </p:spTree>
    <p:extLst>
      <p:ext uri="{BB962C8B-B14F-4D97-AF65-F5344CB8AC3E}">
        <p14:creationId xmlns:p14="http://schemas.microsoft.com/office/powerpoint/2010/main" val="3827159221"/>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8E4C-45EF-7373-7C78-E4CA597BC31A}"/>
              </a:ext>
            </a:extLst>
          </p:cNvPr>
          <p:cNvSpPr>
            <a:spLocks noGrp="1"/>
          </p:cNvSpPr>
          <p:nvPr>
            <p:ph type="title"/>
          </p:nvPr>
        </p:nvSpPr>
        <p:spPr/>
        <p:txBody>
          <a:bodyPr/>
          <a:lstStyle/>
          <a:p>
            <a:r>
              <a:rPr lang="en-US" dirty="0"/>
              <a:t>Decay Parameters</a:t>
            </a:r>
          </a:p>
        </p:txBody>
      </p:sp>
      <p:sp>
        <p:nvSpPr>
          <p:cNvPr id="3" name="Content Placeholder 2">
            <a:extLst>
              <a:ext uri="{FF2B5EF4-FFF2-40B4-BE49-F238E27FC236}">
                <a16:creationId xmlns:a16="http://schemas.microsoft.com/office/drawing/2014/main" id="{1A2BD23A-579E-3F31-B471-7B03531F402D}"/>
              </a:ext>
            </a:extLst>
          </p:cNvPr>
          <p:cNvSpPr>
            <a:spLocks noGrp="1"/>
          </p:cNvSpPr>
          <p:nvPr>
            <p:ph idx="1"/>
          </p:nvPr>
        </p:nvSpPr>
        <p:spPr/>
        <p:txBody>
          <a:bodyPr>
            <a:normAutofit/>
          </a:bodyPr>
          <a:lstStyle/>
          <a:p>
            <a:r>
              <a:rPr lang="en-US" sz="1800" dirty="0"/>
              <a:t>The lifetime will be extended by time dilation by</a:t>
            </a:r>
          </a:p>
          <a:p>
            <a:endParaRPr lang="en-US" sz="1800" dirty="0"/>
          </a:p>
          <a:p>
            <a:r>
              <a:rPr lang="en-US" sz="1800" dirty="0"/>
              <a:t>The length it will travel will be</a:t>
            </a:r>
          </a:p>
          <a:p>
            <a:endParaRPr lang="en-US" sz="1800" dirty="0"/>
          </a:p>
          <a:p>
            <a:endParaRPr lang="en-US" sz="1800" dirty="0"/>
          </a:p>
          <a:p>
            <a:r>
              <a:rPr lang="en-US" sz="1800" dirty="0"/>
              <a:t>In the center of mass frame, the particles will go out back to back with equal momentum </a:t>
            </a:r>
          </a:p>
          <a:p>
            <a:endParaRPr lang="en-US" sz="1800" dirty="0"/>
          </a:p>
          <a:p>
            <a:endParaRPr lang="en-US" sz="1800" dirty="0"/>
          </a:p>
          <a:p>
            <a:endParaRPr lang="en-US" sz="1800" dirty="0"/>
          </a:p>
          <a:p>
            <a:pPr marL="0" indent="0">
              <a:buNone/>
            </a:pPr>
            <a:endParaRPr lang="en-US" sz="1800" dirty="0"/>
          </a:p>
          <a:p>
            <a:r>
              <a:rPr lang="en-US" sz="1800" dirty="0"/>
              <a:t>The momentum is given by </a:t>
            </a:r>
          </a:p>
        </p:txBody>
      </p:sp>
      <p:sp>
        <p:nvSpPr>
          <p:cNvPr id="4" name="Date Placeholder 3">
            <a:extLst>
              <a:ext uri="{FF2B5EF4-FFF2-40B4-BE49-F238E27FC236}">
                <a16:creationId xmlns:a16="http://schemas.microsoft.com/office/drawing/2014/main" id="{45907E46-487C-28FC-008B-5B6BE577D9AD}"/>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9B151706-8089-AE40-186B-B8DAA81D9A71}"/>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10788AB4-5858-BDC8-01DE-ABC04138682C}"/>
              </a:ext>
            </a:extLst>
          </p:cNvPr>
          <p:cNvSpPr>
            <a:spLocks noGrp="1"/>
          </p:cNvSpPr>
          <p:nvPr>
            <p:ph type="sldNum" sz="quarter" idx="12"/>
          </p:nvPr>
        </p:nvSpPr>
        <p:spPr/>
        <p:txBody>
          <a:bodyPr/>
          <a:lstStyle/>
          <a:p>
            <a:pPr>
              <a:defRPr/>
            </a:pPr>
            <a:fld id="{BCA26155-0DCC-45D2-90B6-32F65F3F6C0F}" type="slidenum">
              <a:rPr lang="en-US" smtClean="0"/>
              <a:pPr>
                <a:defRPr/>
              </a:pPr>
              <a:t>10</a:t>
            </a:fld>
            <a:endParaRPr lang="en-US"/>
          </a:p>
        </p:txBody>
      </p:sp>
      <p:pic>
        <p:nvPicPr>
          <p:cNvPr id="7" name="Picture 6">
            <a:extLst>
              <a:ext uri="{FF2B5EF4-FFF2-40B4-BE49-F238E27FC236}">
                <a16:creationId xmlns:a16="http://schemas.microsoft.com/office/drawing/2014/main" id="{EDAD566B-B955-262C-5EB0-AFF10C1DD5F4}"/>
              </a:ext>
            </a:extLst>
          </p:cNvPr>
          <p:cNvPicPr>
            <a:picLocks noChangeAspect="1"/>
          </p:cNvPicPr>
          <p:nvPr/>
        </p:nvPicPr>
        <p:blipFill>
          <a:blip r:embed="rId2"/>
          <a:stretch>
            <a:fillRect/>
          </a:stretch>
        </p:blipFill>
        <p:spPr>
          <a:xfrm>
            <a:off x="3534037" y="1659965"/>
            <a:ext cx="1193800" cy="203200"/>
          </a:xfrm>
          <a:prstGeom prst="rect">
            <a:avLst/>
          </a:prstGeom>
        </p:spPr>
      </p:pic>
      <p:pic>
        <p:nvPicPr>
          <p:cNvPr id="8" name="Picture 7">
            <a:extLst>
              <a:ext uri="{FF2B5EF4-FFF2-40B4-BE49-F238E27FC236}">
                <a16:creationId xmlns:a16="http://schemas.microsoft.com/office/drawing/2014/main" id="{2CB5FD07-DA2A-5799-CDC0-84DE9F2F023E}"/>
              </a:ext>
            </a:extLst>
          </p:cNvPr>
          <p:cNvPicPr>
            <a:picLocks noChangeAspect="1"/>
          </p:cNvPicPr>
          <p:nvPr/>
        </p:nvPicPr>
        <p:blipFill>
          <a:blip r:embed="rId3"/>
          <a:stretch>
            <a:fillRect/>
          </a:stretch>
        </p:blipFill>
        <p:spPr>
          <a:xfrm>
            <a:off x="2987937" y="2435660"/>
            <a:ext cx="2286000" cy="292100"/>
          </a:xfrm>
          <a:prstGeom prst="rect">
            <a:avLst/>
          </a:prstGeom>
        </p:spPr>
      </p:pic>
      <p:cxnSp>
        <p:nvCxnSpPr>
          <p:cNvPr id="10" name="Straight Arrow Connector 9">
            <a:extLst>
              <a:ext uri="{FF2B5EF4-FFF2-40B4-BE49-F238E27FC236}">
                <a16:creationId xmlns:a16="http://schemas.microsoft.com/office/drawing/2014/main" id="{A0A804A6-9FFC-88EA-684E-D8614DA4C446}"/>
              </a:ext>
            </a:extLst>
          </p:cNvPr>
          <p:cNvCxnSpPr>
            <a:cxnSpLocks/>
          </p:cNvCxnSpPr>
          <p:nvPr/>
        </p:nvCxnSpPr>
        <p:spPr>
          <a:xfrm>
            <a:off x="2519904" y="3972554"/>
            <a:ext cx="3235437"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CFE364CF-82C3-64D7-70E8-7374B616304E}"/>
              </a:ext>
            </a:extLst>
          </p:cNvPr>
          <p:cNvSpPr/>
          <p:nvPr/>
        </p:nvSpPr>
        <p:spPr>
          <a:xfrm>
            <a:off x="4130937" y="3902881"/>
            <a:ext cx="118334" cy="131237"/>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84A5055-0683-F87A-F40A-140C6FEBB6F5}"/>
              </a:ext>
            </a:extLst>
          </p:cNvPr>
          <p:cNvCxnSpPr>
            <a:cxnSpLocks/>
            <a:stCxn id="13" idx="7"/>
          </p:cNvCxnSpPr>
          <p:nvPr/>
        </p:nvCxnSpPr>
        <p:spPr>
          <a:xfrm flipV="1">
            <a:off x="4231941" y="3397272"/>
            <a:ext cx="795467" cy="52482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C32183B-1C2D-D5FB-7628-446558F35AE5}"/>
              </a:ext>
            </a:extLst>
          </p:cNvPr>
          <p:cNvCxnSpPr>
            <a:cxnSpLocks/>
          </p:cNvCxnSpPr>
          <p:nvPr/>
        </p:nvCxnSpPr>
        <p:spPr>
          <a:xfrm flipH="1">
            <a:off x="3386345" y="3934944"/>
            <a:ext cx="845596" cy="52236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4" name="Picture 23">
            <a:extLst>
              <a:ext uri="{FF2B5EF4-FFF2-40B4-BE49-F238E27FC236}">
                <a16:creationId xmlns:a16="http://schemas.microsoft.com/office/drawing/2014/main" id="{A3D76019-B484-64FE-6F43-71D560F8BBB5}"/>
              </a:ext>
            </a:extLst>
          </p:cNvPr>
          <p:cNvPicPr>
            <a:picLocks noChangeAspect="1"/>
          </p:cNvPicPr>
          <p:nvPr/>
        </p:nvPicPr>
        <p:blipFill>
          <a:blip r:embed="rId4"/>
          <a:stretch>
            <a:fillRect/>
          </a:stretch>
        </p:blipFill>
        <p:spPr>
          <a:xfrm>
            <a:off x="5082241" y="3386203"/>
            <a:ext cx="673100" cy="203200"/>
          </a:xfrm>
          <a:prstGeom prst="rect">
            <a:avLst/>
          </a:prstGeom>
        </p:spPr>
      </p:pic>
      <p:pic>
        <p:nvPicPr>
          <p:cNvPr id="25" name="Picture 24">
            <a:extLst>
              <a:ext uri="{FF2B5EF4-FFF2-40B4-BE49-F238E27FC236}">
                <a16:creationId xmlns:a16="http://schemas.microsoft.com/office/drawing/2014/main" id="{79AB05FD-D717-67D6-D16C-9886A44B7B34}"/>
              </a:ext>
            </a:extLst>
          </p:cNvPr>
          <p:cNvPicPr>
            <a:picLocks noChangeAspect="1"/>
          </p:cNvPicPr>
          <p:nvPr/>
        </p:nvPicPr>
        <p:blipFill>
          <a:blip r:embed="rId5"/>
          <a:stretch>
            <a:fillRect/>
          </a:stretch>
        </p:blipFill>
        <p:spPr>
          <a:xfrm>
            <a:off x="3191137" y="4552098"/>
            <a:ext cx="685800" cy="203200"/>
          </a:xfrm>
          <a:prstGeom prst="rect">
            <a:avLst/>
          </a:prstGeom>
        </p:spPr>
      </p:pic>
      <p:pic>
        <p:nvPicPr>
          <p:cNvPr id="26" name="Picture 25">
            <a:extLst>
              <a:ext uri="{FF2B5EF4-FFF2-40B4-BE49-F238E27FC236}">
                <a16:creationId xmlns:a16="http://schemas.microsoft.com/office/drawing/2014/main" id="{FC4152F7-8035-7DBB-4295-B6B4BFC03988}"/>
              </a:ext>
            </a:extLst>
          </p:cNvPr>
          <p:cNvPicPr>
            <a:picLocks noChangeAspect="1"/>
          </p:cNvPicPr>
          <p:nvPr/>
        </p:nvPicPr>
        <p:blipFill>
          <a:blip r:embed="rId6"/>
          <a:stretch>
            <a:fillRect/>
          </a:stretch>
        </p:blipFill>
        <p:spPr>
          <a:xfrm>
            <a:off x="4513583" y="3709376"/>
            <a:ext cx="139700" cy="241300"/>
          </a:xfrm>
          <a:prstGeom prst="rect">
            <a:avLst/>
          </a:prstGeom>
        </p:spPr>
      </p:pic>
      <p:pic>
        <p:nvPicPr>
          <p:cNvPr id="27" name="Picture 26">
            <a:extLst>
              <a:ext uri="{FF2B5EF4-FFF2-40B4-BE49-F238E27FC236}">
                <a16:creationId xmlns:a16="http://schemas.microsoft.com/office/drawing/2014/main" id="{BF225A9A-6B00-A784-44BC-CB4B8BDE1ED2}"/>
              </a:ext>
            </a:extLst>
          </p:cNvPr>
          <p:cNvPicPr>
            <a:picLocks noChangeAspect="1"/>
          </p:cNvPicPr>
          <p:nvPr/>
        </p:nvPicPr>
        <p:blipFill>
          <a:blip r:embed="rId7"/>
          <a:stretch>
            <a:fillRect/>
          </a:stretch>
        </p:blipFill>
        <p:spPr>
          <a:xfrm>
            <a:off x="3701530" y="3603472"/>
            <a:ext cx="596900" cy="279400"/>
          </a:xfrm>
          <a:prstGeom prst="rect">
            <a:avLst/>
          </a:prstGeom>
        </p:spPr>
      </p:pic>
      <p:pic>
        <p:nvPicPr>
          <p:cNvPr id="28" name="Picture 27">
            <a:extLst>
              <a:ext uri="{FF2B5EF4-FFF2-40B4-BE49-F238E27FC236}">
                <a16:creationId xmlns:a16="http://schemas.microsoft.com/office/drawing/2014/main" id="{3DEBB2EE-E537-69E7-A0C4-E5FFD96D9755}"/>
              </a:ext>
            </a:extLst>
          </p:cNvPr>
          <p:cNvPicPr>
            <a:picLocks noChangeAspect="1"/>
          </p:cNvPicPr>
          <p:nvPr/>
        </p:nvPicPr>
        <p:blipFill>
          <a:blip r:embed="rId8"/>
          <a:stretch>
            <a:fillRect/>
          </a:stretch>
        </p:blipFill>
        <p:spPr>
          <a:xfrm>
            <a:off x="1190341" y="5427299"/>
            <a:ext cx="6388100" cy="711200"/>
          </a:xfrm>
          <a:prstGeom prst="rect">
            <a:avLst/>
          </a:prstGeom>
        </p:spPr>
      </p:pic>
      <p:sp>
        <p:nvSpPr>
          <p:cNvPr id="29" name="TextBox 28">
            <a:extLst>
              <a:ext uri="{FF2B5EF4-FFF2-40B4-BE49-F238E27FC236}">
                <a16:creationId xmlns:a16="http://schemas.microsoft.com/office/drawing/2014/main" id="{B941E501-95A3-606A-EAC3-667EBFA0F889}"/>
              </a:ext>
            </a:extLst>
          </p:cNvPr>
          <p:cNvSpPr txBox="1"/>
          <p:nvPr/>
        </p:nvSpPr>
        <p:spPr>
          <a:xfrm>
            <a:off x="6357769" y="3709376"/>
            <a:ext cx="2313544" cy="307777"/>
          </a:xfrm>
          <a:prstGeom prst="rect">
            <a:avLst/>
          </a:prstGeom>
          <a:noFill/>
        </p:spPr>
        <p:txBody>
          <a:bodyPr wrap="square" rtlCol="0">
            <a:spAutoFit/>
          </a:bodyPr>
          <a:lstStyle/>
          <a:p>
            <a:r>
              <a:rPr lang="en-US" sz="1400" dirty="0">
                <a:latin typeface="+mn-lt"/>
              </a:rPr>
              <a:t>Flat in </a:t>
            </a:r>
            <a:r>
              <a:rPr lang="en-US" sz="1400" dirty="0" err="1">
                <a:latin typeface="+mn-lt"/>
              </a:rPr>
              <a:t>cos</a:t>
            </a:r>
            <a:r>
              <a:rPr lang="en-US" sz="1400" i="1" dirty="0" err="1">
                <a:latin typeface="Symbol" pitchFamily="2" charset="2"/>
              </a:rPr>
              <a:t>q</a:t>
            </a:r>
            <a:r>
              <a:rPr lang="en-US" sz="1400" i="1" dirty="0">
                <a:latin typeface="+mn-lt"/>
              </a:rPr>
              <a:t> </a:t>
            </a:r>
            <a:r>
              <a:rPr lang="en-US" sz="1400" dirty="0">
                <a:latin typeface="+mn-lt"/>
              </a:rPr>
              <a:t>and </a:t>
            </a:r>
            <a:r>
              <a:rPr lang="en-US" sz="1400" i="1" dirty="0">
                <a:latin typeface="Symbol" pitchFamily="2" charset="2"/>
              </a:rPr>
              <a:t>f</a:t>
            </a:r>
          </a:p>
        </p:txBody>
      </p:sp>
      <p:sp>
        <p:nvSpPr>
          <p:cNvPr id="30" name="TextBox 29">
            <a:extLst>
              <a:ext uri="{FF2B5EF4-FFF2-40B4-BE49-F238E27FC236}">
                <a16:creationId xmlns:a16="http://schemas.microsoft.com/office/drawing/2014/main" id="{C24BDC0E-2576-6850-230D-0EEF79BF8D2B}"/>
              </a:ext>
            </a:extLst>
          </p:cNvPr>
          <p:cNvSpPr txBox="1"/>
          <p:nvPr/>
        </p:nvSpPr>
        <p:spPr>
          <a:xfrm>
            <a:off x="2398955" y="6422315"/>
            <a:ext cx="3636085" cy="305510"/>
          </a:xfrm>
          <a:prstGeom prst="rect">
            <a:avLst/>
          </a:prstGeom>
          <a:noFill/>
        </p:spPr>
        <p:txBody>
          <a:bodyPr wrap="square" rtlCol="0">
            <a:spAutoFit/>
          </a:bodyPr>
          <a:lstStyle/>
          <a:p>
            <a:pPr algn="ctr"/>
            <a:r>
              <a:rPr lang="en-US" sz="1400" dirty="0">
                <a:latin typeface="+mn-lt"/>
              </a:rPr>
              <a:t>(go to notebook)</a:t>
            </a:r>
          </a:p>
        </p:txBody>
      </p:sp>
    </p:spTree>
    <p:extLst>
      <p:ext uri="{BB962C8B-B14F-4D97-AF65-F5344CB8AC3E}">
        <p14:creationId xmlns:p14="http://schemas.microsoft.com/office/powerpoint/2010/main" val="312835816"/>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EA35-F72E-C8A0-2527-72D0C36CF774}"/>
              </a:ext>
            </a:extLst>
          </p:cNvPr>
          <p:cNvSpPr>
            <a:spLocks noGrp="1"/>
          </p:cNvSpPr>
          <p:nvPr>
            <p:ph type="title"/>
          </p:nvPr>
        </p:nvSpPr>
        <p:spPr/>
        <p:txBody>
          <a:bodyPr/>
          <a:lstStyle/>
          <a:p>
            <a:r>
              <a:rPr lang="en-US" dirty="0"/>
              <a:t>Results</a:t>
            </a:r>
          </a:p>
        </p:txBody>
      </p:sp>
      <p:sp>
        <p:nvSpPr>
          <p:cNvPr id="4" name="Date Placeholder 3">
            <a:extLst>
              <a:ext uri="{FF2B5EF4-FFF2-40B4-BE49-F238E27FC236}">
                <a16:creationId xmlns:a16="http://schemas.microsoft.com/office/drawing/2014/main" id="{0D5E3DEB-E574-D458-8594-063D1ECC6874}"/>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9E30717-7647-C25E-7650-1AD80D4AF063}"/>
              </a:ext>
            </a:extLst>
          </p:cNvPr>
          <p:cNvSpPr>
            <a:spLocks noGrp="1"/>
          </p:cNvSpPr>
          <p:nvPr>
            <p:ph type="ftr" sz="quarter" idx="11"/>
          </p:nvPr>
        </p:nvSpPr>
        <p:spPr/>
        <p:txBody>
          <a:bodyPr/>
          <a:lstStyle/>
          <a:p>
            <a:pPr>
              <a:defRPr/>
            </a:pPr>
            <a:r>
              <a:rPr lang="en-US"/>
              <a:t>Pion Decay Example</a:t>
            </a:r>
            <a:endParaRPr lang="en-US">
              <a:latin typeface="+mn-lt"/>
            </a:endParaRPr>
          </a:p>
        </p:txBody>
      </p:sp>
      <p:sp>
        <p:nvSpPr>
          <p:cNvPr id="6" name="Slide Number Placeholder 5">
            <a:extLst>
              <a:ext uri="{FF2B5EF4-FFF2-40B4-BE49-F238E27FC236}">
                <a16:creationId xmlns:a16="http://schemas.microsoft.com/office/drawing/2014/main" id="{1C7282F2-48D3-48C8-5881-05251B97D19C}"/>
              </a:ext>
            </a:extLst>
          </p:cNvPr>
          <p:cNvSpPr>
            <a:spLocks noGrp="1"/>
          </p:cNvSpPr>
          <p:nvPr>
            <p:ph type="sldNum" sz="quarter" idx="12"/>
          </p:nvPr>
        </p:nvSpPr>
        <p:spPr/>
        <p:txBody>
          <a:bodyPr/>
          <a:lstStyle/>
          <a:p>
            <a:pPr>
              <a:defRPr/>
            </a:pPr>
            <a:fld id="{BCA26155-0DCC-45D2-90B6-32F65F3F6C0F}" type="slidenum">
              <a:rPr lang="en-US" smtClean="0"/>
              <a:pPr>
                <a:defRPr/>
              </a:pPr>
              <a:t>11</a:t>
            </a:fld>
            <a:endParaRPr lang="en-US"/>
          </a:p>
        </p:txBody>
      </p:sp>
      <p:pic>
        <p:nvPicPr>
          <p:cNvPr id="7" name="Picture 6">
            <a:extLst>
              <a:ext uri="{FF2B5EF4-FFF2-40B4-BE49-F238E27FC236}">
                <a16:creationId xmlns:a16="http://schemas.microsoft.com/office/drawing/2014/main" id="{1D866600-696C-2E54-5B6B-8C846A93FB85}"/>
              </a:ext>
            </a:extLst>
          </p:cNvPr>
          <p:cNvPicPr>
            <a:picLocks noChangeAspect="1"/>
          </p:cNvPicPr>
          <p:nvPr/>
        </p:nvPicPr>
        <p:blipFill>
          <a:blip r:embed="rId2"/>
          <a:stretch>
            <a:fillRect/>
          </a:stretch>
        </p:blipFill>
        <p:spPr>
          <a:xfrm>
            <a:off x="0" y="1123834"/>
            <a:ext cx="4389120" cy="3246747"/>
          </a:xfrm>
          <a:prstGeom prst="rect">
            <a:avLst/>
          </a:prstGeom>
        </p:spPr>
      </p:pic>
      <p:pic>
        <p:nvPicPr>
          <p:cNvPr id="8" name="Picture 7">
            <a:extLst>
              <a:ext uri="{FF2B5EF4-FFF2-40B4-BE49-F238E27FC236}">
                <a16:creationId xmlns:a16="http://schemas.microsoft.com/office/drawing/2014/main" id="{8DE9874C-7547-739C-6877-9AC2B8224C16}"/>
              </a:ext>
            </a:extLst>
          </p:cNvPr>
          <p:cNvPicPr>
            <a:picLocks noChangeAspect="1"/>
          </p:cNvPicPr>
          <p:nvPr/>
        </p:nvPicPr>
        <p:blipFill>
          <a:blip r:embed="rId3"/>
          <a:stretch>
            <a:fillRect/>
          </a:stretch>
        </p:blipFill>
        <p:spPr>
          <a:xfrm>
            <a:off x="4572000" y="1223631"/>
            <a:ext cx="4227755" cy="3104890"/>
          </a:xfrm>
          <a:prstGeom prst="rect">
            <a:avLst/>
          </a:prstGeom>
        </p:spPr>
      </p:pic>
      <p:pic>
        <p:nvPicPr>
          <p:cNvPr id="9" name="Picture 8">
            <a:extLst>
              <a:ext uri="{FF2B5EF4-FFF2-40B4-BE49-F238E27FC236}">
                <a16:creationId xmlns:a16="http://schemas.microsoft.com/office/drawing/2014/main" id="{66C1275E-07EE-E14D-BF03-ACA1712CFCB8}"/>
              </a:ext>
            </a:extLst>
          </p:cNvPr>
          <p:cNvPicPr>
            <a:picLocks noChangeAspect="1"/>
          </p:cNvPicPr>
          <p:nvPr/>
        </p:nvPicPr>
        <p:blipFill>
          <a:blip r:embed="rId4"/>
          <a:stretch>
            <a:fillRect/>
          </a:stretch>
        </p:blipFill>
        <p:spPr>
          <a:xfrm>
            <a:off x="1108038" y="4479043"/>
            <a:ext cx="3084755" cy="2336095"/>
          </a:xfrm>
          <a:prstGeom prst="rect">
            <a:avLst/>
          </a:prstGeom>
        </p:spPr>
      </p:pic>
      <p:pic>
        <p:nvPicPr>
          <p:cNvPr id="10" name="Picture 9">
            <a:extLst>
              <a:ext uri="{FF2B5EF4-FFF2-40B4-BE49-F238E27FC236}">
                <a16:creationId xmlns:a16="http://schemas.microsoft.com/office/drawing/2014/main" id="{9163F09A-FD53-4A39-1F9E-3BDB0D631866}"/>
              </a:ext>
            </a:extLst>
          </p:cNvPr>
          <p:cNvPicPr>
            <a:picLocks noChangeAspect="1"/>
          </p:cNvPicPr>
          <p:nvPr/>
        </p:nvPicPr>
        <p:blipFill>
          <a:blip r:embed="rId5"/>
          <a:stretch>
            <a:fillRect/>
          </a:stretch>
        </p:blipFill>
        <p:spPr>
          <a:xfrm>
            <a:off x="4556513" y="5048923"/>
            <a:ext cx="4178300" cy="762000"/>
          </a:xfrm>
          <a:prstGeom prst="rect">
            <a:avLst/>
          </a:prstGeom>
        </p:spPr>
      </p:pic>
    </p:spTree>
    <p:extLst>
      <p:ext uri="{BB962C8B-B14F-4D97-AF65-F5344CB8AC3E}">
        <p14:creationId xmlns:p14="http://schemas.microsoft.com/office/powerpoint/2010/main" val="1801438490"/>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FIRSTPREBYS@7EJIGINFUVWYY57I" val="43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spDef>
      <a:spPr>
        <a:noFill/>
        <a:ln>
          <a:solidFill>
            <a:srgbClr val="FF0000"/>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0000"/>
          </a:solidFill>
          <a:tailEnd type="arrow"/>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smtClean="0">
            <a:latin typeface="+mn-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57930</TotalTime>
  <Words>713</Words>
  <Application>Microsoft Macintosh PowerPoint</Application>
  <PresentationFormat>On-screen Show (4:3)</PresentationFormat>
  <Paragraphs>177</Paragraphs>
  <Slides>11</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7" baseType="lpstr">
      <vt:lpstr>Symbol</vt:lpstr>
      <vt:lpstr>Arial</vt:lpstr>
      <vt:lpstr>Calibri</vt:lpstr>
      <vt:lpstr>Times New Roman</vt:lpstr>
      <vt:lpstr>Clarity</vt:lpstr>
      <vt:lpstr>Equation</vt:lpstr>
      <vt:lpstr>Pion Decay Example</vt:lpstr>
      <vt:lpstr>Relativity and Units</vt:lpstr>
      <vt:lpstr>Kinetic Energy</vt:lpstr>
      <vt:lpstr>Example Beam Parameters</vt:lpstr>
      <vt:lpstr>4-Vectors and Lorentz Transformations</vt:lpstr>
      <vt:lpstr>Charged Pions</vt:lpstr>
      <vt:lpstr>Our Example Problem</vt:lpstr>
      <vt:lpstr>Steps of the Problem</vt:lpstr>
      <vt:lpstr>Vector Package</vt:lpstr>
      <vt:lpstr>Decay Parameters</vt:lpstr>
      <vt:lpstr>Results</vt:lpstr>
    </vt:vector>
  </TitlesOfParts>
  <Company>Fermilab Beams Division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Antiproton Stacking and Cooling</dc:title>
  <dc:creator>localadmin</dc:creator>
  <cp:lastModifiedBy>Eric J Prebys</cp:lastModifiedBy>
  <cp:revision>1294</cp:revision>
  <cp:lastPrinted>2024-03-08T21:07:53Z</cp:lastPrinted>
  <dcterms:created xsi:type="dcterms:W3CDTF">2003-06-24T14:15:57Z</dcterms:created>
  <dcterms:modified xsi:type="dcterms:W3CDTF">2025-11-17T22:45:16Z</dcterms:modified>
</cp:coreProperties>
</file>