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624" r:id="rId1"/>
  </p:sldMasterIdLst>
  <p:notesMasterIdLst>
    <p:notesMasterId r:id="rId24"/>
  </p:notesMasterIdLst>
  <p:handoutMasterIdLst>
    <p:handoutMasterId r:id="rId25"/>
  </p:handoutMasterIdLst>
  <p:sldIdLst>
    <p:sldId id="271" r:id="rId2"/>
    <p:sldId id="273" r:id="rId3"/>
    <p:sldId id="274" r:id="rId4"/>
    <p:sldId id="275" r:id="rId5"/>
    <p:sldId id="276" r:id="rId6"/>
    <p:sldId id="277" r:id="rId7"/>
    <p:sldId id="279" r:id="rId8"/>
    <p:sldId id="295" r:id="rId9"/>
    <p:sldId id="280" r:id="rId10"/>
    <p:sldId id="294" r:id="rId11"/>
    <p:sldId id="281" r:id="rId12"/>
    <p:sldId id="282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3" r:id="rId21"/>
    <p:sldId id="292" r:id="rId22"/>
    <p:sldId id="291" r:id="rId23"/>
  </p:sldIdLst>
  <p:sldSz cx="9144000" cy="6858000" type="screen4x3"/>
  <p:notesSz cx="6858000" cy="9144000"/>
  <p:custDataLst>
    <p:tags r:id="rId2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>
          <p15:clr>
            <a:srgbClr val="A4A3A4"/>
          </p15:clr>
        </p15:guide>
        <p15:guide id="3" orient="horz" pos="429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FD6F7D"/>
    <a:srgbClr val="008000"/>
    <a:srgbClr val="CC3399"/>
    <a:srgbClr val="FF9933"/>
    <a:srgbClr val="FF9966"/>
    <a:srgbClr val="33CC33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1"/>
  </p:normalViewPr>
  <p:slideViewPr>
    <p:cSldViewPr snapToGrid="0">
      <p:cViewPr varScale="1">
        <p:scale>
          <a:sx n="130" d="100"/>
          <a:sy n="130" d="100"/>
        </p:scale>
        <p:origin x="2784" y="48"/>
      </p:cViewPr>
      <p:guideLst>
        <p:guide/>
        <p:guide orient="horz" pos="42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641E0-C0FB-FB45-BE20-B5E285E46BDA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D667F-4C0A-F045-9861-4468224AE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965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40E8FAF-0EB9-4F3C-9D18-30F5214B3A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68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48882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582482"/>
            <a:ext cx="6400800" cy="554404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P118 - Winter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Binary Numbers, E. Prebys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94106" y="5472156"/>
            <a:ext cx="8643661" cy="364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P118 - Winter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Binary Numbers, E. Prebys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914655-DFE5-45AD-AEB7-B6324F535D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13A5A-BD10-4E42-8EDD-42C4A14A64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536C3-BB10-4165-8E74-99838CB517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871096-0617-41A5-9758-D801656409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A0D8F-9A19-4D03-8318-653C6FCD8B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09CFA1-B09C-442F-85C3-919131D33D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137E2-35D0-4667-9362-8260FF57AB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1713" y="471448"/>
            <a:ext cx="8229600" cy="628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713" y="1182021"/>
            <a:ext cx="8229600" cy="5441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4094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Binary Numbers, E. Prebys</a:t>
            </a:r>
            <a:endParaRPr lang="en-US" dirty="0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9560" y="18288"/>
            <a:ext cx="7772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210FB4-E372-466D-A3EB-21FD966A10F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ext Box 11"/>
          <p:cNvSpPr txBox="1">
            <a:spLocks noChangeArrowheads="1"/>
          </p:cNvSpPr>
          <p:nvPr userDrawn="1"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781336" y="1"/>
            <a:ext cx="362663" cy="37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25" r:id="rId1"/>
    <p:sldLayoutId id="2147484626" r:id="rId2"/>
    <p:sldLayoutId id="2147484627" r:id="rId3"/>
    <p:sldLayoutId id="2147484628" r:id="rId4"/>
    <p:sldLayoutId id="2147484629" r:id="rId5"/>
    <p:sldLayoutId id="2147484630" r:id="rId6"/>
    <p:sldLayoutId id="2147484631" r:id="rId7"/>
    <p:sldLayoutId id="2147484632" r:id="rId8"/>
    <p:sldLayoutId id="2147484633" r:id="rId9"/>
    <p:sldLayoutId id="2147484634" r:id="rId10"/>
    <p:sldLayoutId id="2147484635" r:id="rId11"/>
  </p:sldLayoutIdLst>
  <p:transition>
    <p:fade thruBlk="1"/>
  </p:transition>
  <p:hf sldNum="0" hdr="0"/>
  <p:txStyles>
    <p:titleStyle>
      <a:lvl1pPr algn="l" defTabSz="914400" rtl="0" eaLnBrk="1" latinLnBrk="0" hangingPunct="1">
        <a:spcBef>
          <a:spcPct val="0"/>
        </a:spcBef>
        <a:buNone/>
        <a:defRPr sz="32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2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1.e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5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4.emf"/><Relationship Id="rId4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69575" y="2192572"/>
            <a:ext cx="8465346" cy="90060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Binary Numbers and other objects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66816" y="5547869"/>
            <a:ext cx="6400800" cy="527762"/>
          </a:xfrm>
        </p:spPr>
        <p:txBody>
          <a:bodyPr/>
          <a:lstStyle/>
          <a:p>
            <a:pPr eaLnBrk="1" hangingPunct="1"/>
            <a:r>
              <a:rPr lang="en-US" dirty="0"/>
              <a:t>Eric Prebys</a:t>
            </a: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2538" y="399711"/>
            <a:ext cx="7886700" cy="600164"/>
          </a:xfrm>
        </p:spPr>
        <p:txBody>
          <a:bodyPr/>
          <a:lstStyle/>
          <a:p>
            <a:r>
              <a:rPr lang="en-US" dirty="0"/>
              <a:t>“Numbers” in Computing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971021"/>
            <a:ext cx="7886700" cy="5859552"/>
          </a:xfrm>
        </p:spPr>
        <p:txBody>
          <a:bodyPr/>
          <a:lstStyle/>
          <a:p>
            <a:r>
              <a:rPr lang="en-US" sz="2400" dirty="0"/>
              <a:t>As you’ll learn if you take 118, everything in a computer ultimately reduces to 1s (TRUE) and 0s (FALSE)</a:t>
            </a:r>
          </a:p>
          <a:p>
            <a:pPr lvl="1"/>
            <a:r>
              <a:rPr lang="en-US" dirty="0"/>
              <a:t>These are internally defined by voltage levels.</a:t>
            </a:r>
          </a:p>
          <a:p>
            <a:r>
              <a:rPr lang="en-US" sz="2400" dirty="0"/>
              <a:t>Numbers are made from groups individual signals, called “bits” (= “binary digit”)</a:t>
            </a:r>
            <a:endParaRPr lang="en-US" dirty="0"/>
          </a:p>
          <a:p>
            <a:r>
              <a:rPr lang="en-US" sz="2400" dirty="0"/>
              <a:t>In the early </a:t>
            </a:r>
            <a:r>
              <a:rPr lang="en-US" dirty="0"/>
              <a:t>days of computing, the exact format of numbers depended on the type of computer and there was a lot of variation:</a:t>
            </a:r>
          </a:p>
          <a:p>
            <a:pPr lvl="1"/>
            <a:r>
              <a:rPr lang="en-US" dirty="0"/>
              <a:t>Even “byte” was only defined as ”a group bits” when I was in college (sometimes 6, sometimes 8)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0E862-879E-B840-8CE5-F8320A5C8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07128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2422"/>
            <a:ext cx="7886700" cy="600164"/>
          </a:xfrm>
        </p:spPr>
        <p:txBody>
          <a:bodyPr/>
          <a:lstStyle/>
          <a:p>
            <a:r>
              <a:rPr lang="en-US" dirty="0"/>
              <a:t>Types of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71022"/>
            <a:ext cx="7886700" cy="5484207"/>
          </a:xfrm>
        </p:spPr>
        <p:txBody>
          <a:bodyPr>
            <a:normAutofit/>
          </a:bodyPr>
          <a:lstStyle/>
          <a:p>
            <a:r>
              <a:rPr lang="en-US" dirty="0"/>
              <a:t>In general, there are four types of numbers:</a:t>
            </a:r>
          </a:p>
          <a:p>
            <a:pPr lvl="1"/>
            <a:r>
              <a:rPr lang="en-US" dirty="0"/>
              <a:t>Unsigned Integers</a:t>
            </a:r>
          </a:p>
          <a:p>
            <a:pPr lvl="1"/>
            <a:r>
              <a:rPr lang="en-US" dirty="0"/>
              <a:t>Signed Integers</a:t>
            </a:r>
          </a:p>
          <a:p>
            <a:pPr lvl="1"/>
            <a:r>
              <a:rPr lang="en-US" dirty="0"/>
              <a:t>Fixed Point (really a special case of Signed Integers)</a:t>
            </a:r>
          </a:p>
          <a:p>
            <a:pPr lvl="1"/>
            <a:r>
              <a:rPr lang="en-US" dirty="0"/>
              <a:t>Floating Point</a:t>
            </a:r>
          </a:p>
          <a:p>
            <a:r>
              <a:rPr lang="en-US" dirty="0"/>
              <a:t>Unsigned Integers are the only one with an unambiguous definition.</a:t>
            </a:r>
          </a:p>
          <a:p>
            <a:r>
              <a:rPr lang="en-US" dirty="0"/>
              <a:t>Signed Integers and floating-point numbers have used different representations over the years.</a:t>
            </a:r>
          </a:p>
          <a:p>
            <a:r>
              <a:rPr lang="en-US" dirty="0"/>
              <a:t>We’ll focus on modern standards, but it’s not impossible that you may encounter older standards somewhere down the road.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DC524-10AD-6B44-9324-90A74C73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444233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57" y="416872"/>
            <a:ext cx="7886700" cy="600164"/>
          </a:xfrm>
        </p:spPr>
        <p:txBody>
          <a:bodyPr/>
          <a:lstStyle/>
          <a:p>
            <a:r>
              <a:rPr lang="en-US" dirty="0"/>
              <a:t>Unsigned integers (also used for addressing!)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71020"/>
            <a:ext cx="7886700" cy="5470107"/>
          </a:xfrm>
        </p:spPr>
        <p:txBody>
          <a:bodyPr>
            <a:normAutofit/>
          </a:bodyPr>
          <a:lstStyle/>
          <a:p>
            <a:r>
              <a:rPr lang="en-US" dirty="0"/>
              <a:t>The binary representation of unsigned integers is simply the number expressed in base-2, in which the n</a:t>
            </a:r>
            <a:r>
              <a:rPr lang="en-US" baseline="30000" dirty="0"/>
              <a:t>th</a:t>
            </a:r>
            <a:r>
              <a:rPr lang="en-US" dirty="0"/>
              <a:t> bit represents 2</a:t>
            </a:r>
            <a:r>
              <a:rPr lang="en-US" baseline="30000" dirty="0"/>
              <a:t>n</a:t>
            </a:r>
            <a:r>
              <a:rPr lang="en-US" dirty="0"/>
              <a:t> (we’ll always count bits starting at 0!)</a:t>
            </a:r>
          </a:p>
          <a:p>
            <a:endParaRPr lang="en-US" baseline="30000" dirty="0"/>
          </a:p>
          <a:p>
            <a:endParaRPr lang="en-US" baseline="30000" dirty="0"/>
          </a:p>
          <a:p>
            <a:endParaRPr lang="en-US" baseline="30000" dirty="0"/>
          </a:p>
          <a:p>
            <a:endParaRPr lang="en-US" baseline="30000" dirty="0"/>
          </a:p>
          <a:p>
            <a:endParaRPr lang="en-US" baseline="30000" dirty="0"/>
          </a:p>
          <a:p>
            <a:endParaRPr lang="en-US" baseline="30000" dirty="0"/>
          </a:p>
          <a:p>
            <a:endParaRPr lang="en-US" baseline="30000" dirty="0"/>
          </a:p>
          <a:p>
            <a:endParaRPr lang="en-US" baseline="30000" dirty="0"/>
          </a:p>
          <a:p>
            <a:endParaRPr lang="en-US" baseline="30000" dirty="0"/>
          </a:p>
          <a:p>
            <a:endParaRPr lang="en-US" baseline="30000" dirty="0"/>
          </a:p>
          <a:p>
            <a:r>
              <a:rPr lang="en-US" dirty="0"/>
              <a:t>A </a:t>
            </a:r>
            <a:r>
              <a:rPr lang="en-US" i="1" dirty="0"/>
              <a:t>n</a:t>
            </a:r>
            <a:r>
              <a:rPr lang="en-US" dirty="0"/>
              <a:t>-bit word has a range 0 to (2</a:t>
            </a:r>
            <a:r>
              <a:rPr lang="en-US" baseline="30000" dirty="0"/>
              <a:t>n</a:t>
            </a:r>
            <a:r>
              <a:rPr lang="en-US" dirty="0"/>
              <a:t>-1)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</a:p>
        </p:txBody>
      </p:sp>
      <p:pic>
        <p:nvPicPr>
          <p:cNvPr id="6" name="Picture 5" descr="Screen Shot 2018-01-25 at 10.33.2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998" y="2677812"/>
            <a:ext cx="4685709" cy="264085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1B69C-0803-B447-A007-E8DBF1CAE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271300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2422"/>
            <a:ext cx="7886700" cy="600164"/>
          </a:xfrm>
        </p:spPr>
        <p:txBody>
          <a:bodyPr/>
          <a:lstStyle/>
          <a:p>
            <a:r>
              <a:rPr lang="en-US" dirty="0"/>
              <a:t>Converting from Binary to 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71022"/>
            <a:ext cx="7886700" cy="487313"/>
          </a:xfrm>
        </p:spPr>
        <p:txBody>
          <a:bodyPr/>
          <a:lstStyle/>
          <a:p>
            <a:r>
              <a:rPr lang="en-US" dirty="0"/>
              <a:t>Simply add up the values of the individual digits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889" t="12578" r="4778" b="15852"/>
          <a:stretch/>
        </p:blipFill>
        <p:spPr>
          <a:xfrm>
            <a:off x="2590800" y="1797410"/>
            <a:ext cx="3742632" cy="2286955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1D9B77-40BF-444E-933D-1A63025EF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48398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48" y="382550"/>
            <a:ext cx="7886700" cy="600164"/>
          </a:xfrm>
        </p:spPr>
        <p:txBody>
          <a:bodyPr/>
          <a:lstStyle/>
          <a:p>
            <a:r>
              <a:rPr lang="en-US" dirty="0"/>
              <a:t>Converting from Decimal to Binary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71021"/>
            <a:ext cx="8103870" cy="576723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Recursive subtraction</a:t>
            </a:r>
          </a:p>
          <a:p>
            <a:pPr lvl="1"/>
            <a:r>
              <a:rPr lang="en-US" sz="2000" dirty="0"/>
              <a:t>Find the largest value of </a:t>
            </a:r>
            <a:r>
              <a:rPr lang="en-US" sz="2000" i="1" dirty="0"/>
              <a:t>n</a:t>
            </a:r>
            <a:r>
              <a:rPr lang="en-US" sz="2000" dirty="0"/>
              <a:t> for which </a:t>
            </a:r>
            <a:r>
              <a:rPr lang="en-US" sz="2000" i="1" dirty="0"/>
              <a:t>2</a:t>
            </a:r>
            <a:r>
              <a:rPr lang="en-US" sz="2000" i="1" baseline="30000" dirty="0"/>
              <a:t>n</a:t>
            </a:r>
            <a:r>
              <a:rPr lang="en-US" sz="2000" dirty="0"/>
              <a:t> is less than the number</a:t>
            </a:r>
          </a:p>
          <a:p>
            <a:pPr lvl="1"/>
            <a:r>
              <a:rPr lang="en-US" sz="2000" dirty="0"/>
              <a:t>Set bit </a:t>
            </a:r>
            <a:r>
              <a:rPr lang="en-US" sz="2000" i="1" dirty="0"/>
              <a:t>n</a:t>
            </a:r>
          </a:p>
          <a:p>
            <a:pPr lvl="1"/>
            <a:r>
              <a:rPr lang="en-US" sz="2000" dirty="0"/>
              <a:t>Subtract </a:t>
            </a:r>
            <a:r>
              <a:rPr lang="en-US" sz="2000" i="1" dirty="0"/>
              <a:t>2</a:t>
            </a:r>
            <a:r>
              <a:rPr lang="en-US" sz="2000" i="1" baseline="30000" dirty="0"/>
              <a:t>n</a:t>
            </a:r>
            <a:r>
              <a:rPr lang="en-US" sz="2000" dirty="0"/>
              <a:t> from original number</a:t>
            </a:r>
          </a:p>
          <a:p>
            <a:pPr lvl="1"/>
            <a:r>
              <a:rPr lang="en-US" sz="2000" dirty="0"/>
              <a:t>Repeat until the remainder is zero or </a:t>
            </a:r>
            <a:r>
              <a:rPr lang="en-US" sz="2000" i="1" dirty="0"/>
              <a:t>n=0</a:t>
            </a:r>
            <a:r>
              <a:rPr lang="en-US" sz="2000" dirty="0"/>
              <a:t> (</a:t>
            </a:r>
            <a:r>
              <a:rPr lang="en-US" sz="2000" dirty="0" err="1"/>
              <a:t>ie</a:t>
            </a:r>
            <a:r>
              <a:rPr lang="en-US" sz="2000" dirty="0"/>
              <a:t>, remainder=1)</a:t>
            </a:r>
          </a:p>
          <a:p>
            <a:r>
              <a:rPr lang="en-US" sz="2400" dirty="0"/>
              <a:t>Using our previous example (155)</a:t>
            </a:r>
          </a:p>
          <a:p>
            <a:pPr lvl="1"/>
            <a:r>
              <a:rPr lang="en-US" sz="2000" dirty="0"/>
              <a:t>2</a:t>
            </a:r>
            <a:r>
              <a:rPr lang="en-US" sz="2000" baseline="30000" dirty="0"/>
              <a:t>7</a:t>
            </a:r>
            <a:r>
              <a:rPr lang="en-US" sz="2000" dirty="0"/>
              <a:t>=128 is the largest power of 2 smaller than 155. Set bit 7. 155-128=27</a:t>
            </a:r>
          </a:p>
          <a:p>
            <a:pPr lvl="1"/>
            <a:r>
              <a:rPr lang="en-US" sz="2000" dirty="0"/>
              <a:t>2</a:t>
            </a:r>
            <a:r>
              <a:rPr lang="en-US" sz="2000" baseline="30000" dirty="0"/>
              <a:t>4</a:t>
            </a:r>
            <a:r>
              <a:rPr lang="en-US" sz="2000" dirty="0"/>
              <a:t>=16 is the largest power of 2 smaller than 27. Set bit 4. 27-16=11</a:t>
            </a:r>
          </a:p>
          <a:p>
            <a:pPr lvl="1"/>
            <a:r>
              <a:rPr lang="en-US" sz="2000" dirty="0"/>
              <a:t>2</a:t>
            </a:r>
            <a:r>
              <a:rPr lang="en-US" sz="2000" baseline="30000" dirty="0"/>
              <a:t>3</a:t>
            </a:r>
            <a:r>
              <a:rPr lang="en-US" sz="2000" dirty="0"/>
              <a:t>=8. Set bit 3. 11-8=3 </a:t>
            </a:r>
          </a:p>
          <a:p>
            <a:pPr lvl="1"/>
            <a:r>
              <a:rPr lang="en-US" sz="2000" dirty="0"/>
              <a:t>2</a:t>
            </a:r>
            <a:r>
              <a:rPr lang="en-US" sz="2000" baseline="30000" dirty="0"/>
              <a:t>1</a:t>
            </a:r>
            <a:r>
              <a:rPr lang="en-US" sz="2000" dirty="0"/>
              <a:t>=2. Set bit 1. 3-2=1</a:t>
            </a:r>
          </a:p>
          <a:p>
            <a:pPr lvl="1"/>
            <a:r>
              <a:rPr lang="en-US" sz="2000" dirty="0"/>
              <a:t>2</a:t>
            </a:r>
            <a:r>
              <a:rPr lang="en-US" sz="2000" baseline="30000" dirty="0"/>
              <a:t>0</a:t>
            </a:r>
            <a:r>
              <a:rPr lang="en-US" sz="2000" dirty="0"/>
              <a:t>=1. Set bit 0</a:t>
            </a:r>
          </a:p>
          <a:p>
            <a:pPr lvl="1"/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dirty="0"/>
          </a:p>
          <a:p>
            <a:r>
              <a:rPr lang="en-US" dirty="0"/>
              <a:t>Or just ask Google!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889" t="12578" r="4778" b="15852"/>
          <a:stretch/>
        </p:blipFill>
        <p:spPr>
          <a:xfrm>
            <a:off x="4693919" y="4057382"/>
            <a:ext cx="3699165" cy="191674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9B5CE69-C26C-F24D-BA76-063E5FAEA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582186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775" y="385910"/>
            <a:ext cx="7886700" cy="600164"/>
          </a:xfrm>
        </p:spPr>
        <p:txBody>
          <a:bodyPr/>
          <a:lstStyle/>
          <a:p>
            <a:r>
              <a:rPr lang="en-US" dirty="0"/>
              <a:t>Signed Integers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775" y="1094508"/>
            <a:ext cx="7886700" cy="5584515"/>
          </a:xfrm>
        </p:spPr>
        <p:txBody>
          <a:bodyPr>
            <a:normAutofit/>
          </a:bodyPr>
          <a:lstStyle/>
          <a:p>
            <a:r>
              <a:rPr lang="en-US" dirty="0"/>
              <a:t>The three most common ways of representing signed integers</a:t>
            </a:r>
          </a:p>
          <a:p>
            <a:pPr lvl="1"/>
            <a:r>
              <a:rPr lang="en-US" dirty="0"/>
              <a:t>Sign and magnitude</a:t>
            </a:r>
          </a:p>
          <a:p>
            <a:pPr lvl="2"/>
            <a:r>
              <a:rPr lang="en-US" dirty="0"/>
              <a:t>Very old computers</a:t>
            </a:r>
          </a:p>
          <a:p>
            <a:pPr lvl="2"/>
            <a:r>
              <a:rPr lang="en-US" dirty="0"/>
              <a:t>The mantissa of floating point</a:t>
            </a:r>
            <a:br>
              <a:rPr lang="en-US" dirty="0"/>
            </a:br>
            <a:r>
              <a:rPr lang="en-US" dirty="0"/>
              <a:t> numbers</a:t>
            </a:r>
          </a:p>
          <a:p>
            <a:pPr lvl="1"/>
            <a:r>
              <a:rPr lang="en-US" dirty="0"/>
              <a:t>Offset binary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Used for some hardware</a:t>
            </a:r>
          </a:p>
          <a:p>
            <a:pPr lvl="2"/>
            <a:r>
              <a:rPr lang="en-US" dirty="0"/>
              <a:t>Used for exponent in floating </a:t>
            </a:r>
            <a:br>
              <a:rPr lang="en-US" dirty="0"/>
            </a:br>
            <a:r>
              <a:rPr lang="en-US" dirty="0"/>
              <a:t>point</a:t>
            </a:r>
          </a:p>
          <a:p>
            <a:pPr lvl="1"/>
            <a:r>
              <a:rPr lang="en-US" dirty="0"/>
              <a:t>Twos Complement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Standard in modern computers</a:t>
            </a:r>
          </a:p>
          <a:p>
            <a:pPr lvl="2"/>
            <a:r>
              <a:rPr lang="en-US" dirty="0"/>
              <a:t>Addition is always the same</a:t>
            </a:r>
          </a:p>
          <a:p>
            <a:pPr lvl="2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272723"/>
              </p:ext>
            </p:extLst>
          </p:nvPr>
        </p:nvGraphicFramePr>
        <p:xfrm>
          <a:off x="1324177" y="3543731"/>
          <a:ext cx="1113348" cy="424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800" imgH="304800" progId="Equation.DSMT4">
                  <p:embed/>
                </p:oleObj>
              </mc:Choice>
              <mc:Fallback>
                <p:oleObj name="Equation" r:id="rId2" imgW="1066800" imgH="304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24177" y="3543731"/>
                        <a:ext cx="1113348" cy="4241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01188"/>
              </p:ext>
            </p:extLst>
          </p:nvPr>
        </p:nvGraphicFramePr>
        <p:xfrm>
          <a:off x="1748495" y="5239740"/>
          <a:ext cx="767954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600" imgH="203200" progId="Equation.DSMT4">
                  <p:embed/>
                </p:oleObj>
              </mc:Choice>
              <mc:Fallback>
                <p:oleObj name="Equation" r:id="rId4" imgW="7366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48495" y="5239740"/>
                        <a:ext cx="767954" cy="282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2999" y="2002756"/>
            <a:ext cx="4741001" cy="411985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48152-5337-D943-AC6D-478FD9647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034657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28C0-2042-F15E-B1FA-3AB70CB5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addition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5836-C8CB-C133-F463-55EDE8F00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addition is just like decimal addition except that you carry a whole lot more. 8-bit example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Addition can ”overflow”, in which case, higher order bit(s) will be ignored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674E6-A641-1069-0A4C-8024260C2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4F25B-BB1E-FFD3-163B-86410A335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DDC5FC-8E26-34BC-F0D4-FEDE98340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9" y="4472107"/>
            <a:ext cx="1815475" cy="1057836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E867DA21-AB39-3A87-2507-A8016441A620}"/>
              </a:ext>
            </a:extLst>
          </p:cNvPr>
          <p:cNvSpPr/>
          <p:nvPr/>
        </p:nvSpPr>
        <p:spPr>
          <a:xfrm>
            <a:off x="5007429" y="2068082"/>
            <a:ext cx="163285" cy="109061"/>
          </a:xfrm>
          <a:custGeom>
            <a:avLst/>
            <a:gdLst>
              <a:gd name="connsiteX0" fmla="*/ 163285 w 163285"/>
              <a:gd name="connsiteY0" fmla="*/ 87289 h 109061"/>
              <a:gd name="connsiteX1" fmla="*/ 76200 w 163285"/>
              <a:gd name="connsiteY1" fmla="*/ 204 h 109061"/>
              <a:gd name="connsiteX2" fmla="*/ 0 w 163285"/>
              <a:gd name="connsiteY2" fmla="*/ 109061 h 109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285" h="109061">
                <a:moveTo>
                  <a:pt x="163285" y="87289"/>
                </a:moveTo>
                <a:cubicBezTo>
                  <a:pt x="133349" y="41932"/>
                  <a:pt x="103414" y="-3425"/>
                  <a:pt x="76200" y="204"/>
                </a:cubicBezTo>
                <a:cubicBezTo>
                  <a:pt x="48986" y="3833"/>
                  <a:pt x="24493" y="56447"/>
                  <a:pt x="0" y="109061"/>
                </a:cubicBezTo>
              </a:path>
            </a:pathLst>
          </a:custGeom>
          <a:noFill/>
          <a:ln>
            <a:solidFill>
              <a:srgbClr val="FF0000"/>
            </a:solidFill>
            <a:tailEnd type="arrow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8567DD5-262D-98AC-185F-CCAE5C5D42F3}"/>
              </a:ext>
            </a:extLst>
          </p:cNvPr>
          <p:cNvSpPr/>
          <p:nvPr/>
        </p:nvSpPr>
        <p:spPr>
          <a:xfrm>
            <a:off x="4789715" y="2057197"/>
            <a:ext cx="163285" cy="109061"/>
          </a:xfrm>
          <a:custGeom>
            <a:avLst/>
            <a:gdLst>
              <a:gd name="connsiteX0" fmla="*/ 163285 w 163285"/>
              <a:gd name="connsiteY0" fmla="*/ 87289 h 109061"/>
              <a:gd name="connsiteX1" fmla="*/ 76200 w 163285"/>
              <a:gd name="connsiteY1" fmla="*/ 204 h 109061"/>
              <a:gd name="connsiteX2" fmla="*/ 0 w 163285"/>
              <a:gd name="connsiteY2" fmla="*/ 109061 h 109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285" h="109061">
                <a:moveTo>
                  <a:pt x="163285" y="87289"/>
                </a:moveTo>
                <a:cubicBezTo>
                  <a:pt x="133349" y="41932"/>
                  <a:pt x="103414" y="-3425"/>
                  <a:pt x="76200" y="204"/>
                </a:cubicBezTo>
                <a:cubicBezTo>
                  <a:pt x="48986" y="3833"/>
                  <a:pt x="24493" y="56447"/>
                  <a:pt x="0" y="109061"/>
                </a:cubicBezTo>
              </a:path>
            </a:pathLst>
          </a:custGeom>
          <a:noFill/>
          <a:ln>
            <a:solidFill>
              <a:srgbClr val="FF0000"/>
            </a:solidFill>
            <a:tailEnd type="arrow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DC7A69F7-6DCA-491C-C2E1-B4535A645124}"/>
              </a:ext>
            </a:extLst>
          </p:cNvPr>
          <p:cNvSpPr/>
          <p:nvPr/>
        </p:nvSpPr>
        <p:spPr>
          <a:xfrm>
            <a:off x="4604655" y="2068082"/>
            <a:ext cx="163285" cy="109061"/>
          </a:xfrm>
          <a:custGeom>
            <a:avLst/>
            <a:gdLst>
              <a:gd name="connsiteX0" fmla="*/ 163285 w 163285"/>
              <a:gd name="connsiteY0" fmla="*/ 87289 h 109061"/>
              <a:gd name="connsiteX1" fmla="*/ 76200 w 163285"/>
              <a:gd name="connsiteY1" fmla="*/ 204 h 109061"/>
              <a:gd name="connsiteX2" fmla="*/ 0 w 163285"/>
              <a:gd name="connsiteY2" fmla="*/ 109061 h 109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285" h="109061">
                <a:moveTo>
                  <a:pt x="163285" y="87289"/>
                </a:moveTo>
                <a:cubicBezTo>
                  <a:pt x="133349" y="41932"/>
                  <a:pt x="103414" y="-3425"/>
                  <a:pt x="76200" y="204"/>
                </a:cubicBezTo>
                <a:cubicBezTo>
                  <a:pt x="48986" y="3833"/>
                  <a:pt x="24493" y="56447"/>
                  <a:pt x="0" y="109061"/>
                </a:cubicBezTo>
              </a:path>
            </a:pathLst>
          </a:custGeom>
          <a:noFill/>
          <a:ln>
            <a:solidFill>
              <a:srgbClr val="FF0000"/>
            </a:solidFill>
            <a:tailEnd type="arrow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73328F3F-1FAA-BBF6-4C2C-018DECFA3E07}"/>
              </a:ext>
            </a:extLst>
          </p:cNvPr>
          <p:cNvSpPr/>
          <p:nvPr/>
        </p:nvSpPr>
        <p:spPr>
          <a:xfrm>
            <a:off x="4071253" y="2068078"/>
            <a:ext cx="163285" cy="109061"/>
          </a:xfrm>
          <a:custGeom>
            <a:avLst/>
            <a:gdLst>
              <a:gd name="connsiteX0" fmla="*/ 163285 w 163285"/>
              <a:gd name="connsiteY0" fmla="*/ 87289 h 109061"/>
              <a:gd name="connsiteX1" fmla="*/ 76200 w 163285"/>
              <a:gd name="connsiteY1" fmla="*/ 204 h 109061"/>
              <a:gd name="connsiteX2" fmla="*/ 0 w 163285"/>
              <a:gd name="connsiteY2" fmla="*/ 109061 h 109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285" h="109061">
                <a:moveTo>
                  <a:pt x="163285" y="87289"/>
                </a:moveTo>
                <a:cubicBezTo>
                  <a:pt x="133349" y="41932"/>
                  <a:pt x="103414" y="-3425"/>
                  <a:pt x="76200" y="204"/>
                </a:cubicBezTo>
                <a:cubicBezTo>
                  <a:pt x="48986" y="3833"/>
                  <a:pt x="24493" y="56447"/>
                  <a:pt x="0" y="109061"/>
                </a:cubicBezTo>
              </a:path>
            </a:pathLst>
          </a:custGeom>
          <a:noFill/>
          <a:ln>
            <a:solidFill>
              <a:srgbClr val="FF0000"/>
            </a:solidFill>
            <a:tailEnd type="arrow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C6A263-158D-9106-0E49-05283F26040F}"/>
              </a:ext>
            </a:extLst>
          </p:cNvPr>
          <p:cNvCxnSpPr/>
          <p:nvPr/>
        </p:nvCxnSpPr>
        <p:spPr>
          <a:xfrm flipV="1">
            <a:off x="3657600" y="5257800"/>
            <a:ext cx="250371" cy="272143"/>
          </a:xfrm>
          <a:prstGeom prst="line">
            <a:avLst/>
          </a:prstGeom>
          <a:ln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B92EE8-FAF9-AB45-5B0F-B8473FA785E7}"/>
              </a:ext>
            </a:extLst>
          </p:cNvPr>
          <p:cNvCxnSpPr>
            <a:cxnSpLocks/>
          </p:cNvCxnSpPr>
          <p:nvPr/>
        </p:nvCxnSpPr>
        <p:spPr>
          <a:xfrm>
            <a:off x="3635829" y="5246916"/>
            <a:ext cx="250371" cy="272143"/>
          </a:xfrm>
          <a:prstGeom prst="line">
            <a:avLst/>
          </a:prstGeom>
          <a:ln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520573A-BB97-E9EF-35D5-B11D4FB45602}"/>
              </a:ext>
            </a:extLst>
          </p:cNvPr>
          <p:cNvSpPr txBox="1"/>
          <p:nvPr/>
        </p:nvSpPr>
        <p:spPr>
          <a:xfrm>
            <a:off x="293914" y="5984705"/>
            <a:ext cx="4310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+mn-lt"/>
              </a:rPr>
              <a:t>This would be dropped for 8-bit words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9A50AE-E96A-0AA3-9EC2-541029AE9EF7}"/>
              </a:ext>
            </a:extLst>
          </p:cNvPr>
          <p:cNvCxnSpPr>
            <a:cxnSpLocks/>
          </p:cNvCxnSpPr>
          <p:nvPr/>
        </p:nvCxnSpPr>
        <p:spPr>
          <a:xfrm flipV="1">
            <a:off x="3346975" y="5529943"/>
            <a:ext cx="288854" cy="3723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F9C8B1BD-E9F3-503B-6E24-41523A9F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285" y="2248624"/>
            <a:ext cx="1815475" cy="105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22562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193" y="331067"/>
            <a:ext cx="7886700" cy="600164"/>
          </a:xfrm>
        </p:spPr>
        <p:txBody>
          <a:bodyPr/>
          <a:lstStyle/>
          <a:p>
            <a:r>
              <a:rPr lang="en-US" dirty="0"/>
              <a:t>Two’s Complement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217" y="885293"/>
            <a:ext cx="7886700" cy="4211550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i="1" dirty="0"/>
              <a:t>n</a:t>
            </a:r>
            <a:r>
              <a:rPr lang="en-US" dirty="0"/>
              <a:t>-bit negative number is formed by subtracting the number from </a:t>
            </a:r>
            <a:r>
              <a:rPr lang="en-US" i="1" dirty="0"/>
              <a:t>2</a:t>
            </a:r>
            <a:r>
              <a:rPr lang="en-US" i="1" baseline="30000" dirty="0"/>
              <a:t>n</a:t>
            </a:r>
          </a:p>
          <a:p>
            <a:r>
              <a:rPr lang="en-US" dirty="0"/>
              <a:t>In additions, overflow bits are ignored</a:t>
            </a:r>
          </a:p>
          <a:p>
            <a:r>
              <a:rPr lang="en-US" dirty="0"/>
              <a:t>Example:  -55 (-</a:t>
            </a:r>
            <a:r>
              <a:rPr lang="cs-CZ" dirty="0"/>
              <a:t>110111</a:t>
            </a:r>
            <a:r>
              <a:rPr lang="cs-CZ" baseline="-25000" dirty="0"/>
              <a:t>2</a:t>
            </a:r>
            <a:r>
              <a:rPr lang="cs-CZ" dirty="0"/>
              <a:t>)</a:t>
            </a:r>
            <a:r>
              <a:rPr lang="en-US" dirty="0"/>
              <a:t> in 8 bits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Trick: just invert all bits (“1’s complement”) and add 1!</a:t>
            </a:r>
          </a:p>
          <a:p>
            <a:r>
              <a:rPr lang="en-US" dirty="0"/>
              <a:t>Check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296579"/>
              </p:ext>
            </p:extLst>
          </p:nvPr>
        </p:nvGraphicFramePr>
        <p:xfrm>
          <a:off x="1971108" y="2728288"/>
          <a:ext cx="4499546" cy="703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73300" imgH="266700" progId="Equation.DSMT4">
                  <p:embed/>
                </p:oleObj>
              </mc:Choice>
              <mc:Fallback>
                <p:oleObj name="Equation" r:id="rId2" imgW="2273300" imgH="266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71108" y="2728288"/>
                        <a:ext cx="4499546" cy="7039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133324"/>
              </p:ext>
            </p:extLst>
          </p:nvPr>
        </p:nvGraphicFramePr>
        <p:xfrm>
          <a:off x="1297133" y="4422836"/>
          <a:ext cx="2066925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8100" imgH="850900" progId="Equation.DSMT4">
                  <p:embed/>
                </p:oleObj>
              </mc:Choice>
              <mc:Fallback>
                <p:oleObj name="Equation" r:id="rId4" imgW="1308100" imgH="8509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97133" y="4422836"/>
                        <a:ext cx="2066925" cy="179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1663637" y="5575855"/>
            <a:ext cx="1446197" cy="154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777938" y="5728255"/>
            <a:ext cx="164485" cy="3044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1777938" y="5728255"/>
            <a:ext cx="164485" cy="3044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99160" y="3963593"/>
            <a:ext cx="4668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To extend to higher number of bits, repeat MSB</a:t>
            </a:r>
          </a:p>
          <a:p>
            <a:r>
              <a:rPr lang="en-US" sz="1800" dirty="0"/>
              <a:t>In 16 bits</a:t>
            </a: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333027"/>
              </p:ext>
            </p:extLst>
          </p:nvPr>
        </p:nvGraphicFramePr>
        <p:xfrm>
          <a:off x="4730004" y="4801927"/>
          <a:ext cx="2808684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8000" imgH="508000" progId="Equation.DSMT4">
                  <p:embed/>
                </p:oleObj>
              </mc:Choice>
              <mc:Fallback>
                <p:oleObj name="Equation" r:id="rId6" imgW="1778000" imgH="508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30004" y="4801927"/>
                        <a:ext cx="2808684" cy="1071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E9B9FB-9DB7-5A4D-ABC5-B2A94B59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33233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Multiplication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42343" y="1110182"/>
            <a:ext cx="9001657" cy="5497447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Binary multiplication is just like decimal multiplication, except that multiplying something by </a:t>
            </a:r>
            <a:r>
              <a:rPr lang="en-US" i="1" dirty="0"/>
              <a:t>2</a:t>
            </a:r>
            <a:r>
              <a:rPr lang="en-US" i="1" baseline="30000" dirty="0"/>
              <a:t>n</a:t>
            </a:r>
            <a:r>
              <a:rPr lang="en-US" dirty="0"/>
              <a:t> just shifts it </a:t>
            </a:r>
            <a:r>
              <a:rPr lang="en-US" i="1" dirty="0"/>
              <a:t>n</a:t>
            </a:r>
            <a:r>
              <a:rPr lang="en-US" dirty="0"/>
              <a:t> bits to the left.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Note!  Just like decimal multiplication, multiplying two n-bit numbers can result in a 2n-bit number -&gt; easy to overflow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540772"/>
              </p:ext>
            </p:extLst>
          </p:nvPr>
        </p:nvGraphicFramePr>
        <p:xfrm>
          <a:off x="1688302" y="2035414"/>
          <a:ext cx="556260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400" imgH="266700" progId="Equation.DSMT4">
                  <p:embed/>
                </p:oleObj>
              </mc:Choice>
              <mc:Fallback>
                <p:oleObj name="Equation" r:id="rId2" imgW="1930400" imgH="2667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88302" y="2035414"/>
                        <a:ext cx="5562600" cy="766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964903"/>
              </p:ext>
            </p:extLst>
          </p:nvPr>
        </p:nvGraphicFramePr>
        <p:xfrm>
          <a:off x="1834538" y="3078953"/>
          <a:ext cx="1349618" cy="2405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6900" imgH="1066800" progId="Equation.DSMT4">
                  <p:embed/>
                </p:oleObj>
              </mc:Choice>
              <mc:Fallback>
                <p:oleObj name="Equation" r:id="rId4" imgW="596900" imgH="10668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34538" y="3078953"/>
                        <a:ext cx="1349618" cy="24054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/>
          <p:cNvCxnSpPr/>
          <p:nvPr/>
        </p:nvCxnSpPr>
        <p:spPr>
          <a:xfrm flipV="1">
            <a:off x="2015258" y="4028692"/>
            <a:ext cx="1168898" cy="110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791119"/>
              </p:ext>
            </p:extLst>
          </p:nvPr>
        </p:nvGraphicFramePr>
        <p:xfrm>
          <a:off x="5107639" y="3078953"/>
          <a:ext cx="1581150" cy="295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500" imgH="1308100" progId="Equation.DSMT4">
                  <p:embed/>
                </p:oleObj>
              </mc:Choice>
              <mc:Fallback>
                <p:oleObj name="Equation" r:id="rId6" imgW="698500" imgH="1308100" progId="Equation.DSMT4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07639" y="3078953"/>
                        <a:ext cx="1581150" cy="2951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reeform 10"/>
          <p:cNvSpPr/>
          <p:nvPr/>
        </p:nvSpPr>
        <p:spPr>
          <a:xfrm>
            <a:off x="2788301" y="3255649"/>
            <a:ext cx="2981739" cy="2065130"/>
          </a:xfrm>
          <a:custGeom>
            <a:avLst/>
            <a:gdLst>
              <a:gd name="connsiteX0" fmla="*/ 0 w 2727739"/>
              <a:gd name="connsiteY0" fmla="*/ 2098261 h 2098261"/>
              <a:gd name="connsiteX1" fmla="*/ 883478 w 2727739"/>
              <a:gd name="connsiteY1" fmla="*/ 1910522 h 2098261"/>
              <a:gd name="connsiteX2" fmla="*/ 1457739 w 2727739"/>
              <a:gd name="connsiteY2" fmla="*/ 1016000 h 2098261"/>
              <a:gd name="connsiteX3" fmla="*/ 1899478 w 2727739"/>
              <a:gd name="connsiteY3" fmla="*/ 198783 h 2098261"/>
              <a:gd name="connsiteX4" fmla="*/ 2727739 w 2727739"/>
              <a:gd name="connsiteY4" fmla="*/ 0 h 209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7739" h="2098261">
                <a:moveTo>
                  <a:pt x="0" y="2098261"/>
                </a:moveTo>
                <a:cubicBezTo>
                  <a:pt x="320261" y="2094580"/>
                  <a:pt x="640522" y="2090899"/>
                  <a:pt x="883478" y="1910522"/>
                </a:cubicBezTo>
                <a:cubicBezTo>
                  <a:pt x="1126434" y="1730145"/>
                  <a:pt x="1288406" y="1301290"/>
                  <a:pt x="1457739" y="1016000"/>
                </a:cubicBezTo>
                <a:cubicBezTo>
                  <a:pt x="1627072" y="730710"/>
                  <a:pt x="1687811" y="368116"/>
                  <a:pt x="1899478" y="198783"/>
                </a:cubicBezTo>
                <a:cubicBezTo>
                  <a:pt x="2111145" y="29450"/>
                  <a:pt x="2419442" y="14725"/>
                  <a:pt x="2727739" y="0"/>
                </a:cubicBezTo>
              </a:path>
            </a:pathLst>
          </a:cu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5154091" y="4017649"/>
            <a:ext cx="15347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5154091" y="5064571"/>
            <a:ext cx="1534767" cy="110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86348" y="2991978"/>
            <a:ext cx="728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(13)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6348" y="3538857"/>
            <a:ext cx="728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(11)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2421" y="5137337"/>
            <a:ext cx="804613" cy="374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(143)</a:t>
            </a:r>
          </a:p>
        </p:txBody>
      </p:sp>
    </p:spTree>
    <p:extLst>
      <p:ext uri="{BB962C8B-B14F-4D97-AF65-F5344CB8AC3E}">
        <p14:creationId xmlns:p14="http://schemas.microsoft.com/office/powerpoint/2010/main" val="3835981241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418" y="399230"/>
            <a:ext cx="7886700" cy="600164"/>
          </a:xfrm>
        </p:spPr>
        <p:txBody>
          <a:bodyPr/>
          <a:lstStyle/>
          <a:p>
            <a:r>
              <a:rPr lang="en-US" dirty="0"/>
              <a:t>Fixed Point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71022"/>
            <a:ext cx="7886700" cy="5593064"/>
          </a:xfrm>
        </p:spPr>
        <p:txBody>
          <a:bodyPr>
            <a:normAutofit/>
          </a:bodyPr>
          <a:lstStyle/>
          <a:p>
            <a:r>
              <a:rPr lang="en-US" dirty="0"/>
              <a:t>Fixed point numbers are just an offset case of signed integers</a:t>
            </a:r>
          </a:p>
          <a:p>
            <a:endParaRPr lang="en-US" dirty="0"/>
          </a:p>
          <a:p>
            <a:endParaRPr lang="en-US" sz="1050" dirty="0"/>
          </a:p>
          <a:p>
            <a:pPr marL="0" indent="0">
              <a:buNone/>
            </a:pPr>
            <a:endParaRPr lang="en-US" sz="800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 37.55</a:t>
            </a:r>
          </a:p>
          <a:p>
            <a:pPr lvl="1"/>
            <a:r>
              <a:rPr lang="en-US" dirty="0"/>
              <a:t>Get </a:t>
            </a:r>
            <a:r>
              <a:rPr lang="en-US"/>
              <a:t>roughly equivalent </a:t>
            </a:r>
            <a:r>
              <a:rPr lang="en-US" dirty="0"/>
              <a:t>precision by expressing in 128</a:t>
            </a:r>
            <a:r>
              <a:rPr lang="en-US" baseline="30000" dirty="0"/>
              <a:t>th</a:t>
            </a:r>
            <a:r>
              <a:rPr lang="en-US" dirty="0"/>
              <a:t>s (7 bits), but it’s common to work in groups of 4 (16</a:t>
            </a:r>
            <a:r>
              <a:rPr lang="en-US" baseline="30000" dirty="0"/>
              <a:t>th</a:t>
            </a:r>
            <a:r>
              <a:rPr lang="en-US" dirty="0"/>
              <a:t>s) or 8 (256</a:t>
            </a:r>
            <a:r>
              <a:rPr lang="en-US" baseline="30000" dirty="0"/>
              <a:t>th</a:t>
            </a:r>
            <a:r>
              <a:rPr lang="en-US" dirty="0"/>
              <a:t>s), so let’s use 8 bits after the radix:</a:t>
            </a:r>
          </a:p>
          <a:p>
            <a:pPr lvl="2"/>
            <a:r>
              <a:rPr lang="en-US" dirty="0"/>
              <a:t>Multiply by 2</a:t>
            </a:r>
            <a:r>
              <a:rPr lang="en-US" baseline="30000" dirty="0"/>
              <a:t>8 </a:t>
            </a:r>
            <a:r>
              <a:rPr lang="en-US" dirty="0"/>
              <a:t>(256) </a:t>
            </a:r>
          </a:p>
          <a:p>
            <a:pPr lvl="2"/>
            <a:r>
              <a:rPr lang="en-US" dirty="0"/>
              <a:t>Convert to binary</a:t>
            </a:r>
          </a:p>
          <a:p>
            <a:pPr lvl="2"/>
            <a:r>
              <a:rPr lang="en-US" dirty="0"/>
              <a:t>Shift radix left by 8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78" y="1839116"/>
            <a:ext cx="5684840" cy="1466183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AF0233D-3A10-2541-936F-E632A1E0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E56AC0-6112-7057-D327-439FFC4BA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685" y="4896756"/>
            <a:ext cx="1892300" cy="177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C8FD891-0DA4-6E46-CCB4-18FE7E41F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685" y="5249144"/>
            <a:ext cx="26416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6F5401F-D73D-10FF-B312-D233810BB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5685" y="5611205"/>
            <a:ext cx="1625600" cy="177800"/>
          </a:xfrm>
          <a:prstGeom prst="rect">
            <a:avLst/>
          </a:prstGeom>
        </p:spPr>
      </p:pic>
      <p:sp>
        <p:nvSpPr>
          <p:cNvPr id="17" name="Left Brace 16">
            <a:extLst>
              <a:ext uri="{FF2B5EF4-FFF2-40B4-BE49-F238E27FC236}">
                <a16:creationId xmlns:a16="http://schemas.microsoft.com/office/drawing/2014/main" id="{960FECD7-EC85-A968-1692-1D8E5834E0E0}"/>
              </a:ext>
            </a:extLst>
          </p:cNvPr>
          <p:cNvSpPr/>
          <p:nvPr/>
        </p:nvSpPr>
        <p:spPr>
          <a:xfrm rot="16200000">
            <a:off x="4368799" y="5611270"/>
            <a:ext cx="177799" cy="664029"/>
          </a:xfrm>
          <a:prstGeom prst="leftBrace">
            <a:avLst/>
          </a:prstGeom>
          <a:ln w="26424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CDF6FB69-C28F-4D07-6951-5A7A499AEEA3}"/>
              </a:ext>
            </a:extLst>
          </p:cNvPr>
          <p:cNvSpPr/>
          <p:nvPr/>
        </p:nvSpPr>
        <p:spPr>
          <a:xfrm rot="16200000">
            <a:off x="5261609" y="5452746"/>
            <a:ext cx="177800" cy="990238"/>
          </a:xfrm>
          <a:prstGeom prst="leftBrace">
            <a:avLst/>
          </a:prstGeom>
          <a:ln w="26424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6D24BDE-B336-0608-83D9-092D766438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398" y="6182997"/>
            <a:ext cx="228600" cy="177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063872F-E3C2-2289-5A8C-B40F1A2597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7405" y="6119497"/>
            <a:ext cx="10668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26137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57" y="451194"/>
            <a:ext cx="7886700" cy="600164"/>
          </a:xfrm>
        </p:spPr>
        <p:txBody>
          <a:bodyPr/>
          <a:lstStyle/>
          <a:p>
            <a:r>
              <a:rPr lang="en-US" dirty="0"/>
              <a:t>Floating Point Numbers (IEEE 754*)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302" y="1059228"/>
            <a:ext cx="7886700" cy="54987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Single precision (32-bit)</a:t>
            </a:r>
          </a:p>
          <a:p>
            <a:endParaRPr lang="en-US" dirty="0"/>
          </a:p>
          <a:p>
            <a:endParaRPr lang="en-US" dirty="0"/>
          </a:p>
          <a:p>
            <a:endParaRPr lang="en-US" sz="11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IEEE 754 includes standards from 16-bit (half precision) to 256-bit (octuple precision) floating point.</a:t>
            </a:r>
          </a:p>
          <a:p>
            <a:r>
              <a:rPr lang="en-US" dirty="0"/>
              <a:t>Special values</a:t>
            </a:r>
          </a:p>
          <a:p>
            <a:pPr lvl="1"/>
            <a:r>
              <a:rPr lang="en-US" dirty="0"/>
              <a:t>exponent bits set to zero -&gt; zero (also allows for -0!)</a:t>
            </a:r>
          </a:p>
          <a:p>
            <a:pPr lvl="1"/>
            <a:r>
              <a:rPr lang="en-US" dirty="0"/>
              <a:t>Exponent bits all set and all fraction bits clear -&gt; Infinity</a:t>
            </a:r>
          </a:p>
          <a:p>
            <a:pPr lvl="1"/>
            <a:r>
              <a:rPr lang="en-US" dirty="0"/>
              <a:t>Exponent bits all set and </a:t>
            </a:r>
            <a:r>
              <a:rPr lang="en-US" i="1" dirty="0"/>
              <a:t>some</a:t>
            </a:r>
            <a:r>
              <a:rPr lang="en-US" dirty="0"/>
              <a:t> fraction bits set -&gt; </a:t>
            </a:r>
            <a:r>
              <a:rPr lang="en-US" dirty="0" err="1"/>
              <a:t>NaN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18" y="1736312"/>
            <a:ext cx="8735732" cy="9546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85122" y="3552598"/>
            <a:ext cx="3141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Leading 1 assumed (why?)</a:t>
            </a:r>
          </a:p>
        </p:txBody>
      </p:sp>
      <p:cxnSp>
        <p:nvCxnSpPr>
          <p:cNvPr id="10" name="Straight Arrow Connector 9"/>
          <p:cNvCxnSpPr>
            <a:cxnSpLocks/>
          </p:cNvCxnSpPr>
          <p:nvPr/>
        </p:nvCxnSpPr>
        <p:spPr>
          <a:xfrm flipH="1" flipV="1">
            <a:off x="2828436" y="3400498"/>
            <a:ext cx="256686" cy="261869"/>
          </a:xfrm>
          <a:prstGeom prst="straightConnector1">
            <a:avLst/>
          </a:prstGeom>
          <a:ln w="26424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4A67480-291F-B74A-B11A-52EB175EA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5C0659-2CF2-E204-9937-E945914C1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243" y="2939380"/>
            <a:ext cx="6777197" cy="474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BC247B-930C-AE50-50D7-E13841FB2DF1}"/>
              </a:ext>
            </a:extLst>
          </p:cNvPr>
          <p:cNvSpPr txBox="1"/>
          <p:nvPr/>
        </p:nvSpPr>
        <p:spPr>
          <a:xfrm>
            <a:off x="3973286" y="6433457"/>
            <a:ext cx="5170714" cy="381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latin typeface="+mn-lt"/>
              </a:rPr>
              <a:t>*became a standard in 1985</a:t>
            </a:r>
          </a:p>
        </p:txBody>
      </p:sp>
    </p:spTree>
    <p:extLst>
      <p:ext uri="{BB962C8B-B14F-4D97-AF65-F5344CB8AC3E}">
        <p14:creationId xmlns:p14="http://schemas.microsoft.com/office/powerpoint/2010/main" val="2055091194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 Bits in Modern Computers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28650" y="971021"/>
            <a:ext cx="7886700" cy="5186034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r>
              <a:rPr lang="en-US" dirty="0"/>
              <a:t>Hardware will generally not group bits exactly like this</a:t>
            </a:r>
          </a:p>
          <a:p>
            <a:pPr lvl="1"/>
            <a:r>
              <a:rPr lang="en-US" dirty="0"/>
              <a:t>Still tend to group things in 8-bit bytes</a:t>
            </a:r>
          </a:p>
          <a:p>
            <a:pPr lvl="1"/>
            <a:r>
              <a:rPr lang="en-US" dirty="0"/>
              <a:t>The term “word” is used generically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93" y="965201"/>
            <a:ext cx="5255771" cy="37168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96063" y="1518166"/>
            <a:ext cx="364793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This took a long time to evolve. Examples</a:t>
            </a:r>
          </a:p>
          <a:p>
            <a:pPr marL="285750" indent="-169863">
              <a:buFont typeface="Arial"/>
              <a:buChar char="•"/>
            </a:pPr>
            <a:r>
              <a:rPr lang="en-US" sz="2000" dirty="0">
                <a:latin typeface="+mn-lt"/>
              </a:rPr>
              <a:t>Some old computers (IBM, PDP) had 6-bit bytes</a:t>
            </a:r>
          </a:p>
          <a:p>
            <a:pPr marL="285750" indent="-169863">
              <a:buFont typeface="Arial"/>
              <a:buChar char="•"/>
            </a:pPr>
            <a:r>
              <a:rPr lang="en-US" sz="2000" dirty="0">
                <a:latin typeface="+mn-lt"/>
              </a:rPr>
              <a:t>CDC mainframes had 60-bit words, with totally different encoding.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BD21B2-FDCC-EF48-8F98-156E19041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854645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252" y="368269"/>
            <a:ext cx="7886700" cy="600164"/>
          </a:xfrm>
        </p:spPr>
        <p:txBody>
          <a:bodyPr/>
          <a:lstStyle/>
          <a:p>
            <a:r>
              <a:rPr lang="en-US" dirty="0"/>
              <a:t>Representing Groups of 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71022"/>
            <a:ext cx="7886700" cy="5603949"/>
          </a:xfrm>
        </p:spPr>
        <p:txBody>
          <a:bodyPr>
            <a:normAutofit/>
          </a:bodyPr>
          <a:lstStyle/>
          <a:p>
            <a:r>
              <a:rPr lang="en-US" dirty="0"/>
              <a:t>Regardless of their use, groups of bits can always be compactly represented with hexadecimal numbers</a:t>
            </a:r>
          </a:p>
          <a:p>
            <a:pPr lvl="1"/>
            <a:r>
              <a:rPr lang="en-US" dirty="0"/>
              <a:t>Each byte is represented by a two-digit hex number 00-&gt;FF, where each digit represents 4 bits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sz="1600" dirty="0"/>
          </a:p>
          <a:p>
            <a:pPr lvl="1"/>
            <a:endParaRPr lang="en-US" sz="1000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We can then represent larger groups of bits by larger hex numbers, while still respecting byte boundaries</a:t>
            </a:r>
          </a:p>
          <a:p>
            <a:pPr lvl="1"/>
            <a:r>
              <a:rPr lang="en-US" dirty="0"/>
              <a:t>One byte is two hex digits</a:t>
            </a:r>
          </a:p>
          <a:p>
            <a:pPr lvl="1"/>
            <a:r>
              <a:rPr lang="en-US" dirty="0"/>
              <a:t>Historically, 6-bit bytes were represented by two digit octal.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060" y="2453897"/>
            <a:ext cx="2398856" cy="2294309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5F4679F-3294-DB41-BDED-9EAA27D1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337455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884" y="588482"/>
            <a:ext cx="7886700" cy="600164"/>
          </a:xfrm>
        </p:spPr>
        <p:txBody>
          <a:bodyPr/>
          <a:lstStyle/>
          <a:p>
            <a:r>
              <a:rPr lang="en-US" dirty="0"/>
              <a:t>Representing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966" y="1434370"/>
            <a:ext cx="7886700" cy="4233980"/>
          </a:xfrm>
        </p:spPr>
        <p:txBody>
          <a:bodyPr/>
          <a:lstStyle/>
          <a:p>
            <a:r>
              <a:rPr lang="en-US" dirty="0"/>
              <a:t>The most common character </a:t>
            </a:r>
            <a:br>
              <a:rPr lang="en-US" dirty="0"/>
            </a:br>
            <a:r>
              <a:rPr lang="en-US" dirty="0"/>
              <a:t>encoding is American Standard </a:t>
            </a:r>
            <a:br>
              <a:rPr lang="en-US" dirty="0"/>
            </a:br>
            <a:r>
              <a:rPr lang="en-US" dirty="0"/>
              <a:t>Code for Information Interchange </a:t>
            </a:r>
            <a:br>
              <a:rPr lang="en-US" dirty="0"/>
            </a:br>
            <a:r>
              <a:rPr lang="en-US" dirty="0"/>
              <a:t>(ASCII), in which each 8-bit byte </a:t>
            </a:r>
            <a:br>
              <a:rPr lang="en-US" dirty="0"/>
            </a:br>
            <a:r>
              <a:rPr lang="en-US" dirty="0"/>
              <a:t>represents one character</a:t>
            </a:r>
          </a:p>
          <a:p>
            <a:endParaRPr lang="en-US" dirty="0"/>
          </a:p>
          <a:p>
            <a:r>
              <a:rPr lang="en-US" dirty="0"/>
              <a:t>In recent years, the 16-bit </a:t>
            </a:r>
            <a:br>
              <a:rPr lang="en-US" dirty="0"/>
            </a:br>
            <a:r>
              <a:rPr lang="en-US" dirty="0"/>
              <a:t>“Unicode” standard has emerged</a:t>
            </a:r>
            <a:br>
              <a:rPr lang="en-US" dirty="0"/>
            </a:br>
            <a:r>
              <a:rPr lang="en-US" dirty="0"/>
              <a:t>to accommodate foreign alphabets as well as a wide range of special characters.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976" y="492171"/>
            <a:ext cx="3877005" cy="343424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17AC90-41FB-EA4D-9F08-BF99F4870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804224"/>
      </p:ext>
    </p:extLst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E2D7C-6F9B-5E43-DEBF-95C46BDE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A01C5-3EEC-7AEE-7DCA-97EB28BB0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Numbers used to default to 16-bit precision</a:t>
            </a:r>
          </a:p>
          <a:p>
            <a:pPr lvl="1"/>
            <a:r>
              <a:rPr lang="en-US" dirty="0"/>
              <a:t>Unsigned range: 0 to 65,535 </a:t>
            </a:r>
          </a:p>
          <a:p>
            <a:pPr lvl="1"/>
            <a:r>
              <a:rPr lang="en-US" dirty="0"/>
              <a:t>Signed range: -32,768 to +32,767</a:t>
            </a:r>
          </a:p>
          <a:p>
            <a:pPr lvl="1"/>
            <a:r>
              <a:rPr lang="en-US" dirty="0"/>
              <a:t>This was standard for PC until the mid-1990s</a:t>
            </a:r>
          </a:p>
          <a:p>
            <a:r>
              <a:rPr lang="en-US" dirty="0"/>
              <a:t>All systems eventually moved to 32-bit</a:t>
            </a:r>
          </a:p>
          <a:p>
            <a:pPr lvl="1"/>
            <a:r>
              <a:rPr lang="en-US" dirty="0"/>
              <a:t>Unsigned range: 0 to ~4 billion</a:t>
            </a:r>
          </a:p>
          <a:p>
            <a:pPr lvl="1"/>
            <a:r>
              <a:rPr lang="en-US" dirty="0"/>
              <a:t>Signed range: -2 billion to +2 billion</a:t>
            </a:r>
          </a:p>
          <a:p>
            <a:r>
              <a:rPr lang="en-US" dirty="0"/>
              <a:t>All modern systems are 64-bit</a:t>
            </a:r>
          </a:p>
          <a:p>
            <a:pPr lvl="1"/>
            <a:r>
              <a:rPr lang="en-US" dirty="0"/>
              <a:t>Unsigned range: 0 to 18 quintillion</a:t>
            </a:r>
          </a:p>
          <a:p>
            <a:pPr lvl="1"/>
            <a:r>
              <a:rPr lang="en-US" dirty="0"/>
              <a:t>Signed range: -9 quintillion to 9 quintillion</a:t>
            </a:r>
          </a:p>
          <a:p>
            <a:r>
              <a:rPr lang="en-US" dirty="0"/>
              <a:t>The current release of Python is 64-bit, but Python handles integers in a special way that allows arbitrarily large range.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9D845-56BC-97F9-66D4-162404AA9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00405-0AA5-958B-F1C6-84F88DBC7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4242283"/>
      </p:ext>
    </p:extLst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4990-13D4-92AB-908E-4C310F8D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Mathematical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2F1B3-50CC-877B-568C-F896A3155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Integer math is exact!</a:t>
            </a:r>
          </a:p>
          <a:p>
            <a:pPr lvl="1"/>
            <a:r>
              <a:rPr lang="en-US" dirty="0"/>
              <a:t>You’ll always get the correct answer until it overflows.</a:t>
            </a:r>
          </a:p>
          <a:p>
            <a:pPr lvl="2"/>
            <a:r>
              <a:rPr lang="en-US" dirty="0"/>
              <a:t>For signed 64-bit this is a pretty large number, but we deal with very large numbers.</a:t>
            </a:r>
          </a:p>
          <a:p>
            <a:pPr lvl="2"/>
            <a:r>
              <a:rPr lang="en-US" dirty="0"/>
              <a:t>Can happen pretty quickly with multiplication.</a:t>
            </a:r>
          </a:p>
          <a:p>
            <a:r>
              <a:rPr lang="en-US" dirty="0"/>
              <a:t>Python “int” objects have arbitrary size.</a:t>
            </a:r>
          </a:p>
          <a:p>
            <a:pPr lvl="1"/>
            <a:r>
              <a:rPr lang="en-US" dirty="0"/>
              <a:t>Necessary size is determined when the object is initialized</a:t>
            </a:r>
          </a:p>
          <a:p>
            <a:pPr lvl="1"/>
            <a:r>
              <a:rPr lang="en-US" dirty="0"/>
              <a:t>Numerous internal methods give details about the structure</a:t>
            </a:r>
          </a:p>
          <a:p>
            <a:pPr lvl="1"/>
            <a:r>
              <a:rPr lang="en-US" dirty="0"/>
              <a:t>Integer operations will </a:t>
            </a:r>
            <a:r>
              <a:rPr lang="en-US" i="1" dirty="0"/>
              <a:t>never</a:t>
            </a:r>
            <a:r>
              <a:rPr lang="en-US" dirty="0"/>
              <a:t> overflow or have round-off errors!</a:t>
            </a:r>
          </a:p>
          <a:p>
            <a:pPr lvl="1"/>
            <a:r>
              <a:rPr lang="en-US" dirty="0"/>
              <a:t>(</a:t>
            </a:r>
            <a:r>
              <a:rPr lang="en-US" dirty="0" err="1"/>
              <a:t>Jupyter</a:t>
            </a:r>
            <a:r>
              <a:rPr lang="en-US" dirty="0"/>
              <a:t> example shortly)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582CA-0325-0A4B-841F-B559DC33F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D8DC0-C193-841E-7912-51EFD8DCA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9984451"/>
      </p:ext>
    </p:extLst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F3FBD-81DF-7608-0C87-A7D2205F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Important differences between Python and Other OO Languages…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79A70-C8D4-2DE9-C6DC-B77CC0AF0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2875"/>
            <a:ext cx="8229600" cy="5441721"/>
          </a:xfrm>
        </p:spPr>
        <p:txBody>
          <a:bodyPr/>
          <a:lstStyle/>
          <a:p>
            <a:r>
              <a:rPr lang="en-US" dirty="0"/>
              <a:t>Both C++ and Java distinguish between “primitive” data types and “objects”</a:t>
            </a:r>
          </a:p>
          <a:p>
            <a:pPr lvl="1"/>
            <a:r>
              <a:rPr lang="en-US" dirty="0"/>
              <a:t>Primitives:  integer, floating point, character, etc. These have no inherent methods!</a:t>
            </a:r>
          </a:p>
          <a:p>
            <a:pPr lvl="1"/>
            <a:r>
              <a:rPr lang="en-US" dirty="0"/>
              <a:t>Objects: More complex structures that include data and associated methods.</a:t>
            </a:r>
          </a:p>
          <a:p>
            <a:r>
              <a:rPr lang="en-US" dirty="0"/>
              <a:t>Python has </a:t>
            </a:r>
            <a:r>
              <a:rPr lang="en-US" i="1" dirty="0"/>
              <a:t>only</a:t>
            </a:r>
            <a:r>
              <a:rPr lang="en-US" dirty="0"/>
              <a:t> objects, even for simple data types:</a:t>
            </a:r>
          </a:p>
          <a:p>
            <a:pPr lvl="1"/>
            <a:r>
              <a:rPr lang="en-US" dirty="0"/>
              <a:t>Everything has methods.</a:t>
            </a:r>
          </a:p>
          <a:p>
            <a:pPr lvl="1"/>
            <a:r>
              <a:rPr lang="en-US" dirty="0"/>
              <a:t>This leads to more versatility</a:t>
            </a:r>
          </a:p>
          <a:p>
            <a:pPr lvl="1"/>
            <a:r>
              <a:rPr lang="en-US" dirty="0"/>
              <a:t>The distinction is between “mutable” and “immutable”, which we’ll discuss shortly.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2DA13-8BC7-6B20-7B19-7EAF60711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8EB9D-0988-1ACC-0281-1047652F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0188354"/>
      </p:ext>
    </p:extLst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71372-6634-C10C-819F-B1DF1C18C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Precision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444A1-143B-B9F8-0D71-A3301F339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While C/C++ and Java distinguish between ”float” (32-bit) and “double” (64-bit) numbers, 64-bit Python “float” is </a:t>
            </a:r>
            <a:r>
              <a:rPr lang="en-US" sz="2000" i="1" dirty="0"/>
              <a:t>always</a:t>
            </a:r>
            <a:r>
              <a:rPr lang="en-US" sz="2000" dirty="0"/>
              <a:t> 64-bit.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Range:</a:t>
            </a:r>
          </a:p>
          <a:p>
            <a:r>
              <a:rPr lang="en-US" sz="2000" dirty="0"/>
              <a:t>Precision: 52 binary digits ~15 decimal digits </a:t>
            </a:r>
          </a:p>
          <a:p>
            <a:r>
              <a:rPr lang="en-US" sz="2000" dirty="0"/>
              <a:t>Multiplication</a:t>
            </a:r>
          </a:p>
          <a:p>
            <a:pPr lvl="1"/>
            <a:r>
              <a:rPr lang="en-US" sz="1600" dirty="0"/>
              <a:t>Add exponents</a:t>
            </a:r>
          </a:p>
          <a:p>
            <a:pPr lvl="1"/>
            <a:r>
              <a:rPr lang="en-US" sz="1600" dirty="0"/>
              <a:t>Multiply fractions (including implicit 1)</a:t>
            </a:r>
          </a:p>
          <a:p>
            <a:pPr lvl="1"/>
            <a:r>
              <a:rPr lang="en-US" sz="1600" dirty="0"/>
              <a:t>Still only have 52-bit precision</a:t>
            </a:r>
          </a:p>
          <a:p>
            <a:r>
              <a:rPr lang="en-US" sz="2000" dirty="0"/>
              <a:t>Addition</a:t>
            </a:r>
          </a:p>
          <a:p>
            <a:pPr lvl="1"/>
            <a:r>
              <a:rPr lang="en-US" sz="1600" dirty="0"/>
              <a:t>Right-shift smaller number so exponent matches larger number</a:t>
            </a:r>
          </a:p>
          <a:p>
            <a:pPr lvl="1"/>
            <a:r>
              <a:rPr lang="en-US" sz="1600" dirty="0"/>
              <a:t>Add fractions (including implicit 1)</a:t>
            </a:r>
          </a:p>
          <a:p>
            <a:pPr lvl="1"/>
            <a:r>
              <a:rPr lang="en-US" sz="1600" dirty="0"/>
              <a:t>Will round off if one number is &gt; ~2*53 smaller than the other.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C700C-BB7A-3BC1-A65F-9EB6E7559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BCC00-0257-BBD7-27F1-612F3B1B9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  <p:pic>
        <p:nvPicPr>
          <p:cNvPr id="2050" name="Picture 2" descr="Double-precision floating-point format ...">
            <a:extLst>
              <a:ext uri="{FF2B5EF4-FFF2-40B4-BE49-F238E27FC236}">
                <a16:creationId xmlns:a16="http://schemas.microsoft.com/office/drawing/2014/main" id="{DA037DE5-EF39-3509-1F42-DFA398703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83" y="1835739"/>
            <a:ext cx="5877559" cy="118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5E0A8E-1C30-4B9A-349B-6F40DE084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317" y="3399583"/>
            <a:ext cx="3597366" cy="25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09916"/>
      </p:ext>
    </p:extLst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5A604-9E72-27CB-E545-DBD7ADDA4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Number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D43D-0347-08E2-B7DE-0D3D6A1DA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it comes to built-in number types, Python has ONLY</a:t>
            </a:r>
          </a:p>
          <a:p>
            <a:pPr lvl="1"/>
            <a:r>
              <a:rPr lang="en-US" b="1" dirty="0"/>
              <a:t>int</a:t>
            </a:r>
            <a:r>
              <a:rPr lang="en-US" dirty="0"/>
              <a:t>: unlimited size integers (math </a:t>
            </a:r>
            <a:r>
              <a:rPr lang="en-US" i="1" dirty="0"/>
              <a:t>extremely</a:t>
            </a:r>
            <a:r>
              <a:rPr lang="en-US" dirty="0"/>
              <a:t> inefficient)</a:t>
            </a:r>
          </a:p>
          <a:p>
            <a:pPr lvl="1"/>
            <a:r>
              <a:rPr lang="en-US" b="1" dirty="0"/>
              <a:t>float</a:t>
            </a:r>
            <a:r>
              <a:rPr lang="en-US" dirty="0"/>
              <a:t>:  floating point with precision of the OS (now always 64-bit)</a:t>
            </a:r>
          </a:p>
          <a:p>
            <a:r>
              <a:rPr lang="en-US" dirty="0"/>
              <a:t>Sometimes, we’ll want other things</a:t>
            </a:r>
          </a:p>
          <a:p>
            <a:pPr lvl="1"/>
            <a:r>
              <a:rPr lang="en-US" dirty="0"/>
              <a:t>Integers of fixed bit length </a:t>
            </a:r>
          </a:p>
          <a:p>
            <a:pPr lvl="1"/>
            <a:r>
              <a:rPr lang="en-US" dirty="0"/>
              <a:t>Floating point numbers with different bit lengths (32 or 128)</a:t>
            </a:r>
          </a:p>
          <a:p>
            <a:pPr lvl="1"/>
            <a:r>
              <a:rPr lang="en-US" dirty="0"/>
              <a:t>This is </a:t>
            </a:r>
            <a:r>
              <a:rPr lang="en-US" i="1" dirty="0"/>
              <a:t>extremely</a:t>
            </a:r>
            <a:r>
              <a:rPr lang="en-US" dirty="0"/>
              <a:t> important when calling routines in C/C++ and other languages.</a:t>
            </a:r>
          </a:p>
          <a:p>
            <a:r>
              <a:rPr lang="en-US" dirty="0"/>
              <a:t>This functionality will be provided by the “Numerical Python” (</a:t>
            </a:r>
            <a:r>
              <a:rPr lang="en-US" dirty="0" err="1"/>
              <a:t>numpy</a:t>
            </a:r>
            <a:r>
              <a:rPr lang="en-US" dirty="0"/>
              <a:t>) library, which we’ll introduce shortly.</a:t>
            </a:r>
          </a:p>
          <a:p>
            <a:r>
              <a:rPr lang="en-US" dirty="0"/>
              <a:t>Boolean (bool) variable</a:t>
            </a:r>
          </a:p>
          <a:p>
            <a:pPr lvl="1"/>
            <a:r>
              <a:rPr lang="en-US" dirty="0"/>
              <a:t>Values of “True” or “False”.  Can be thought of as a 1-bit integer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C2504-864B-BEFB-FBA1-235515E9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87804-5D07-712A-BCC4-F2DB204B2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0621368"/>
      </p:ext>
    </p:extLst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3998D-9DA6-3B6A-0D70-D81AF5766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tuples, lists, and keyed lists (</a:t>
            </a:r>
            <a:r>
              <a:rPr lang="en-US" dirty="0" err="1"/>
              <a:t>dicts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727BD-C418-B839-910E-20AA72C2C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sets:</a:t>
            </a:r>
          </a:p>
          <a:p>
            <a:pPr lvl="1"/>
            <a:r>
              <a:rPr lang="en-US" sz="2400" dirty="0"/>
              <a:t>”tuples” are ordered sets of objects in which individual items CANNOT be modified</a:t>
            </a:r>
          </a:p>
          <a:p>
            <a:pPr lvl="1"/>
            <a:r>
              <a:rPr lang="en-US" sz="2400" dirty="0"/>
              <a:t>“lists” are ordered sets of objects in which individual items.</a:t>
            </a:r>
          </a:p>
          <a:p>
            <a:pPr lvl="2"/>
            <a:r>
              <a:rPr lang="en-US" sz="2200" dirty="0"/>
              <a:t>Lists of numbers are referred to as “arrays”, but we’ll do our array math with numerical python (</a:t>
            </a:r>
            <a:r>
              <a:rPr lang="en-US" sz="2200" dirty="0" err="1"/>
              <a:t>numpy</a:t>
            </a:r>
            <a:r>
              <a:rPr lang="en-US" sz="2200" dirty="0"/>
              <a:t>)</a:t>
            </a:r>
          </a:p>
          <a:p>
            <a:r>
              <a:rPr lang="en-US" sz="2800" dirty="0"/>
              <a:t>Keyed sets</a:t>
            </a:r>
          </a:p>
          <a:p>
            <a:pPr lvl="1"/>
            <a:r>
              <a:rPr lang="en-US" sz="2400" dirty="0"/>
              <a:t>Sets in which elements are addressed by keyword are called “keyed lists” or “</a:t>
            </a:r>
            <a:r>
              <a:rPr lang="en-US" sz="2400" dirty="0" err="1"/>
              <a:t>dicts</a:t>
            </a:r>
            <a:r>
              <a:rPr lang="en-US" sz="2400" dirty="0"/>
              <a:t>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7C314-E743-D9A7-4C43-7A26DF68A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1997C-C813-D74A-7557-9E0FB3CF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51576869"/>
      </p:ext>
    </p:extLst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D1298-3F65-AE43-C19B-B543B302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vs. Immutable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A242E-C351-44A0-3F95-0F98583F4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objects in Python are “immutable”, meaning they can’t be changed once created.</a:t>
            </a:r>
          </a:p>
          <a:p>
            <a:pPr lvl="1"/>
            <a:r>
              <a:rPr lang="en-US" dirty="0"/>
              <a:t>This is generally associated with “pass by value”, although the way Python implements it is kind of weird.</a:t>
            </a:r>
          </a:p>
          <a:p>
            <a:r>
              <a:rPr lang="en-US" dirty="0"/>
              <a:t>More complex objects are “mutable”, meaning that objects can be changed once they are created</a:t>
            </a:r>
          </a:p>
          <a:p>
            <a:pPr lvl="1"/>
            <a:r>
              <a:rPr lang="en-US" dirty="0"/>
              <a:t>When on object is equated to another, it is “passed by reference” rather than creating a new object.</a:t>
            </a:r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 algn="ctr">
              <a:buNone/>
            </a:pPr>
            <a:r>
              <a:rPr lang="en-US" sz="2800" dirty="0"/>
              <a:t>(go to notebook demos)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42E0C-4EE0-76EB-4676-1F53C0570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F950E-F760-C2E8-3CD3-B0CC44446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Numbers, E. Prebys</a:t>
            </a:r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3166689"/>
      </p:ext>
    </p:extLst>
  </p:cSld>
  <p:clrMapOvr>
    <a:masterClrMapping/>
  </p:clrMapOvr>
  <p:transition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PREBYS@7EJIGINFUVWYY57I" val="435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>
        <a:noFill/>
        <a:ln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8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27195</TotalTime>
  <Words>1776</Words>
  <Application>Microsoft Macintosh PowerPoint</Application>
  <PresentationFormat>On-screen Show (4:3)</PresentationFormat>
  <Paragraphs>275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Times New Roman</vt:lpstr>
      <vt:lpstr>Clarity</vt:lpstr>
      <vt:lpstr>Equation</vt:lpstr>
      <vt:lpstr>Binary Numbers and other objects</vt:lpstr>
      <vt:lpstr>“Numbers” in Computing</vt:lpstr>
      <vt:lpstr>Types of Numbers</vt:lpstr>
      <vt:lpstr>Unsigned integers (also used for addressing!)</vt:lpstr>
      <vt:lpstr>Converting from Binary to Decimal</vt:lpstr>
      <vt:lpstr>Converting from Decimal to Binary</vt:lpstr>
      <vt:lpstr>Signed Integers </vt:lpstr>
      <vt:lpstr>Binary addition</vt:lpstr>
      <vt:lpstr>Two’s Complement</vt:lpstr>
      <vt:lpstr>Binary Multiplication</vt:lpstr>
      <vt:lpstr>Fixed Point Numbers</vt:lpstr>
      <vt:lpstr>Floating Point Numbers (IEEE 754*)</vt:lpstr>
      <vt:lpstr>Grouping Bits in Modern Computers</vt:lpstr>
      <vt:lpstr>Representing Groups of Bits</vt:lpstr>
      <vt:lpstr>Representing Characters</vt:lpstr>
      <vt:lpstr>Evolution of Precision</vt:lpstr>
      <vt:lpstr>Integer Mathematical Precision</vt:lpstr>
      <vt:lpstr>Important differences between Python and Other OO Languages…</vt:lpstr>
      <vt:lpstr>Floating Point Precision in Python</vt:lpstr>
      <vt:lpstr>Other Number Types</vt:lpstr>
      <vt:lpstr>tuples, lists, and keyed lists (dicts)</vt:lpstr>
      <vt:lpstr>Mutable vs. Immutable</vt:lpstr>
    </vt:vector>
  </TitlesOfParts>
  <Company>Fermilab Beams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Antiproton Stacking and Cooling</dc:title>
  <dc:creator>localadmin</dc:creator>
  <cp:lastModifiedBy>Eric J Prebys</cp:lastModifiedBy>
  <cp:revision>696</cp:revision>
  <cp:lastPrinted>2025-01-10T20:21:22Z</cp:lastPrinted>
  <dcterms:created xsi:type="dcterms:W3CDTF">2003-06-24T14:15:57Z</dcterms:created>
  <dcterms:modified xsi:type="dcterms:W3CDTF">2025-09-29T23:47:34Z</dcterms:modified>
</cp:coreProperties>
</file>