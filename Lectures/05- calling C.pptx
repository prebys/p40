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4624" r:id="rId1"/>
  </p:sldMasterIdLst>
  <p:notesMasterIdLst>
    <p:notesMasterId r:id="rId7"/>
  </p:notesMasterIdLst>
  <p:handoutMasterIdLst>
    <p:handoutMasterId r:id="rId8"/>
  </p:handoutMasterIdLst>
  <p:sldIdLst>
    <p:sldId id="271" r:id="rId2"/>
    <p:sldId id="272" r:id="rId3"/>
    <p:sldId id="273" r:id="rId4"/>
    <p:sldId id="274" r:id="rId5"/>
    <p:sldId id="275" r:id="rId6"/>
  </p:sldIdLst>
  <p:sldSz cx="9144000" cy="6858000" type="screen4x3"/>
  <p:notesSz cx="6858000" cy="9144000"/>
  <p:custDataLst>
    <p:tags r:id="rId9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>
          <p15:clr>
            <a:srgbClr val="A4A3A4"/>
          </p15:clr>
        </p15:guide>
        <p15:guide id="3" orient="horz" pos="429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clrMru>
    <a:srgbClr val="FD6F7D"/>
    <a:srgbClr val="008000"/>
    <a:srgbClr val="CC3399"/>
    <a:srgbClr val="FF9933"/>
    <a:srgbClr val="FF9966"/>
    <a:srgbClr val="33CC33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54FF14-B721-3C4D-8B8E-EBB2B5962329}" v="5" dt="2025-10-08T15:06:46.7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88"/>
    <p:restoredTop sz="94626"/>
  </p:normalViewPr>
  <p:slideViewPr>
    <p:cSldViewPr snapToGrid="0">
      <p:cViewPr varScale="1">
        <p:scale>
          <a:sx n="116" d="100"/>
          <a:sy n="116" d="100"/>
        </p:scale>
        <p:origin x="1672" y="192"/>
      </p:cViewPr>
      <p:guideLst>
        <p:guide/>
        <p:guide orient="horz" pos="429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 J Prebys" userId="2423660181_tp_box_2" providerId="OAuth2" clId="{7A5D5A21-A55B-52FD-95D2-896217ECBE7C}"/>
    <pc:docChg chg="custSel addSld modSld">
      <pc:chgData name="Eric J Prebys" userId="2423660181_tp_box_2" providerId="OAuth2" clId="{7A5D5A21-A55B-52FD-95D2-896217ECBE7C}" dt="2025-10-08T15:07:06.275" v="98" actId="14100"/>
      <pc:docMkLst>
        <pc:docMk/>
      </pc:docMkLst>
      <pc:sldChg chg="addSp delSp modSp mod">
        <pc:chgData name="Eric J Prebys" userId="2423660181_tp_box_2" providerId="OAuth2" clId="{7A5D5A21-A55B-52FD-95D2-896217ECBE7C}" dt="2025-10-08T15:03:10.622" v="5" actId="1076"/>
        <pc:sldMkLst>
          <pc:docMk/>
          <pc:sldMk cId="1104148226" sldId="277"/>
        </pc:sldMkLst>
        <pc:spChg chg="mod">
          <ac:chgData name="Eric J Prebys" userId="2423660181_tp_box_2" providerId="OAuth2" clId="{7A5D5A21-A55B-52FD-95D2-896217ECBE7C}" dt="2025-10-08T15:02:44.594" v="1"/>
          <ac:spMkLst>
            <pc:docMk/>
            <pc:sldMk cId="1104148226" sldId="277"/>
            <ac:spMk id="3" creationId="{A361866C-AB34-8BC3-C532-3AE47D064667}"/>
          </ac:spMkLst>
        </pc:spChg>
        <pc:picChg chg="add del mod">
          <ac:chgData name="Eric J Prebys" userId="2423660181_tp_box_2" providerId="OAuth2" clId="{7A5D5A21-A55B-52FD-95D2-896217ECBE7C}" dt="2025-10-08T15:02:51.151" v="3" actId="478"/>
          <ac:picMkLst>
            <pc:docMk/>
            <pc:sldMk cId="1104148226" sldId="277"/>
            <ac:picMk id="7" creationId="{FCEFDDCB-4442-55EB-DE05-17B004C6DB42}"/>
          </ac:picMkLst>
        </pc:picChg>
        <pc:picChg chg="del">
          <ac:chgData name="Eric J Prebys" userId="2423660181_tp_box_2" providerId="OAuth2" clId="{7A5D5A21-A55B-52FD-95D2-896217ECBE7C}" dt="2025-10-08T15:02:35.236" v="0" actId="478"/>
          <ac:picMkLst>
            <pc:docMk/>
            <pc:sldMk cId="1104148226" sldId="277"/>
            <ac:picMk id="8" creationId="{A70F3C83-8C3A-89BE-EB2B-25044F3AFC6D}"/>
          </ac:picMkLst>
        </pc:picChg>
        <pc:picChg chg="add mod">
          <ac:chgData name="Eric J Prebys" userId="2423660181_tp_box_2" providerId="OAuth2" clId="{7A5D5A21-A55B-52FD-95D2-896217ECBE7C}" dt="2025-10-08T15:03:10.622" v="5" actId="1076"/>
          <ac:picMkLst>
            <pc:docMk/>
            <pc:sldMk cId="1104148226" sldId="277"/>
            <ac:picMk id="9" creationId="{CDE73955-BBB8-AED8-5F2D-C6EE65774989}"/>
          </ac:picMkLst>
        </pc:picChg>
      </pc:sldChg>
      <pc:sldChg chg="addSp modSp mod">
        <pc:chgData name="Eric J Prebys" userId="2423660181_tp_box_2" providerId="OAuth2" clId="{7A5D5A21-A55B-52FD-95D2-896217ECBE7C}" dt="2025-10-08T15:05:51.424" v="66" actId="14100"/>
        <pc:sldMkLst>
          <pc:docMk/>
          <pc:sldMk cId="4091048123" sldId="289"/>
        </pc:sldMkLst>
        <pc:spChg chg="add mod">
          <ac:chgData name="Eric J Prebys" userId="2423660181_tp_box_2" providerId="OAuth2" clId="{7A5D5A21-A55B-52FD-95D2-896217ECBE7C}" dt="2025-10-08T15:05:43.487" v="64" actId="1076"/>
          <ac:spMkLst>
            <pc:docMk/>
            <pc:sldMk cId="4091048123" sldId="289"/>
            <ac:spMk id="2" creationId="{E8918B7E-26A0-4A7F-DF81-6DAA92C1FB0E}"/>
          </ac:spMkLst>
        </pc:spChg>
        <pc:spChg chg="mod">
          <ac:chgData name="Eric J Prebys" userId="2423660181_tp_box_2" providerId="OAuth2" clId="{7A5D5A21-A55B-52FD-95D2-896217ECBE7C}" dt="2025-10-08T15:03:40.938" v="10" actId="20577"/>
          <ac:spMkLst>
            <pc:docMk/>
            <pc:sldMk cId="4091048123" sldId="289"/>
            <ac:spMk id="7" creationId="{A53270F9-FBE9-EB5D-A967-6E632BEA3965}"/>
          </ac:spMkLst>
        </pc:spChg>
        <pc:picChg chg="mod">
          <ac:chgData name="Eric J Prebys" userId="2423660181_tp_box_2" providerId="OAuth2" clId="{7A5D5A21-A55B-52FD-95D2-896217ECBE7C}" dt="2025-10-08T15:05:14.521" v="35" actId="1076"/>
          <ac:picMkLst>
            <pc:docMk/>
            <pc:sldMk cId="4091048123" sldId="289"/>
            <ac:picMk id="8" creationId="{496617C3-C8A2-6CBB-D3D2-8C8FD823EBDE}"/>
          </ac:picMkLst>
        </pc:picChg>
        <pc:cxnChg chg="add mod">
          <ac:chgData name="Eric J Prebys" userId="2423660181_tp_box_2" providerId="OAuth2" clId="{7A5D5A21-A55B-52FD-95D2-896217ECBE7C}" dt="2025-10-08T15:05:51.424" v="66" actId="14100"/>
          <ac:cxnSpMkLst>
            <pc:docMk/>
            <pc:sldMk cId="4091048123" sldId="289"/>
            <ac:cxnSpMk id="9" creationId="{75C70CF6-02CB-6927-438C-E9E6F5BA1775}"/>
          </ac:cxnSpMkLst>
        </pc:cxnChg>
      </pc:sldChg>
      <pc:sldChg chg="addSp delSp modSp new mod">
        <pc:chgData name="Eric J Prebys" userId="2423660181_tp_box_2" providerId="OAuth2" clId="{7A5D5A21-A55B-52FD-95D2-896217ECBE7C}" dt="2025-10-08T15:07:06.275" v="98" actId="14100"/>
        <pc:sldMkLst>
          <pc:docMk/>
          <pc:sldMk cId="1085116855" sldId="292"/>
        </pc:sldMkLst>
        <pc:spChg chg="mod">
          <ac:chgData name="Eric J Prebys" userId="2423660181_tp_box_2" providerId="OAuth2" clId="{7A5D5A21-A55B-52FD-95D2-896217ECBE7C}" dt="2025-10-08T15:04:12.303" v="26" actId="20577"/>
          <ac:spMkLst>
            <pc:docMk/>
            <pc:sldMk cId="1085116855" sldId="292"/>
            <ac:spMk id="2" creationId="{09CA2E8C-8C27-9A40-5647-C8FF280B94FA}"/>
          </ac:spMkLst>
        </pc:spChg>
        <pc:spChg chg="del">
          <ac:chgData name="Eric J Prebys" userId="2423660181_tp_box_2" providerId="OAuth2" clId="{7A5D5A21-A55B-52FD-95D2-896217ECBE7C}" dt="2025-10-08T15:04:20.536" v="27" actId="478"/>
          <ac:spMkLst>
            <pc:docMk/>
            <pc:sldMk cId="1085116855" sldId="292"/>
            <ac:spMk id="3" creationId="{450F51B6-3F2A-3B00-4AE7-56F7D3A14013}"/>
          </ac:spMkLst>
        </pc:spChg>
        <pc:spChg chg="add mod">
          <ac:chgData name="Eric J Prebys" userId="2423660181_tp_box_2" providerId="OAuth2" clId="{7A5D5A21-A55B-52FD-95D2-896217ECBE7C}" dt="2025-10-08T15:06:57.982" v="96" actId="20577"/>
          <ac:spMkLst>
            <pc:docMk/>
            <pc:sldMk cId="1085116855" sldId="292"/>
            <ac:spMk id="8" creationId="{00DFA497-9311-0C5A-F897-BB458405BD04}"/>
          </ac:spMkLst>
        </pc:spChg>
        <pc:picChg chg="add mod">
          <ac:chgData name="Eric J Prebys" userId="2423660181_tp_box_2" providerId="OAuth2" clId="{7A5D5A21-A55B-52FD-95D2-896217ECBE7C}" dt="2025-10-08T15:06:33.311" v="67" actId="1076"/>
          <ac:picMkLst>
            <pc:docMk/>
            <pc:sldMk cId="1085116855" sldId="292"/>
            <ac:picMk id="7" creationId="{23583D2D-DE0B-B7CD-6D8A-BBCF2DD7B52A}"/>
          </ac:picMkLst>
        </pc:picChg>
        <pc:cxnChg chg="add mod">
          <ac:chgData name="Eric J Prebys" userId="2423660181_tp_box_2" providerId="OAuth2" clId="{7A5D5A21-A55B-52FD-95D2-896217ECBE7C}" dt="2025-10-08T15:07:06.275" v="98" actId="14100"/>
          <ac:cxnSpMkLst>
            <pc:docMk/>
            <pc:sldMk cId="1085116855" sldId="292"/>
            <ac:cxnSpMk id="9" creationId="{8B51FC08-6215-E4D7-3532-A6C28E3517CB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641E0-C0FB-FB45-BE20-B5E285E46BDA}" type="datetimeFigureOut">
              <a:rPr lang="en-US" smtClean="0"/>
              <a:t>10/8/25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D667F-4C0A-F045-9861-4468224AE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59655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40E8FAF-0EB9-4F3C-9D18-30F5214B3A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1687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448882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5582482"/>
            <a:ext cx="6400800" cy="554404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Phy 40, Fall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Special Topic: Calling C Routines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9C4FB-7D33-419B-8833-D1372BFD11C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294106" y="5472156"/>
            <a:ext cx="8643661" cy="364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Topic: Calling C Routines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Phy 40, Fall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Special Topic: Calling C Routines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52486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52486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Topic: Calling C Routines</a:t>
            </a:r>
            <a:endParaRPr lang="en-US">
              <a:latin typeface="+mn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914655-DFE5-45AD-AEB7-B6324F535D8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Topic: Calling C Routines</a:t>
            </a:r>
            <a:endParaRPr lang="en-US">
              <a:latin typeface="+mn-lt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013A5A-BD10-4E42-8EDD-42C4A14A64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Topic: Calling C Routines</a:t>
            </a:r>
            <a:endParaRPr lang="en-US"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B536C3-BB10-4165-8E74-99838CB517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Topic: Calling C Routines</a:t>
            </a:r>
            <a:endParaRPr lang="en-US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871096-0617-41A5-9758-D8016564092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Topic: Calling C Routines</a:t>
            </a:r>
            <a:endParaRPr lang="en-US">
              <a:latin typeface="+mn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Topic: Calling C Routines</a:t>
            </a:r>
            <a:endParaRPr lang="en-US">
              <a:latin typeface="+mn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A0D8F-9A19-4D03-8318-653C6FCD8B9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Topic: Calling C Routines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09CFA1-B09C-442F-85C3-919131D33D2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Topic: Calling C Routines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B137E2-35D0-4667-9362-8260FF57AB0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1713" y="471448"/>
            <a:ext cx="8229600" cy="628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713" y="1182021"/>
            <a:ext cx="8229600" cy="5441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40944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Special Topic: Calling C Routines</a:t>
            </a:r>
            <a:endParaRPr lang="en-US" dirty="0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09560" y="18288"/>
            <a:ext cx="77724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1210FB4-E372-466D-A3EB-21FD966A10F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Text Box 11"/>
          <p:cNvSpPr txBox="1">
            <a:spLocks noChangeArrowheads="1"/>
          </p:cNvSpPr>
          <p:nvPr userDrawn="1"/>
        </p:nvSpPr>
        <p:spPr bwMode="auto">
          <a:xfrm>
            <a:off x="381000" y="65532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781336" y="1"/>
            <a:ext cx="362663" cy="37083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625" r:id="rId1"/>
    <p:sldLayoutId id="2147484626" r:id="rId2"/>
    <p:sldLayoutId id="2147484627" r:id="rId3"/>
    <p:sldLayoutId id="2147484628" r:id="rId4"/>
    <p:sldLayoutId id="2147484629" r:id="rId5"/>
    <p:sldLayoutId id="2147484630" r:id="rId6"/>
    <p:sldLayoutId id="2147484631" r:id="rId7"/>
    <p:sldLayoutId id="2147484632" r:id="rId8"/>
    <p:sldLayoutId id="2147484633" r:id="rId9"/>
    <p:sldLayoutId id="2147484634" r:id="rId10"/>
    <p:sldLayoutId id="2147484635" r:id="rId11"/>
  </p:sldLayoutIdLst>
  <p:transition>
    <p:fade thruBlk="1"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32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0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269575" y="2192572"/>
            <a:ext cx="8465346" cy="900608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Special Topic: Calling C Routines</a:t>
            </a:r>
          </a:p>
        </p:txBody>
      </p:sp>
      <p:sp>
        <p:nvSpPr>
          <p:cNvPr id="819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66816" y="5547869"/>
            <a:ext cx="6400800" cy="527762"/>
          </a:xfrm>
        </p:spPr>
        <p:txBody>
          <a:bodyPr/>
          <a:lstStyle/>
          <a:p>
            <a:pPr eaLnBrk="1" hangingPunct="1"/>
            <a:r>
              <a:rPr lang="en-US" dirty="0"/>
              <a:t>Eric Prebys</a:t>
            </a: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E7460-B90F-50CA-4AFB-8E6F92D92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4CD52-DC67-D898-C80A-28055E2D7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/>
              <a:t>As we said before, interpreted Python is extremely slow</a:t>
            </a:r>
          </a:p>
          <a:p>
            <a:r>
              <a:rPr lang="en-US" sz="2000" dirty="0"/>
              <a:t>If you are doing something complex for which an existing library doesn’t exist, you may need to write your own.</a:t>
            </a:r>
          </a:p>
          <a:p>
            <a:r>
              <a:rPr lang="en-US" sz="2000" dirty="0"/>
              <a:t>Luckly, this is pretty easy</a:t>
            </a:r>
          </a:p>
          <a:p>
            <a:pPr lvl="1"/>
            <a:r>
              <a:rPr lang="en-US" sz="1600" dirty="0"/>
              <a:t>Write your code</a:t>
            </a:r>
          </a:p>
          <a:p>
            <a:pPr lvl="1"/>
            <a:r>
              <a:rPr lang="en-US" sz="1600" dirty="0"/>
              <a:t>compile it as a “dynamic link library”</a:t>
            </a:r>
          </a:p>
          <a:p>
            <a:pPr lvl="1"/>
            <a:r>
              <a:rPr lang="en-US" sz="1600" dirty="0"/>
              <a:t>Use the “</a:t>
            </a:r>
            <a:r>
              <a:rPr lang="en-US" sz="1600" dirty="0" err="1"/>
              <a:t>ctypes</a:t>
            </a:r>
            <a:r>
              <a:rPr lang="en-US" sz="1600" dirty="0"/>
              <a:t>” library in Python to load the library and define the input and output variable.</a:t>
            </a:r>
          </a:p>
          <a:p>
            <a:r>
              <a:rPr lang="en-US" sz="2000" dirty="0"/>
              <a:t>System dependence</a:t>
            </a:r>
          </a:p>
          <a:p>
            <a:pPr lvl="1"/>
            <a:r>
              <a:rPr lang="en-US" sz="1600" dirty="0"/>
              <a:t>MacOS and Linux:</a:t>
            </a:r>
          </a:p>
          <a:p>
            <a:pPr lvl="2"/>
            <a:r>
              <a:rPr lang="en-US" sz="1400" dirty="0"/>
              <a:t>Use the built-in </a:t>
            </a:r>
            <a:r>
              <a:rPr lang="en-US" sz="1400" dirty="0" err="1"/>
              <a:t>gcc</a:t>
            </a:r>
            <a:r>
              <a:rPr lang="en-US" sz="1400" dirty="0"/>
              <a:t> compiler to create a .</a:t>
            </a:r>
            <a:r>
              <a:rPr lang="en-US" sz="1400" dirty="0" err="1"/>
              <a:t>dylib</a:t>
            </a:r>
            <a:r>
              <a:rPr lang="en-US" sz="1400" dirty="0"/>
              <a:t> or .so library, respectively</a:t>
            </a:r>
          </a:p>
          <a:p>
            <a:pPr lvl="1"/>
            <a:r>
              <a:rPr lang="en-US" sz="1600" dirty="0"/>
              <a:t>Windows</a:t>
            </a:r>
          </a:p>
          <a:p>
            <a:pPr lvl="2"/>
            <a:r>
              <a:rPr lang="en-US" sz="1400" dirty="0"/>
              <a:t>Install the free Community version of Visual Studio, including C/C++ development tools</a:t>
            </a:r>
          </a:p>
          <a:p>
            <a:pPr lvl="2"/>
            <a:r>
              <a:rPr lang="en-US" sz="1400" dirty="0"/>
              <a:t>Open a developer window (be sure it’s 64-bit!)</a:t>
            </a:r>
          </a:p>
          <a:p>
            <a:pPr lvl="3"/>
            <a:r>
              <a:rPr lang="en-US" sz="1400" dirty="0"/>
              <a:t>Use, </a:t>
            </a:r>
            <a:r>
              <a:rPr lang="en-US" sz="1400" dirty="0" err="1"/>
              <a:t>eg.</a:t>
            </a:r>
            <a:r>
              <a:rPr lang="en-US" sz="1400" dirty="0"/>
              <a:t> ”x64 Native Tools Command Prompt for VS 2022”</a:t>
            </a:r>
          </a:p>
          <a:p>
            <a:pPr lvl="2"/>
            <a:r>
              <a:rPr lang="en-US" sz="1400" dirty="0"/>
              <a:t>Use command line tools to </a:t>
            </a:r>
            <a:r>
              <a:rPr lang="en-US" sz="1400" dirty="0" err="1"/>
              <a:t>creat</a:t>
            </a:r>
            <a:r>
              <a:rPr lang="en-US" sz="1400" dirty="0"/>
              <a:t> a .DLL library</a:t>
            </a:r>
          </a:p>
          <a:p>
            <a:pPr lvl="2"/>
            <a:endParaRPr lang="en-US" sz="1400" dirty="0"/>
          </a:p>
          <a:p>
            <a:r>
              <a:rPr lang="en-US" sz="2000" dirty="0"/>
              <a:t>NB This will also work with FORTRAN, which believe it or not you may need to know.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2C24D-DF49-1F87-B5DF-04DF6C681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26B1F-7B3A-AB6D-4984-EDCC6A2C8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Topic: Calling C Routines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5115B-A187-89FA-ECE6-05AAC083D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251231"/>
      </p:ext>
    </p:extLst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3009-25BE-0970-C6B1-ADBD6F597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BDA60-E8A9-754D-4053-A98F736EC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For individual variables, passed by value, the </a:t>
            </a:r>
            <a:r>
              <a:rPr lang="en-US" dirty="0" err="1"/>
              <a:t>ctype</a:t>
            </a:r>
            <a:r>
              <a:rPr lang="en-US" dirty="0"/>
              <a:t> library will do the appropriate conversions, within reason.</a:t>
            </a:r>
          </a:p>
          <a:p>
            <a:r>
              <a:rPr lang="en-US" dirty="0"/>
              <a:t>For arrays, the variable types in the </a:t>
            </a:r>
            <a:r>
              <a:rPr lang="en-US" dirty="0" err="1"/>
              <a:t>numpy</a:t>
            </a:r>
            <a:r>
              <a:rPr lang="en-US" dirty="0"/>
              <a:t> array MUST match the variable types in the C program</a:t>
            </a:r>
          </a:p>
          <a:p>
            <a:pPr lvl="1"/>
            <a:r>
              <a:rPr lang="en-US" dirty="0"/>
              <a:t>All that will be passed to the route in the pointer to the beginning of the array data.</a:t>
            </a:r>
          </a:p>
          <a:p>
            <a:pPr lvl="1"/>
            <a:r>
              <a:rPr lang="en-US" dirty="0"/>
              <a:t>It has no way of “figuring” out what type of data it is</a:t>
            </a:r>
          </a:p>
          <a:p>
            <a:pPr lvl="1"/>
            <a:r>
              <a:rPr lang="en-US" dirty="0"/>
              <a:t>Remember</a:t>
            </a:r>
          </a:p>
          <a:p>
            <a:pPr lvl="2"/>
            <a:r>
              <a:rPr lang="en-US" dirty="0"/>
              <a:t>Python:</a:t>
            </a:r>
          </a:p>
          <a:p>
            <a:pPr lvl="3"/>
            <a:r>
              <a:rPr lang="en-US" dirty="0"/>
              <a:t>float = 64-bit floating point (on modern systems)</a:t>
            </a:r>
          </a:p>
          <a:p>
            <a:pPr lvl="3"/>
            <a:r>
              <a:rPr lang="en-US" dirty="0"/>
              <a:t>int = </a:t>
            </a:r>
            <a:r>
              <a:rPr lang="en-US" dirty="0" err="1"/>
              <a:t>bigint</a:t>
            </a:r>
            <a:r>
              <a:rPr lang="en-US" dirty="0"/>
              <a:t> (array must use a C type)</a:t>
            </a:r>
          </a:p>
          <a:p>
            <a:pPr lvl="2"/>
            <a:r>
              <a:rPr lang="en-US" dirty="0"/>
              <a:t>C</a:t>
            </a:r>
          </a:p>
          <a:p>
            <a:pPr lvl="3"/>
            <a:r>
              <a:rPr lang="en-US" dirty="0"/>
              <a:t>float = 32-bit floating point</a:t>
            </a:r>
          </a:p>
          <a:p>
            <a:pPr lvl="3"/>
            <a:r>
              <a:rPr lang="en-US" dirty="0"/>
              <a:t>double = 64-bit floating point (default for </a:t>
            </a:r>
            <a:r>
              <a:rPr lang="en-US" dirty="0" err="1"/>
              <a:t>numpy</a:t>
            </a:r>
            <a:r>
              <a:rPr lang="en-US" dirty="0"/>
              <a:t> float)</a:t>
            </a:r>
          </a:p>
          <a:p>
            <a:pPr lvl="3"/>
            <a:r>
              <a:rPr lang="en-US" dirty="0"/>
              <a:t>int = 32 bit integer on all modern systems</a:t>
            </a:r>
          </a:p>
          <a:p>
            <a:pPr lvl="3"/>
            <a:r>
              <a:rPr lang="en-US" dirty="0"/>
              <a:t>long = 64 bit integer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E08BD-5249-1D5A-4DB1-094A1B825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8219A-93FA-3B04-B906-8304A3616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Topic: Calling C Routines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69CEC-C873-D510-EC0D-AD3CDDC8B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367495"/>
      </p:ext>
    </p:extLst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61C8A-A75A-0154-0FC7-CB62353A6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Consequences of Mistakes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5B3C4-4E5D-E3A2-CAE1-F6F019CCA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If I create a np.float64 array, the data will fill </a:t>
            </a:r>
            <a:br>
              <a:rPr lang="en-US" sz="1800" dirty="0"/>
            </a:br>
            <a:r>
              <a:rPr lang="en-US" sz="1800" dirty="0"/>
              <a:t>a region of memory 64 bits at time.</a:t>
            </a:r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The pointer that will get passed to the C routine points to the first memory location</a:t>
            </a:r>
          </a:p>
          <a:p>
            <a:r>
              <a:rPr lang="en-US" sz="1800" dirty="0"/>
              <a:t>If the C routine is expecting a “float” (32-bit) </a:t>
            </a:r>
          </a:p>
          <a:p>
            <a:r>
              <a:rPr lang="en-US" sz="1800" dirty="0"/>
              <a:t>array, it will step through this like</a:t>
            </a:r>
            <a:br>
              <a:rPr lang="en-US" sz="1800" dirty="0"/>
            </a:br>
            <a:br>
              <a:rPr lang="en-US" sz="1800" dirty="0"/>
            </a:br>
            <a:endParaRPr lang="en-US" sz="1800" dirty="0"/>
          </a:p>
          <a:p>
            <a:r>
              <a:rPr lang="en-US" sz="1800" dirty="0"/>
              <a:t>which will yield random nonsense!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1CD7E-9C1A-B5F2-4552-C539DA5DE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304FD-BAEC-3607-0652-4287A68F0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Topic: Calling C Routines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A5E43-6627-D7FC-6215-DF5A4B854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E3EA0B-39EA-F297-BB3D-046E87249EB6}"/>
              </a:ext>
            </a:extLst>
          </p:cNvPr>
          <p:cNvSpPr/>
          <p:nvPr/>
        </p:nvSpPr>
        <p:spPr>
          <a:xfrm>
            <a:off x="5815010" y="1112703"/>
            <a:ext cx="1994052" cy="253387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87FE8A-15A8-56C0-6D00-45C47448BB30}"/>
              </a:ext>
            </a:extLst>
          </p:cNvPr>
          <p:cNvSpPr/>
          <p:nvPr/>
        </p:nvSpPr>
        <p:spPr>
          <a:xfrm>
            <a:off x="5813172" y="1364256"/>
            <a:ext cx="1994052" cy="253387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E2CD40-783B-8DA0-1915-0C75A0DAC3F3}"/>
              </a:ext>
            </a:extLst>
          </p:cNvPr>
          <p:cNvSpPr/>
          <p:nvPr/>
        </p:nvSpPr>
        <p:spPr>
          <a:xfrm>
            <a:off x="5813172" y="1617644"/>
            <a:ext cx="1994052" cy="253387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5D68CC-4114-E1DC-150E-EC20325F57F2}"/>
              </a:ext>
            </a:extLst>
          </p:cNvPr>
          <p:cNvSpPr/>
          <p:nvPr/>
        </p:nvSpPr>
        <p:spPr>
          <a:xfrm>
            <a:off x="5811334" y="1869197"/>
            <a:ext cx="1994052" cy="253387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8016893-C68A-BD14-AAF3-E499F5E54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869" y="750937"/>
            <a:ext cx="50800" cy="279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A43D94B-1CB7-3DE2-A89E-79D490C2B14B}"/>
              </a:ext>
            </a:extLst>
          </p:cNvPr>
          <p:cNvSpPr txBox="1"/>
          <p:nvPr/>
        </p:nvSpPr>
        <p:spPr>
          <a:xfrm>
            <a:off x="6442971" y="1836146"/>
            <a:ext cx="7160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+mn-lt"/>
              </a:rPr>
              <a:t>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E423F8-093B-389B-81FB-025E50D9B1A1}"/>
              </a:ext>
            </a:extLst>
          </p:cNvPr>
          <p:cNvSpPr txBox="1"/>
          <p:nvPr/>
        </p:nvSpPr>
        <p:spPr>
          <a:xfrm>
            <a:off x="6441133" y="1569904"/>
            <a:ext cx="7160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+mn-lt"/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944493-DFFA-3392-E276-3407C4C7D921}"/>
              </a:ext>
            </a:extLst>
          </p:cNvPr>
          <p:cNvSpPr txBox="1"/>
          <p:nvPr/>
        </p:nvSpPr>
        <p:spPr>
          <a:xfrm>
            <a:off x="6441133" y="1316518"/>
            <a:ext cx="7160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+mn-lt"/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E14CA2-8DD3-87D8-09E5-F5F73E171D98}"/>
              </a:ext>
            </a:extLst>
          </p:cNvPr>
          <p:cNvSpPr txBox="1"/>
          <p:nvPr/>
        </p:nvSpPr>
        <p:spPr>
          <a:xfrm>
            <a:off x="6439295" y="1061293"/>
            <a:ext cx="7160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+mn-lt"/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F7C924A-5D1A-9B42-74BC-82C0F996BDFB}"/>
              </a:ext>
            </a:extLst>
          </p:cNvPr>
          <p:cNvSpPr/>
          <p:nvPr/>
        </p:nvSpPr>
        <p:spPr>
          <a:xfrm>
            <a:off x="5787466" y="3386912"/>
            <a:ext cx="1994052" cy="253387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0B61F9-2BBF-AACA-2DC3-6A490D0ACCAC}"/>
              </a:ext>
            </a:extLst>
          </p:cNvPr>
          <p:cNvSpPr/>
          <p:nvPr/>
        </p:nvSpPr>
        <p:spPr>
          <a:xfrm>
            <a:off x="5785628" y="3638465"/>
            <a:ext cx="1994052" cy="253387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77C4C6F-FC29-64E2-F59F-11905960673A}"/>
              </a:ext>
            </a:extLst>
          </p:cNvPr>
          <p:cNvSpPr/>
          <p:nvPr/>
        </p:nvSpPr>
        <p:spPr>
          <a:xfrm>
            <a:off x="5785628" y="3891853"/>
            <a:ext cx="1994052" cy="253387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894016B-BE17-C772-6EDD-6A92EF5D4DFE}"/>
              </a:ext>
            </a:extLst>
          </p:cNvPr>
          <p:cNvSpPr/>
          <p:nvPr/>
        </p:nvSpPr>
        <p:spPr>
          <a:xfrm>
            <a:off x="5783790" y="4143406"/>
            <a:ext cx="1994052" cy="253387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1016BC3-74B3-D5DB-DB20-2DEE760F8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325" y="2959044"/>
            <a:ext cx="50800" cy="2794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58A798C-1AEF-6795-9E92-E2E7CC935214}"/>
              </a:ext>
            </a:extLst>
          </p:cNvPr>
          <p:cNvSpPr txBox="1"/>
          <p:nvPr/>
        </p:nvSpPr>
        <p:spPr>
          <a:xfrm>
            <a:off x="5717688" y="4110355"/>
            <a:ext cx="20675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+mn-lt"/>
              </a:rPr>
              <a:t>0                     1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CF3ABF-4AE1-B687-4162-01EB5C77BA6D}"/>
              </a:ext>
            </a:extLst>
          </p:cNvPr>
          <p:cNvSpPr txBox="1"/>
          <p:nvPr/>
        </p:nvSpPr>
        <p:spPr>
          <a:xfrm>
            <a:off x="5711557" y="2094698"/>
            <a:ext cx="2163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+mn-lt"/>
              </a:rPr>
              <a:t>0                                  63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225D0D-0F10-890B-4CE7-FD41351A1E50}"/>
              </a:ext>
            </a:extLst>
          </p:cNvPr>
          <p:cNvSpPr txBox="1"/>
          <p:nvPr/>
        </p:nvSpPr>
        <p:spPr>
          <a:xfrm>
            <a:off x="5674834" y="4394108"/>
            <a:ext cx="2163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+mn-lt"/>
              </a:rPr>
              <a:t>0                                  63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0C6198-2FAE-74DE-E952-F5690D959878}"/>
              </a:ext>
            </a:extLst>
          </p:cNvPr>
          <p:cNvSpPr txBox="1"/>
          <p:nvPr/>
        </p:nvSpPr>
        <p:spPr>
          <a:xfrm>
            <a:off x="5722572" y="3847215"/>
            <a:ext cx="20675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+mn-lt"/>
              </a:rPr>
              <a:t>2                     3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8A21B5D-C66D-FC54-945F-FB0FD342B0B2}"/>
              </a:ext>
            </a:extLst>
          </p:cNvPr>
          <p:cNvSpPr txBox="1"/>
          <p:nvPr/>
        </p:nvSpPr>
        <p:spPr>
          <a:xfrm>
            <a:off x="5722571" y="3592610"/>
            <a:ext cx="20675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+mn-lt"/>
              </a:rPr>
              <a:t>4                     5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76B8EF6-5DA6-8606-1C03-7DCA979731E4}"/>
              </a:ext>
            </a:extLst>
          </p:cNvPr>
          <p:cNvSpPr txBox="1"/>
          <p:nvPr/>
        </p:nvSpPr>
        <p:spPr>
          <a:xfrm>
            <a:off x="5724722" y="3361797"/>
            <a:ext cx="20675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+mn-lt"/>
              </a:rPr>
              <a:t>5                     6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24A4DE9-1C8C-A1DD-F007-3F2BA3C2CD08}"/>
              </a:ext>
            </a:extLst>
          </p:cNvPr>
          <p:cNvCxnSpPr>
            <a:cxnSpLocks/>
          </p:cNvCxnSpPr>
          <p:nvPr/>
        </p:nvCxnSpPr>
        <p:spPr>
          <a:xfrm flipH="1">
            <a:off x="6784492" y="3361797"/>
            <a:ext cx="7034" cy="1056335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2" descr="Double-precision floating-point format ...">
            <a:extLst>
              <a:ext uri="{FF2B5EF4-FFF2-40B4-BE49-F238E27FC236}">
                <a16:creationId xmlns:a16="http://schemas.microsoft.com/office/drawing/2014/main" id="{DDCE67A8-7960-5A85-3862-271007F781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4687189"/>
            <a:ext cx="5359374" cy="1082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Right Brace 37">
            <a:extLst>
              <a:ext uri="{FF2B5EF4-FFF2-40B4-BE49-F238E27FC236}">
                <a16:creationId xmlns:a16="http://schemas.microsoft.com/office/drawing/2014/main" id="{D691E4CB-BDF9-E4BB-49E2-15F984671DB8}"/>
              </a:ext>
            </a:extLst>
          </p:cNvPr>
          <p:cNvSpPr/>
          <p:nvPr/>
        </p:nvSpPr>
        <p:spPr>
          <a:xfrm rot="5400000">
            <a:off x="3237081" y="4548722"/>
            <a:ext cx="268516" cy="2555558"/>
          </a:xfrm>
          <a:prstGeom prst="rightBrac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ight Brace 38">
            <a:extLst>
              <a:ext uri="{FF2B5EF4-FFF2-40B4-BE49-F238E27FC236}">
                <a16:creationId xmlns:a16="http://schemas.microsoft.com/office/drawing/2014/main" id="{E186A54C-760A-0C73-ECFB-5D643823A39B}"/>
              </a:ext>
            </a:extLst>
          </p:cNvPr>
          <p:cNvSpPr/>
          <p:nvPr/>
        </p:nvSpPr>
        <p:spPr>
          <a:xfrm rot="5400000">
            <a:off x="5772066" y="4632692"/>
            <a:ext cx="289128" cy="2367001"/>
          </a:xfrm>
          <a:prstGeom prst="rightBrace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IEEE 754 single precision floating point representation. The value of... |  Download Scientific Diagram">
            <a:extLst>
              <a:ext uri="{FF2B5EF4-FFF2-40B4-BE49-F238E27FC236}">
                <a16:creationId xmlns:a16="http://schemas.microsoft.com/office/drawing/2014/main" id="{82209107-EA02-C65B-FDC8-C208AD0651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433" y="6046856"/>
            <a:ext cx="3073706" cy="672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IEEE 754 single precision floating point representation. The value of... |  Download Scientific Diagram">
            <a:extLst>
              <a:ext uri="{FF2B5EF4-FFF2-40B4-BE49-F238E27FC236}">
                <a16:creationId xmlns:a16="http://schemas.microsoft.com/office/drawing/2014/main" id="{9A186F5C-3E6D-D70E-8855-17353ECBEF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1855" y="6020687"/>
            <a:ext cx="3073706" cy="672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5142605"/>
      </p:ext>
    </p:extLst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B6286-9D4C-5D3A-3C13-3F45096D5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9D7D3-FCFD-1290-0249-71665F8B5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C++ functions can “overloaded”; that is, the same function name can refer to different functions depending on the arguments and argument types.</a:t>
            </a:r>
          </a:p>
          <a:p>
            <a:r>
              <a:rPr lang="en-US" sz="2000" dirty="0"/>
              <a:t>It handles this by “mangling” the function name to encode the argument list, which is VERY hard to deal directly with in Python.</a:t>
            </a:r>
          </a:p>
          <a:p>
            <a:r>
              <a:rPr lang="en-US" sz="2000" dirty="0"/>
              <a:t>There are two ways to deal with this:</a:t>
            </a:r>
          </a:p>
          <a:p>
            <a:pPr lvl="1"/>
            <a:r>
              <a:rPr lang="en-US" sz="1800" dirty="0"/>
              <a:t>Easy:  Undo the mangling (and the overloading) by declaring the routing ‘extern “C”’, </a:t>
            </a:r>
            <a:r>
              <a:rPr lang="en-US" sz="1800" dirty="0" err="1"/>
              <a:t>eg</a:t>
            </a:r>
            <a:br>
              <a:rPr lang="en-US" sz="1800" dirty="0"/>
            </a:br>
            <a:r>
              <a:rPr lang="en-US" sz="1800" dirty="0"/>
              <a:t>     extern “C” double </a:t>
            </a:r>
            <a:r>
              <a:rPr lang="en-US" sz="1800" dirty="0" err="1"/>
              <a:t>find_max</a:t>
            </a:r>
            <a:r>
              <a:rPr lang="en-US" sz="1800" dirty="0"/>
              <a:t>(double *</a:t>
            </a:r>
            <a:r>
              <a:rPr lang="en-US" sz="1800" dirty="0" err="1"/>
              <a:t>arr</a:t>
            </a:r>
            <a:r>
              <a:rPr lang="en-US" sz="1800" dirty="0"/>
              <a:t>, int n) {</a:t>
            </a:r>
          </a:p>
          <a:p>
            <a:pPr lvl="1"/>
            <a:endParaRPr lang="en-US" sz="1800" dirty="0"/>
          </a:p>
          <a:p>
            <a:pPr lvl="1"/>
            <a:r>
              <a:rPr lang="en-US" sz="1800" dirty="0"/>
              <a:t>Harder (but arguably better):  use the Python binding utilities to create proper wrappers, including overloading.</a:t>
            </a:r>
          </a:p>
          <a:p>
            <a:pPr lvl="2"/>
            <a:r>
              <a:rPr lang="en-US" sz="1600" dirty="0"/>
              <a:t>Beyond the scope of this course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AA157-FA55-790A-0534-D88ED1CC6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D8765-BE07-BE46-E01B-EAEDC3E74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Topic: Calling C Routines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49989-451A-55B6-D2E4-49BC58E35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701387"/>
      </p:ext>
    </p:extLst>
  </p:cSld>
  <p:clrMapOvr>
    <a:masterClrMapping/>
  </p:clrMapOvr>
  <p:transition>
    <p:fade thruBlk="1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PREBYS@7EJIGINFUVWYY57I" val="435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>
    <a:spDef>
      <a:spPr>
        <a:noFill/>
        <a:ln>
          <a:solidFill>
            <a:srgbClr val="FF0000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F0000"/>
          </a:solidFill>
          <a:tailEnd type="arrow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sz="1800" dirty="0" smtClean="0">
            <a:latin typeface="+mn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Clarity.thmx</Template>
  <TotalTime>32694</TotalTime>
  <Words>565</Words>
  <Application>Microsoft Macintosh PowerPoint</Application>
  <PresentationFormat>On-screen Show (4:3)</PresentationFormat>
  <Paragraphs>71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Times New Roman</vt:lpstr>
      <vt:lpstr>Clarity</vt:lpstr>
      <vt:lpstr>Special Topic: Calling C Routines</vt:lpstr>
      <vt:lpstr>General</vt:lpstr>
      <vt:lpstr>Variable Types</vt:lpstr>
      <vt:lpstr>Consequences of Mistakes</vt:lpstr>
      <vt:lpstr>C++</vt:lpstr>
    </vt:vector>
  </TitlesOfParts>
  <Company>Fermilab Beams Division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Antiproton Stacking and Cooling</dc:title>
  <dc:creator>localadmin</dc:creator>
  <cp:lastModifiedBy>Eric J Prebys</cp:lastModifiedBy>
  <cp:revision>723</cp:revision>
  <cp:lastPrinted>2025-01-10T20:21:22Z</cp:lastPrinted>
  <dcterms:created xsi:type="dcterms:W3CDTF">2003-06-24T14:15:57Z</dcterms:created>
  <dcterms:modified xsi:type="dcterms:W3CDTF">2025-10-08T21:39:20Z</dcterms:modified>
</cp:coreProperties>
</file>