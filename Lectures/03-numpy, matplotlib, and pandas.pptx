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4624" r:id="rId1"/>
  </p:sldMasterIdLst>
  <p:notesMasterIdLst>
    <p:notesMasterId r:id="rId7"/>
  </p:notesMasterIdLst>
  <p:handoutMasterIdLst>
    <p:handoutMasterId r:id="rId8"/>
  </p:handoutMasterIdLst>
  <p:sldIdLst>
    <p:sldId id="271" r:id="rId2"/>
    <p:sldId id="314" r:id="rId3"/>
    <p:sldId id="315" r:id="rId4"/>
    <p:sldId id="316" r:id="rId5"/>
    <p:sldId id="317" r:id="rId6"/>
  </p:sldIdLst>
  <p:sldSz cx="9144000" cy="6858000" type="screen4x3"/>
  <p:notesSz cx="6858000" cy="9144000"/>
  <p:custDataLst>
    <p:tags r:id="rId9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>
          <p15:clr>
            <a:srgbClr val="A4A3A4"/>
          </p15:clr>
        </p15:guide>
        <p15:guide id="3" orient="horz" pos="429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frameSlides="1"/>
  <p:clrMru>
    <a:srgbClr val="FD6F7D"/>
    <a:srgbClr val="008000"/>
    <a:srgbClr val="CC3399"/>
    <a:srgbClr val="FF9933"/>
    <a:srgbClr val="FF9966"/>
    <a:srgbClr val="33CC33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26"/>
  </p:normalViewPr>
  <p:slideViewPr>
    <p:cSldViewPr snapToGrid="0">
      <p:cViewPr varScale="1">
        <p:scale>
          <a:sx n="116" d="100"/>
          <a:sy n="116" d="100"/>
        </p:scale>
        <p:origin x="1968" y="192"/>
      </p:cViewPr>
      <p:guideLst>
        <p:guide/>
        <p:guide orient="horz" pos="429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641E0-C0FB-FB45-BE20-B5E285E46BDA}" type="datetimeFigureOut">
              <a:rPr lang="en-US" smtClean="0"/>
              <a:t>10/1/25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CD667F-4C0A-F045-9861-4468224AED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59655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840E8FAF-0EB9-4F3C-9D18-30F5214B3A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16878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448882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5582482"/>
            <a:ext cx="6400800" cy="554404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Phy 40, Fall 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numpy, matplotlib, and pandas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9C4FB-7D33-419B-8833-D1372BFD11C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294106" y="5472156"/>
            <a:ext cx="8643661" cy="3646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numpy, matplotlib, and pandas</a:t>
            </a:r>
            <a:endParaRPr lang="en-US">
              <a:latin typeface="+mn-lt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A26155-0DCC-45D2-90B6-32F65F3F6C0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Phy 40, Fall 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numpy, matplotlib, and pandas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 thruBlk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43000"/>
            <a:ext cx="4038600" cy="52486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43000"/>
            <a:ext cx="4038600" cy="52486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numpy, matplotlib, and pandas</a:t>
            </a:r>
            <a:endParaRPr lang="en-US">
              <a:latin typeface="+mn-lt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D914655-DFE5-45AD-AEB7-B6324F535D8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numpy, matplotlib, and pandas</a:t>
            </a:r>
            <a:endParaRPr lang="en-US">
              <a:latin typeface="+mn-lt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013A5A-BD10-4E42-8EDD-42C4A14A64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 thruBlk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numpy, matplotlib, and pandas</a:t>
            </a:r>
            <a:endParaRPr lang="en-US"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B536C3-BB10-4165-8E74-99838CB517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numpy, matplotlib, and pandas</a:t>
            </a:r>
            <a:endParaRPr lang="en-US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A871096-0617-41A5-9758-D8016564092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numpy, matplotlib, and pandas</a:t>
            </a:r>
            <a:endParaRPr lang="en-US">
              <a:latin typeface="+mn-lt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 thruBlk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numpy, matplotlib, and pandas</a:t>
            </a:r>
            <a:endParaRPr lang="en-US">
              <a:latin typeface="+mn-lt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8A0D8F-9A19-4D03-8318-653C6FCD8B9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numpy, matplotlib, and pandas</a:t>
            </a:r>
            <a:endParaRPr lang="en-US">
              <a:latin typeface="+mn-lt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09CFA1-B09C-442F-85C3-919131D33D2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numpy, matplotlib, and pandas</a:t>
            </a:r>
            <a:endParaRPr lang="en-US">
              <a:latin typeface="+mn-lt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B137E2-35D0-4667-9362-8260FF57AB0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1713" y="471448"/>
            <a:ext cx="8229600" cy="6282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1713" y="1182021"/>
            <a:ext cx="8229600" cy="54417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40944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numpy, matplotlib, and pandas</a:t>
            </a:r>
            <a:endParaRPr lang="en-US" dirty="0">
              <a:latin typeface="+mn-lt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09560" y="18288"/>
            <a:ext cx="77724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61210FB4-E372-466D-A3EB-21FD966A10F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Text Box 11"/>
          <p:cNvSpPr txBox="1">
            <a:spLocks noChangeArrowheads="1"/>
          </p:cNvSpPr>
          <p:nvPr userDrawn="1"/>
        </p:nvSpPr>
        <p:spPr bwMode="auto">
          <a:xfrm>
            <a:off x="381000" y="6553200"/>
            <a:ext cx="16764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8781336" y="1"/>
            <a:ext cx="362663" cy="37083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625" r:id="rId1"/>
    <p:sldLayoutId id="2147484626" r:id="rId2"/>
    <p:sldLayoutId id="2147484627" r:id="rId3"/>
    <p:sldLayoutId id="2147484628" r:id="rId4"/>
    <p:sldLayoutId id="2147484629" r:id="rId5"/>
    <p:sldLayoutId id="2147484630" r:id="rId6"/>
    <p:sldLayoutId id="2147484631" r:id="rId7"/>
    <p:sldLayoutId id="2147484632" r:id="rId8"/>
    <p:sldLayoutId id="2147484633" r:id="rId9"/>
    <p:sldLayoutId id="2147484634" r:id="rId10"/>
    <p:sldLayoutId id="2147484635" r:id="rId11"/>
  </p:sldLayoutIdLst>
  <p:transition>
    <p:fade thruBlk="1"/>
  </p:transition>
  <p:hf hdr="0"/>
  <p:txStyles>
    <p:titleStyle>
      <a:lvl1pPr algn="l" defTabSz="914400" rtl="0" eaLnBrk="1" latinLnBrk="0" hangingPunct="1">
        <a:spcBef>
          <a:spcPct val="0"/>
        </a:spcBef>
        <a:buNone/>
        <a:defRPr sz="32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00" name="Rectangle 4"/>
          <p:cNvSpPr>
            <a:spLocks noGrp="1" noChangeArrowheads="1"/>
          </p:cNvSpPr>
          <p:nvPr>
            <p:ph type="ctrTitle"/>
          </p:nvPr>
        </p:nvSpPr>
        <p:spPr>
          <a:xfrm>
            <a:off x="269575" y="2192572"/>
            <a:ext cx="8465346" cy="900608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err="1"/>
              <a:t>Numpy</a:t>
            </a:r>
            <a:r>
              <a:rPr lang="en-US" dirty="0"/>
              <a:t>, matplotlib, and pandas</a:t>
            </a:r>
          </a:p>
        </p:txBody>
      </p:sp>
      <p:sp>
        <p:nvSpPr>
          <p:cNvPr id="8195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266816" y="5547869"/>
            <a:ext cx="6400800" cy="527762"/>
          </a:xfrm>
        </p:spPr>
        <p:txBody>
          <a:bodyPr/>
          <a:lstStyle/>
          <a:p>
            <a:pPr eaLnBrk="1" hangingPunct="1"/>
            <a:r>
              <a:rPr lang="en-US" dirty="0"/>
              <a:t>Eric Prebys</a:t>
            </a:r>
          </a:p>
        </p:txBody>
      </p:sp>
    </p:spTree>
  </p:cSld>
  <p:clrMapOvr>
    <a:masterClrMapping/>
  </p:clrMapOvr>
  <p:transition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B3D77-7720-A3B0-E40F-6773C7D14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Numerical Python (</a:t>
            </a:r>
            <a:r>
              <a:rPr lang="en-US" dirty="0" err="1"/>
              <a:t>numpy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F28DD3-9408-C594-A126-BB634F0FD6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numpy</a:t>
            </a:r>
            <a:r>
              <a:rPr lang="en-US" dirty="0"/>
              <a:t> is the key the mathematical power of Python </a:t>
            </a:r>
          </a:p>
          <a:p>
            <a:r>
              <a:rPr lang="en-US" dirty="0"/>
              <a:t>It allows us to create and manipulate arrays of arbitrary dimension.</a:t>
            </a:r>
          </a:p>
          <a:p>
            <a:r>
              <a:rPr lang="en-US" dirty="0"/>
              <a:t>It provides a full mathematical library, parallel to the routines in the math library, which allows the processing of arrays.</a:t>
            </a:r>
          </a:p>
          <a:p>
            <a:r>
              <a:rPr lang="en-US" dirty="0"/>
              <a:t>It also provides every possible operation you can think of involving vectors, matrices, </a:t>
            </a:r>
            <a:r>
              <a:rPr lang="en-US" dirty="0" err="1"/>
              <a:t>etc</a:t>
            </a:r>
            <a:endParaRPr lang="en-US" dirty="0"/>
          </a:p>
          <a:p>
            <a:r>
              <a:rPr lang="en-US" dirty="0"/>
              <a:t>It stores numbers in specific standard formats</a:t>
            </a:r>
          </a:p>
          <a:p>
            <a:pPr lvl="1"/>
            <a:r>
              <a:rPr lang="en-US" dirty="0"/>
              <a:t>int16,int32,int64,(int128 on some systems)</a:t>
            </a:r>
          </a:p>
          <a:p>
            <a:pPr lvl="1"/>
            <a:r>
              <a:rPr lang="en-US" dirty="0"/>
              <a:t>float16,float32,float64,(float128 on some systems)</a:t>
            </a:r>
          </a:p>
          <a:p>
            <a:r>
              <a:rPr lang="en-US" dirty="0"/>
              <a:t>Arrays of numbers are stored in contiguous blocs, compatible with other languages.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37D4D8-3AB5-917F-C242-F7B2C604B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318CE6-0A72-2F60-517E-E0CD4DA91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numpy, matplotlib, and pandas</a:t>
            </a:r>
            <a:endParaRPr lang="en-US">
              <a:latin typeface="+mn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66E391-C22C-F973-17CD-F3166B6F1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A26155-0DCC-45D2-90B6-32F65F3F6C0F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16112"/>
      </p:ext>
    </p:extLst>
  </p:cSld>
  <p:clrMapOvr>
    <a:masterClrMapping/>
  </p:clrMapOvr>
  <p:transition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B10DF-27D7-F723-FA2A-0CB69552C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Matplotlib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15924-00B3-34D9-CE35-38C11E6776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matplotlib</a:t>
            </a:r>
            <a:r>
              <a:rPr lang="en-US" dirty="0"/>
              <a:t> is a complex but easy to use set of plotting tools.</a:t>
            </a:r>
          </a:p>
          <a:p>
            <a:r>
              <a:rPr lang="en-US" dirty="0"/>
              <a:t>Very simple to make simple plots, but allows full control for more advanced features.</a:t>
            </a:r>
          </a:p>
          <a:p>
            <a:r>
              <a:rPr lang="en-US" dirty="0"/>
              <a:t>Includes some basic </a:t>
            </a:r>
            <a:r>
              <a:rPr lang="en-US" dirty="0" err="1"/>
              <a:t>histogramming</a:t>
            </a:r>
            <a:r>
              <a:rPr lang="en-US" dirty="0"/>
              <a:t> tools, but we will soon use the more advanced tools in </a:t>
            </a:r>
            <a:r>
              <a:rPr lang="en-US" b="1" dirty="0" err="1"/>
              <a:t>scipy</a:t>
            </a:r>
            <a:endParaRPr lang="en-US" b="1" dirty="0"/>
          </a:p>
          <a:p>
            <a:r>
              <a:rPr lang="en-US" dirty="0"/>
              <a:t>Like all packages, works directly with </a:t>
            </a:r>
            <a:r>
              <a:rPr lang="en-US" b="1" dirty="0" err="1"/>
              <a:t>numpy</a:t>
            </a:r>
            <a:r>
              <a:rPr lang="en-US" dirty="0"/>
              <a:t> arrays.</a:t>
            </a:r>
          </a:p>
          <a:p>
            <a:r>
              <a:rPr lang="en-US" dirty="0"/>
              <a:t>Can be augmented with the </a:t>
            </a:r>
            <a:r>
              <a:rPr lang="en-US" b="1" dirty="0"/>
              <a:t>seaborn</a:t>
            </a:r>
            <a:r>
              <a:rPr lang="en-US" dirty="0"/>
              <a:t> library for more advanced plots.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C7E63B-9E40-FC84-F4AA-1568252F9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92BEB3-273E-4012-D744-C0F498F71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numpy, matplotlib, and pandas</a:t>
            </a:r>
            <a:endParaRPr lang="en-US">
              <a:latin typeface="+mn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113A3F-B96F-FBF9-4D71-F6C4AA7A2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A26155-0DCC-45D2-90B6-32F65F3F6C0F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940877"/>
      </p:ext>
    </p:extLst>
  </p:cSld>
  <p:clrMapOvr>
    <a:masterClrMapping/>
  </p:clrMapOvr>
  <p:transition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D1AF8-6BA8-B903-186C-2750A3BEF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Pandas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65A5F6-81E1-3C3B-D2C8-AA29017055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pandas</a:t>
            </a:r>
            <a:r>
              <a:rPr lang="en-US" dirty="0"/>
              <a:t> is a very powerful tool for arranging and manipulating data.</a:t>
            </a:r>
          </a:p>
          <a:p>
            <a:r>
              <a:rPr lang="en-US" dirty="0"/>
              <a:t>It works with “data frames”, which can be thought of as internal spreadsheets</a:t>
            </a:r>
          </a:p>
          <a:p>
            <a:r>
              <a:rPr lang="en-US" dirty="0"/>
              <a:t>Supports complex mathematical, selection and filtering operations.</a:t>
            </a:r>
          </a:p>
          <a:p>
            <a:r>
              <a:rPr lang="en-US" dirty="0"/>
              <a:t>Interfaces directly to plotting packages and other libraries.</a:t>
            </a:r>
          </a:p>
          <a:p>
            <a:r>
              <a:rPr lang="en-US" dirty="0"/>
              <a:t>Particularly useful in machine learning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4BD7FB-F445-696C-9A4F-7B5A5C9DF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625EAE-AC11-A7B2-1F7C-871F35E57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numpy, matplotlib, and pandas</a:t>
            </a:r>
            <a:endParaRPr lang="en-US">
              <a:latin typeface="+mn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2156F2-6CF9-9517-5B68-CD2C55173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A26155-0DCC-45D2-90B6-32F65F3F6C0F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5836"/>
      </p:ext>
    </p:extLst>
  </p:cSld>
  <p:clrMapOvr>
    <a:masterClrMapping/>
  </p:clrMapOvr>
  <p:transition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1626C-86AC-1050-7534-B30D7F8DC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Scientific Python (</a:t>
            </a:r>
            <a:r>
              <a:rPr lang="en-US" dirty="0" err="1"/>
              <a:t>scipy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E981F4-279C-5918-D8DE-69B67B24DA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scipy</a:t>
            </a:r>
            <a:r>
              <a:rPr lang="en-US" dirty="0"/>
              <a:t> is a diverse library of routines that build on and extend </a:t>
            </a:r>
            <a:r>
              <a:rPr lang="en-US" b="1" dirty="0" err="1"/>
              <a:t>numpy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Optimization and Fitting (</a:t>
            </a:r>
            <a:r>
              <a:rPr lang="en-US" dirty="0" err="1"/>
              <a:t>scipy.optimize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Linear Algebra (</a:t>
            </a:r>
            <a:r>
              <a:rPr lang="en-US" dirty="0" err="1"/>
              <a:t>scipy.linalg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Statistics &amp; Probability (</a:t>
            </a:r>
            <a:r>
              <a:rPr lang="en-US" dirty="0" err="1"/>
              <a:t>scipy.stats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Integration (</a:t>
            </a:r>
            <a:r>
              <a:rPr lang="en-US" dirty="0" err="1"/>
              <a:t>scipy.integrate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Signal Processing (</a:t>
            </a:r>
            <a:r>
              <a:rPr lang="en-US" dirty="0" err="1"/>
              <a:t>scipy.signal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FFT (Fast Fourier Transforms) (</a:t>
            </a:r>
            <a:r>
              <a:rPr lang="en-US" dirty="0" err="1"/>
              <a:t>scipy.fft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Image Processing (</a:t>
            </a:r>
            <a:r>
              <a:rPr lang="en-US" dirty="0" err="1"/>
              <a:t>scipy.ndimage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Spatial Data &amp; Geometry (</a:t>
            </a:r>
            <a:r>
              <a:rPr lang="en-US" dirty="0" err="1"/>
              <a:t>scipy.spatial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Interpolation (</a:t>
            </a:r>
            <a:r>
              <a:rPr lang="en-US" dirty="0" err="1"/>
              <a:t>scipy.interpolate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Special Functions (</a:t>
            </a:r>
            <a:r>
              <a:rPr lang="en-US" dirty="0" err="1"/>
              <a:t>scipy.special</a:t>
            </a:r>
            <a:r>
              <a:rPr lang="en-US" dirty="0"/>
              <a:t>)</a:t>
            </a:r>
          </a:p>
          <a:p>
            <a:r>
              <a:rPr lang="en-US" dirty="0"/>
              <a:t>Too much to talk about all at once.  We’ll introduce these libraries as needed.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9C9E93-A632-8F78-7DD3-0B257F989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8EB737-D667-87B0-FD88-AD9F51362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numpy, matplotlib, and pandas</a:t>
            </a:r>
            <a:endParaRPr lang="en-US">
              <a:latin typeface="+mn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1CB19D-E6AD-5E8C-2523-9145A698C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A26155-0DCC-45D2-90B6-32F65F3F6C0F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684642"/>
      </p:ext>
    </p:extLst>
  </p:cSld>
  <p:clrMapOvr>
    <a:masterClrMapping/>
  </p:clrMapOvr>
  <p:transition>
    <p:fade thruBlk="1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RSTPREBYS@7EJIGINFUVWYY57I" val="4350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>
    <a:spDef>
      <a:spPr>
        <a:noFill/>
        <a:ln>
          <a:solidFill>
            <a:srgbClr val="FF0000"/>
          </a:solidFill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FF0000"/>
          </a:solidFill>
          <a:tailEnd type="arrow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sz="1800" dirty="0" smtClean="0">
            <a:latin typeface="+mn-lt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Clarity.thmx</Template>
  <TotalTime>28266</TotalTime>
  <Words>394</Words>
  <Application>Microsoft Macintosh PowerPoint</Application>
  <PresentationFormat>On-screen Show (4:3)</PresentationFormat>
  <Paragraphs>48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Times New Roman</vt:lpstr>
      <vt:lpstr>Clarity</vt:lpstr>
      <vt:lpstr>Numpy, matplotlib, and pandas</vt:lpstr>
      <vt:lpstr>Numerical Python (numpy)</vt:lpstr>
      <vt:lpstr>Matplotlib</vt:lpstr>
      <vt:lpstr>Pandas</vt:lpstr>
      <vt:lpstr>Scientific Python (scipy)</vt:lpstr>
    </vt:vector>
  </TitlesOfParts>
  <Company>Fermilab Beams Division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Antiproton Stacking and Cooling</dc:title>
  <dc:creator>localadmin</dc:creator>
  <cp:lastModifiedBy>Eric J Prebys</cp:lastModifiedBy>
  <cp:revision>700</cp:revision>
  <cp:lastPrinted>2025-01-10T20:21:22Z</cp:lastPrinted>
  <dcterms:created xsi:type="dcterms:W3CDTF">2003-06-24T14:15:57Z</dcterms:created>
  <dcterms:modified xsi:type="dcterms:W3CDTF">2025-10-01T20:23:01Z</dcterms:modified>
</cp:coreProperties>
</file>