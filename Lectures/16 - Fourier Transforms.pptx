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4624" r:id="rId1"/>
  </p:sldMasterIdLst>
  <p:notesMasterIdLst>
    <p:notesMasterId r:id="rId18"/>
  </p:notesMasterIdLst>
  <p:handoutMasterIdLst>
    <p:handoutMasterId r:id="rId19"/>
  </p:handoutMasterIdLst>
  <p:sldIdLst>
    <p:sldId id="271" r:id="rId2"/>
    <p:sldId id="272" r:id="rId3"/>
    <p:sldId id="273" r:id="rId4"/>
    <p:sldId id="274" r:id="rId5"/>
    <p:sldId id="287" r:id="rId6"/>
    <p:sldId id="275" r:id="rId7"/>
    <p:sldId id="288" r:id="rId8"/>
    <p:sldId id="300" r:id="rId9"/>
    <p:sldId id="301" r:id="rId10"/>
    <p:sldId id="299" r:id="rId11"/>
    <p:sldId id="302" r:id="rId12"/>
    <p:sldId id="276" r:id="rId13"/>
    <p:sldId id="279" r:id="rId14"/>
    <p:sldId id="280" r:id="rId15"/>
    <p:sldId id="303" r:id="rId16"/>
    <p:sldId id="304" r:id="rId17"/>
  </p:sldIdLst>
  <p:sldSz cx="9144000" cy="6858000" type="screen4x3"/>
  <p:notesSz cx="6858000" cy="9144000"/>
  <p:custDataLst>
    <p:tags r:id="rId20"/>
  </p:custDataLst>
  <p:defaultTextStyle>
    <a:defPPr>
      <a:defRPr lang="en-US"/>
    </a:defPPr>
    <a:lvl1pPr algn="l" rtl="0" fontAlgn="base">
      <a:spcBef>
        <a:spcPct val="0"/>
      </a:spcBef>
      <a:spcAft>
        <a:spcPct val="0"/>
      </a:spcAft>
      <a:defRPr sz="3200" kern="1200">
        <a:solidFill>
          <a:schemeClr val="tx1"/>
        </a:solidFill>
        <a:latin typeface="Times New Roman" pitchFamily="18" charset="0"/>
        <a:ea typeface="+mn-ea"/>
        <a:cs typeface="+mn-cs"/>
      </a:defRPr>
    </a:lvl1pPr>
    <a:lvl2pPr marL="457200" algn="l" rtl="0" fontAlgn="base">
      <a:spcBef>
        <a:spcPct val="0"/>
      </a:spcBef>
      <a:spcAft>
        <a:spcPct val="0"/>
      </a:spcAft>
      <a:defRPr sz="3200" kern="1200">
        <a:solidFill>
          <a:schemeClr val="tx1"/>
        </a:solidFill>
        <a:latin typeface="Times New Roman" pitchFamily="18" charset="0"/>
        <a:ea typeface="+mn-ea"/>
        <a:cs typeface="+mn-cs"/>
      </a:defRPr>
    </a:lvl2pPr>
    <a:lvl3pPr marL="914400" algn="l" rtl="0" fontAlgn="base">
      <a:spcBef>
        <a:spcPct val="0"/>
      </a:spcBef>
      <a:spcAft>
        <a:spcPct val="0"/>
      </a:spcAft>
      <a:defRPr sz="3200" kern="1200">
        <a:solidFill>
          <a:schemeClr val="tx1"/>
        </a:solidFill>
        <a:latin typeface="Times New Roman" pitchFamily="18" charset="0"/>
        <a:ea typeface="+mn-ea"/>
        <a:cs typeface="+mn-cs"/>
      </a:defRPr>
    </a:lvl3pPr>
    <a:lvl4pPr marL="1371600" algn="l" rtl="0" fontAlgn="base">
      <a:spcBef>
        <a:spcPct val="0"/>
      </a:spcBef>
      <a:spcAft>
        <a:spcPct val="0"/>
      </a:spcAft>
      <a:defRPr sz="3200" kern="1200">
        <a:solidFill>
          <a:schemeClr val="tx1"/>
        </a:solidFill>
        <a:latin typeface="Times New Roman" pitchFamily="18" charset="0"/>
        <a:ea typeface="+mn-ea"/>
        <a:cs typeface="+mn-cs"/>
      </a:defRPr>
    </a:lvl4pPr>
    <a:lvl5pPr marL="1828800" algn="l" rtl="0" fontAlgn="base">
      <a:spcBef>
        <a:spcPct val="0"/>
      </a:spcBef>
      <a:spcAft>
        <a:spcPct val="0"/>
      </a:spcAft>
      <a:defRPr sz="3200" kern="1200">
        <a:solidFill>
          <a:schemeClr val="tx1"/>
        </a:solidFill>
        <a:latin typeface="Times New Roman" pitchFamily="18" charset="0"/>
        <a:ea typeface="+mn-ea"/>
        <a:cs typeface="+mn-cs"/>
      </a:defRPr>
    </a:lvl5pPr>
    <a:lvl6pPr marL="2286000" algn="l" defTabSz="914400" rtl="0" eaLnBrk="1" latinLnBrk="0" hangingPunct="1">
      <a:defRPr sz="3200" kern="1200">
        <a:solidFill>
          <a:schemeClr val="tx1"/>
        </a:solidFill>
        <a:latin typeface="Times New Roman" pitchFamily="18" charset="0"/>
        <a:ea typeface="+mn-ea"/>
        <a:cs typeface="+mn-cs"/>
      </a:defRPr>
    </a:lvl6pPr>
    <a:lvl7pPr marL="2743200" algn="l" defTabSz="914400" rtl="0" eaLnBrk="1" latinLnBrk="0" hangingPunct="1">
      <a:defRPr sz="3200" kern="1200">
        <a:solidFill>
          <a:schemeClr val="tx1"/>
        </a:solidFill>
        <a:latin typeface="Times New Roman" pitchFamily="18" charset="0"/>
        <a:ea typeface="+mn-ea"/>
        <a:cs typeface="+mn-cs"/>
      </a:defRPr>
    </a:lvl7pPr>
    <a:lvl8pPr marL="3200400" algn="l" defTabSz="914400" rtl="0" eaLnBrk="1" latinLnBrk="0" hangingPunct="1">
      <a:defRPr sz="3200" kern="1200">
        <a:solidFill>
          <a:schemeClr val="tx1"/>
        </a:solidFill>
        <a:latin typeface="Times New Roman" pitchFamily="18" charset="0"/>
        <a:ea typeface="+mn-ea"/>
        <a:cs typeface="+mn-cs"/>
      </a:defRPr>
    </a:lvl8pPr>
    <a:lvl9pPr marL="3657600" algn="l" defTabSz="914400" rtl="0" eaLnBrk="1" latinLnBrk="0" hangingPunct="1">
      <a:defRPr sz="3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4238">
          <p15:clr>
            <a:srgbClr val="A4A3A4"/>
          </p15:clr>
        </p15:guide>
        <p15:guide id="2">
          <p15:clr>
            <a:srgbClr val="A4A3A4"/>
          </p15:clr>
        </p15:guide>
        <p15:guide id="3" orient="horz" pos="362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clrMru>
    <a:srgbClr val="0239F9"/>
    <a:srgbClr val="FD6F7D"/>
    <a:srgbClr val="008000"/>
    <a:srgbClr val="CC3399"/>
    <a:srgbClr val="FF9933"/>
    <a:srgbClr val="FF9966"/>
    <a:srgbClr val="33CC33"/>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60"/>
    <p:restoredTop sz="94422"/>
  </p:normalViewPr>
  <p:slideViewPr>
    <p:cSldViewPr snapToGrid="0">
      <p:cViewPr varScale="1">
        <p:scale>
          <a:sx n="116" d="100"/>
          <a:sy n="116" d="100"/>
        </p:scale>
        <p:origin x="1736" y="152"/>
      </p:cViewPr>
      <p:guideLst>
        <p:guide orient="horz" pos="4238"/>
        <p:guide/>
        <p:guide orient="horz" pos="362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5D641E0-C0FB-FB45-BE20-B5E285E46BDA}" type="datetimeFigureOut">
              <a:rPr lang="en-US" smtClean="0"/>
              <a:t>11/26/25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CD667F-4C0A-F045-9861-4468224AED64}" type="slidenum">
              <a:rPr lang="en-US" smtClean="0"/>
              <a:t>‹#›</a:t>
            </a:fld>
            <a:endParaRPr lang="en-US"/>
          </a:p>
        </p:txBody>
      </p:sp>
    </p:spTree>
    <p:extLst>
      <p:ext uri="{BB962C8B-B14F-4D97-AF65-F5344CB8AC3E}">
        <p14:creationId xmlns:p14="http://schemas.microsoft.com/office/powerpoint/2010/main" val="364359655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40E8FAF-0EB9-4F3C-9D18-30F5214B3A3C}" type="slidenum">
              <a:rPr lang="en-US"/>
              <a:pPr>
                <a:defRPr/>
              </a:pPr>
              <a:t>‹#›</a:t>
            </a:fld>
            <a:endParaRPr lang="en-US"/>
          </a:p>
        </p:txBody>
      </p:sp>
    </p:spTree>
    <p:extLst>
      <p:ext uri="{BB962C8B-B14F-4D97-AF65-F5344CB8AC3E}">
        <p14:creationId xmlns:p14="http://schemas.microsoft.com/office/powerpoint/2010/main" val="142916878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448882"/>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5582482"/>
            <a:ext cx="6400800" cy="554404"/>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Phy 40, Fall 2025</a:t>
            </a:r>
          </a:p>
        </p:txBody>
      </p:sp>
      <p:sp>
        <p:nvSpPr>
          <p:cNvPr id="5" name="Footer Placeholder 4"/>
          <p:cNvSpPr>
            <a:spLocks noGrp="1"/>
          </p:cNvSpPr>
          <p:nvPr>
            <p:ph type="ftr" sz="quarter" idx="11"/>
          </p:nvPr>
        </p:nvSpPr>
        <p:spPr/>
        <p:txBody>
          <a:bodyPr/>
          <a:lstStyle/>
          <a:p>
            <a:r>
              <a:rPr lang="en-US"/>
              <a:t>Fast Fourier Transforms</a:t>
            </a:r>
          </a:p>
        </p:txBody>
      </p:sp>
      <p:sp>
        <p:nvSpPr>
          <p:cNvPr id="6" name="Slide Number Placeholder 5"/>
          <p:cNvSpPr>
            <a:spLocks noGrp="1"/>
          </p:cNvSpPr>
          <p:nvPr>
            <p:ph type="sldNum" sz="quarter" idx="12"/>
          </p:nvPr>
        </p:nvSpPr>
        <p:spPr/>
        <p:txBody>
          <a:bodyPr/>
          <a:lstStyle/>
          <a:p>
            <a:fld id="{D739C4FB-7D33-419B-8833-D1372BFD11C8}" type="slidenum">
              <a:rPr lang="en-US" smtClean="0"/>
              <a:t>‹#›</a:t>
            </a:fld>
            <a:endParaRPr lang="en-US"/>
          </a:p>
        </p:txBody>
      </p:sp>
      <p:cxnSp>
        <p:nvCxnSpPr>
          <p:cNvPr id="8" name="Straight Connector 7"/>
          <p:cNvCxnSpPr/>
          <p:nvPr/>
        </p:nvCxnSpPr>
        <p:spPr>
          <a:xfrm flipV="1">
            <a:off x="294106" y="5472156"/>
            <a:ext cx="8643661" cy="364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a:t>
            </a:fld>
            <a:endParaRPr lang="en-US"/>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Phy 40, Fall 2025</a:t>
            </a:r>
          </a:p>
        </p:txBody>
      </p:sp>
      <p:sp>
        <p:nvSpPr>
          <p:cNvPr id="5" name="Footer Placeholder 4"/>
          <p:cNvSpPr>
            <a:spLocks noGrp="1"/>
          </p:cNvSpPr>
          <p:nvPr>
            <p:ph type="ftr" sz="quarter" idx="11"/>
          </p:nvPr>
        </p:nvSpPr>
        <p:spPr/>
        <p:txBody>
          <a:bodyPr/>
          <a:lstStyle/>
          <a:p>
            <a:r>
              <a:rPr lang="en-US"/>
              <a:t>Fast Fourier Transforms</a:t>
            </a:r>
          </a:p>
        </p:txBody>
      </p:sp>
      <p:sp>
        <p:nvSpPr>
          <p:cNvPr id="6" name="Slide Number Placeholder 5"/>
          <p:cNvSpPr>
            <a:spLocks noGrp="1"/>
          </p:cNvSpPr>
          <p:nvPr>
            <p:ph type="sldNum" sz="quarter" idx="12"/>
          </p:nvPr>
        </p:nvSpPr>
        <p:spPr/>
        <p:txBody>
          <a:bodyPr/>
          <a:lstStyle/>
          <a:p>
            <a:fld id="{D7E63A33-8271-4DD0-9C48-789913D7C115}"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143000"/>
            <a:ext cx="4038600" cy="52486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143000"/>
            <a:ext cx="4038600" cy="52486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r>
              <a:rPr lang="en-US"/>
              <a:t>Phy 40, Fall 2025</a:t>
            </a:r>
            <a:endParaRPr lang="en-US" dirty="0"/>
          </a:p>
        </p:txBody>
      </p:sp>
      <p:sp>
        <p:nvSpPr>
          <p:cNvPr id="6" name="Footer Placeholder 5"/>
          <p:cNvSpPr>
            <a:spLocks noGrp="1"/>
          </p:cNvSpPr>
          <p:nvPr>
            <p:ph type="ftr" sz="quarter" idx="11"/>
          </p:nvPr>
        </p:nvSpPr>
        <p:spPr/>
        <p:txBody>
          <a:bodyPr/>
          <a:lstStyle/>
          <a:p>
            <a:pPr>
              <a:defRPr/>
            </a:pPr>
            <a:r>
              <a:rPr lang="en-US"/>
              <a:t>Fast Fourier Transforms</a:t>
            </a:r>
            <a:endParaRPr lang="en-US">
              <a:latin typeface="+mn-lt"/>
            </a:endParaRPr>
          </a:p>
        </p:txBody>
      </p:sp>
      <p:sp>
        <p:nvSpPr>
          <p:cNvPr id="7" name="Slide Number Placeholder 6"/>
          <p:cNvSpPr>
            <a:spLocks noGrp="1"/>
          </p:cNvSpPr>
          <p:nvPr>
            <p:ph type="sldNum" sz="quarter" idx="12"/>
          </p:nvPr>
        </p:nvSpPr>
        <p:spPr/>
        <p:txBody>
          <a:bodyPr/>
          <a:lstStyle/>
          <a:p>
            <a:pPr>
              <a:defRPr/>
            </a:pPr>
            <a:fld id="{8D914655-DFE5-45AD-AEB7-B6324F535D89}" type="slidenum">
              <a:rPr lang="en-US" smtClean="0"/>
              <a:pPr>
                <a:defRPr/>
              </a:pPr>
              <a:t>‹#›</a:t>
            </a:fld>
            <a:endParaRPr lang="en-US"/>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r>
              <a:rPr lang="en-US"/>
              <a:t>Phy 40, Fall 2025</a:t>
            </a:r>
            <a:endParaRPr lang="en-US" dirty="0"/>
          </a:p>
        </p:txBody>
      </p:sp>
      <p:sp>
        <p:nvSpPr>
          <p:cNvPr id="8" name="Footer Placeholder 7"/>
          <p:cNvSpPr>
            <a:spLocks noGrp="1"/>
          </p:cNvSpPr>
          <p:nvPr>
            <p:ph type="ftr" sz="quarter" idx="11"/>
          </p:nvPr>
        </p:nvSpPr>
        <p:spPr/>
        <p:txBody>
          <a:bodyPr/>
          <a:lstStyle/>
          <a:p>
            <a:pPr>
              <a:defRPr/>
            </a:pPr>
            <a:r>
              <a:rPr lang="en-US"/>
              <a:t>Fast Fourier Transforms</a:t>
            </a:r>
            <a:endParaRPr lang="en-US">
              <a:latin typeface="+mn-lt"/>
            </a:endParaRPr>
          </a:p>
        </p:txBody>
      </p:sp>
      <p:sp>
        <p:nvSpPr>
          <p:cNvPr id="9" name="Slide Number Placeholder 8"/>
          <p:cNvSpPr>
            <a:spLocks noGrp="1"/>
          </p:cNvSpPr>
          <p:nvPr>
            <p:ph type="sldNum" sz="quarter" idx="12"/>
          </p:nvPr>
        </p:nvSpPr>
        <p:spPr/>
        <p:txBody>
          <a:bodyPr/>
          <a:lstStyle/>
          <a:p>
            <a:pPr>
              <a:defRPr/>
            </a:pPr>
            <a:fld id="{71013A5A-BD10-4E42-8EDD-42C4A14A642B}" type="slidenum">
              <a:rPr lang="en-US" smtClean="0"/>
              <a:pPr>
                <a:defRPr/>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Phy 40, Fall 2025</a:t>
            </a:r>
            <a:endParaRPr lang="en-US" dirty="0"/>
          </a:p>
        </p:txBody>
      </p:sp>
      <p:sp>
        <p:nvSpPr>
          <p:cNvPr id="4" name="Footer Placeholder 3"/>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a:t>
            </a:fld>
            <a:endParaRPr lang="en-US"/>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Phy 40, Fall 2025</a:t>
            </a:r>
            <a:endParaRPr lang="en-US" dirty="0"/>
          </a:p>
        </p:txBody>
      </p:sp>
      <p:sp>
        <p:nvSpPr>
          <p:cNvPr id="3" name="Footer Placeholder 2"/>
          <p:cNvSpPr>
            <a:spLocks noGrp="1"/>
          </p:cNvSpPr>
          <p:nvPr>
            <p:ph type="ftr" sz="quarter" idx="11"/>
          </p:nvPr>
        </p:nvSpPr>
        <p:spPr/>
        <p:txBody>
          <a:bodyPr/>
          <a:lstStyle/>
          <a:p>
            <a:pPr>
              <a:defRPr/>
            </a:pPr>
            <a:r>
              <a:rPr lang="en-US"/>
              <a:t>Fast Fourier Transforms</a:t>
            </a:r>
            <a:endParaRPr lang="en-US">
              <a:latin typeface="+mn-lt"/>
            </a:endParaRPr>
          </a:p>
        </p:txBody>
      </p:sp>
      <p:sp>
        <p:nvSpPr>
          <p:cNvPr id="4" name="Slide Number Placeholder 3"/>
          <p:cNvSpPr>
            <a:spLocks noGrp="1"/>
          </p:cNvSpPr>
          <p:nvPr>
            <p:ph type="sldNum" sz="quarter" idx="12"/>
          </p:nvPr>
        </p:nvSpPr>
        <p:spPr/>
        <p:txBody>
          <a:bodyPr/>
          <a:lstStyle/>
          <a:p>
            <a:pPr>
              <a:defRPr/>
            </a:pPr>
            <a:fld id="{7A871096-0617-41A5-9758-D80165640925}" type="slidenum">
              <a:rPr lang="en-US" smtClean="0"/>
              <a:pPr>
                <a:defRPr/>
              </a:pPr>
              <a:t>‹#›</a:t>
            </a:fld>
            <a:endParaRPr lang="en-US"/>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Phy 40, Fall 2025</a:t>
            </a:r>
            <a:endParaRPr lang="en-US" dirty="0"/>
          </a:p>
        </p:txBody>
      </p:sp>
      <p:sp>
        <p:nvSpPr>
          <p:cNvPr id="6" name="Footer Placeholder 5"/>
          <p:cNvSpPr>
            <a:spLocks noGrp="1"/>
          </p:cNvSpPr>
          <p:nvPr>
            <p:ph type="ftr" sz="quarter" idx="11"/>
          </p:nvPr>
        </p:nvSpPr>
        <p:spPr/>
        <p:txBody>
          <a:bodyPr/>
          <a:lstStyle/>
          <a:p>
            <a:pPr>
              <a:defRPr/>
            </a:pPr>
            <a:r>
              <a:rPr lang="en-US"/>
              <a:t>Fast Fourier Transforms</a:t>
            </a:r>
            <a:endParaRPr lang="en-US">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Phy 40, Fall 2025</a:t>
            </a:r>
          </a:p>
        </p:txBody>
      </p:sp>
      <p:sp>
        <p:nvSpPr>
          <p:cNvPr id="6" name="Footer Placeholder 5"/>
          <p:cNvSpPr>
            <a:spLocks noGrp="1"/>
          </p:cNvSpPr>
          <p:nvPr>
            <p:ph type="ftr" sz="quarter" idx="11"/>
          </p:nvPr>
        </p:nvSpPr>
        <p:spPr/>
        <p:txBody>
          <a:bodyPr/>
          <a:lstStyle/>
          <a:p>
            <a:pPr>
              <a:defRPr/>
            </a:pPr>
            <a:r>
              <a:rPr lang="en-US"/>
              <a:t>Fast Fourier Transforms</a:t>
            </a:r>
            <a:endParaRPr lang="en-US">
              <a:latin typeface="+mn-lt"/>
            </a:endParaRPr>
          </a:p>
        </p:txBody>
      </p:sp>
      <p:sp>
        <p:nvSpPr>
          <p:cNvPr id="7" name="Slide Number Placeholder 6"/>
          <p:cNvSpPr>
            <a:spLocks noGrp="1"/>
          </p:cNvSpPr>
          <p:nvPr>
            <p:ph type="sldNum" sz="quarter" idx="12"/>
          </p:nvPr>
        </p:nvSpPr>
        <p:spPr/>
        <p:txBody>
          <a:bodyPr/>
          <a:lstStyle/>
          <a:p>
            <a:pPr>
              <a:defRPr/>
            </a:pPr>
            <a:fld id="{F58A0D8F-9A19-4D03-8318-653C6FCD8B95}" type="slidenum">
              <a:rPr lang="en-US" smtClean="0"/>
              <a:pPr>
                <a:defRPr/>
              </a:pPr>
              <a:t>‹#›</a:t>
            </a:fld>
            <a:endParaRPr lang="en-US"/>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p:cNvSpPr>
            <a:spLocks noGrp="1"/>
          </p:cNvSpPr>
          <p:nvPr>
            <p:ph type="sldNum" sz="quarter" idx="12"/>
          </p:nvPr>
        </p:nvSpPr>
        <p:spPr/>
        <p:txBody>
          <a:bodyPr/>
          <a:lstStyle/>
          <a:p>
            <a:pPr>
              <a:defRPr/>
            </a:pPr>
            <a:fld id="{8309CFA1-B09C-442F-85C3-919131D33D24}" type="slidenum">
              <a:rPr lang="en-US" smtClean="0"/>
              <a:pPr>
                <a:defRPr/>
              </a:pPr>
              <a:t>‹#›</a:t>
            </a:fld>
            <a:endParaRPr lang="en-US"/>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r>
              <a:rPr lang="en-US"/>
              <a:t>Phy 40, Fall 2025</a:t>
            </a:r>
          </a:p>
        </p:txBody>
      </p:sp>
      <p:sp>
        <p:nvSpPr>
          <p:cNvPr id="5" name="Footer Placeholder 4"/>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p:cNvSpPr>
            <a:spLocks noGrp="1"/>
          </p:cNvSpPr>
          <p:nvPr>
            <p:ph type="sldNum" sz="quarter" idx="12"/>
          </p:nvPr>
        </p:nvSpPr>
        <p:spPr/>
        <p:txBody>
          <a:bodyPr/>
          <a:lstStyle/>
          <a:p>
            <a:pPr>
              <a:defRPr/>
            </a:pPr>
            <a:fld id="{05B137E2-35D0-4667-9362-8260FF57AB09}" type="slidenum">
              <a:rPr lang="en-US" smtClean="0"/>
              <a:pPr>
                <a:defRPr/>
              </a:pPr>
              <a:t>‹#›</a:t>
            </a:fld>
            <a:endParaRPr lang="en-US"/>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41713" y="471448"/>
            <a:ext cx="8229600" cy="6282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41713" y="1182021"/>
            <a:ext cx="8229600" cy="544172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pPr>
              <a:defRPr/>
            </a:pPr>
            <a:r>
              <a:rPr lang="en-US"/>
              <a:t>Phy 40, Fall 2025</a:t>
            </a:r>
            <a:endParaRPr lang="en-US" dirty="0"/>
          </a:p>
        </p:txBody>
      </p:sp>
      <p:sp>
        <p:nvSpPr>
          <p:cNvPr id="5" name="Footer Placeholder 4"/>
          <p:cNvSpPr>
            <a:spLocks noGrp="1"/>
          </p:cNvSpPr>
          <p:nvPr>
            <p:ph type="ftr" sz="quarter" idx="3"/>
          </p:nvPr>
        </p:nvSpPr>
        <p:spPr>
          <a:xfrm>
            <a:off x="3429000" y="18288"/>
            <a:ext cx="4409440" cy="329184"/>
          </a:xfrm>
          <a:prstGeom prst="rect">
            <a:avLst/>
          </a:prstGeom>
        </p:spPr>
        <p:txBody>
          <a:bodyPr vert="horz" lIns="91440" tIns="45720" rIns="91440" bIns="45720" rtlCol="0" anchor="ctr"/>
          <a:lstStyle>
            <a:lvl1pPr algn="ctr">
              <a:defRPr sz="1200">
                <a:solidFill>
                  <a:srgbClr val="FFFFFF"/>
                </a:solidFill>
              </a:defRPr>
            </a:lvl1pPr>
          </a:lstStyle>
          <a:p>
            <a:pPr>
              <a:defRPr/>
            </a:pPr>
            <a:r>
              <a:rPr lang="en-US"/>
              <a:t>Fast Fourier Transforms</a:t>
            </a:r>
            <a:endParaRPr lang="en-US" dirty="0">
              <a:latin typeface="+mn-lt"/>
            </a:endParaRPr>
          </a:p>
        </p:txBody>
      </p:sp>
      <p:sp>
        <p:nvSpPr>
          <p:cNvPr id="6" name="Slide Number Placeholder 5"/>
          <p:cNvSpPr>
            <a:spLocks noGrp="1"/>
          </p:cNvSpPr>
          <p:nvPr>
            <p:ph type="sldNum" sz="quarter" idx="4"/>
          </p:nvPr>
        </p:nvSpPr>
        <p:spPr>
          <a:xfrm>
            <a:off x="7909560" y="18288"/>
            <a:ext cx="777240" cy="329184"/>
          </a:xfrm>
          <a:prstGeom prst="rect">
            <a:avLst/>
          </a:prstGeom>
        </p:spPr>
        <p:txBody>
          <a:bodyPr vert="horz" lIns="91440" tIns="45720" rIns="91440" bIns="45720" rtlCol="0" anchor="ctr"/>
          <a:lstStyle>
            <a:lvl1pPr algn="l">
              <a:defRPr sz="1400" b="1">
                <a:solidFill>
                  <a:srgbClr val="FFFFFF"/>
                </a:solidFill>
              </a:defRPr>
            </a:lvl1pPr>
          </a:lstStyle>
          <a:p>
            <a:pPr>
              <a:defRPr/>
            </a:pPr>
            <a:fld id="{61210FB4-E372-466D-A3EB-21FD966A10F2}" type="slidenum">
              <a:rPr lang="en-US" smtClean="0"/>
              <a:pPr>
                <a:defRPr/>
              </a:pPr>
              <a:t>‹#›</a:t>
            </a:fld>
            <a:endParaRPr lang="en-US" dirty="0"/>
          </a:p>
        </p:txBody>
      </p:sp>
      <p:sp>
        <p:nvSpPr>
          <p:cNvPr id="9" name="Text Box 11"/>
          <p:cNvSpPr txBox="1">
            <a:spLocks noChangeArrowheads="1"/>
          </p:cNvSpPr>
          <p:nvPr userDrawn="1"/>
        </p:nvSpPr>
        <p:spPr bwMode="auto">
          <a:xfrm>
            <a:off x="381000" y="6553200"/>
            <a:ext cx="1676400" cy="579438"/>
          </a:xfrm>
          <a:prstGeom prst="rect">
            <a:avLst/>
          </a:prstGeom>
          <a:noFill/>
          <a:ln w="9525">
            <a:noFill/>
            <a:miter lim="800000"/>
            <a:headEnd/>
            <a:tailEnd/>
          </a:ln>
          <a:effectLst/>
        </p:spPr>
        <p:txBody>
          <a:bodyPr>
            <a:spAutoFit/>
          </a:bodyPr>
          <a:lstStyle/>
          <a:p>
            <a:pPr>
              <a:spcBef>
                <a:spcPct val="50000"/>
              </a:spcBef>
              <a:defRPr/>
            </a:pPr>
            <a:endParaRPr lang="en-US"/>
          </a:p>
        </p:txBody>
      </p:sp>
      <p:pic>
        <p:nvPicPr>
          <p:cNvPr id="13" name="Picture 12"/>
          <p:cNvPicPr>
            <a:picLocks noChangeAspect="1"/>
          </p:cNvPicPr>
          <p:nvPr userDrawn="1"/>
        </p:nvPicPr>
        <p:blipFill>
          <a:blip r:embed="rId13"/>
          <a:stretch>
            <a:fillRect/>
          </a:stretch>
        </p:blipFill>
        <p:spPr>
          <a:xfrm>
            <a:off x="8781336" y="1"/>
            <a:ext cx="362663" cy="370830"/>
          </a:xfrm>
          <a:prstGeom prst="rect">
            <a:avLst/>
          </a:prstGeom>
        </p:spPr>
      </p:pic>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Lst>
  <p:transition>
    <p:fade thruBlk="1"/>
  </p:transition>
  <p:hf hdr="0"/>
  <p:txStyles>
    <p:titleStyle>
      <a:lvl1pPr algn="l" defTabSz="914400" rtl="0" eaLnBrk="1" latinLnBrk="0" hangingPunct="1">
        <a:spcBef>
          <a:spcPct val="0"/>
        </a:spcBef>
        <a:buNone/>
        <a:defRPr sz="32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3.emf"/><Relationship Id="rId3" Type="http://schemas.openxmlformats.org/officeDocument/2006/relationships/image" Target="../media/image8.emf"/><Relationship Id="rId7" Type="http://schemas.openxmlformats.org/officeDocument/2006/relationships/image" Target="../media/image10.emf"/><Relationship Id="rId12" Type="http://schemas.openxmlformats.org/officeDocument/2006/relationships/oleObject" Target="../embeddings/oleObject9.bin"/><Relationship Id="rId17" Type="http://schemas.openxmlformats.org/officeDocument/2006/relationships/image" Target="../media/image15.emf"/><Relationship Id="rId2" Type="http://schemas.openxmlformats.org/officeDocument/2006/relationships/oleObject" Target="../embeddings/oleObject4.bin"/><Relationship Id="rId16" Type="http://schemas.openxmlformats.org/officeDocument/2006/relationships/oleObject" Target="../embeddings/oleObject11.bin"/><Relationship Id="rId1" Type="http://schemas.openxmlformats.org/officeDocument/2006/relationships/slideLayout" Target="../slideLayouts/slideLayout6.xml"/><Relationship Id="rId6" Type="http://schemas.openxmlformats.org/officeDocument/2006/relationships/oleObject" Target="../embeddings/oleObject6.bin"/><Relationship Id="rId11" Type="http://schemas.openxmlformats.org/officeDocument/2006/relationships/image" Target="../media/image12.emf"/><Relationship Id="rId5" Type="http://schemas.openxmlformats.org/officeDocument/2006/relationships/image" Target="../media/image9.emf"/><Relationship Id="rId15" Type="http://schemas.openxmlformats.org/officeDocument/2006/relationships/image" Target="../media/image14.e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1.emf"/><Relationship Id="rId14"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6.emf"/><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7.emf"/></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6.xml"/><Relationship Id="rId4" Type="http://schemas.openxmlformats.org/officeDocument/2006/relationships/image" Target="../media/image21.gif"/></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emf"/><Relationship Id="rId7" Type="http://schemas.openxmlformats.org/officeDocument/2006/relationships/image" Target="../media/image32.emf"/><Relationship Id="rId2" Type="http://schemas.openxmlformats.org/officeDocument/2006/relationships/oleObject" Target="../embeddings/oleObject13.bin"/><Relationship Id="rId1" Type="http://schemas.openxmlformats.org/officeDocument/2006/relationships/slideLayout" Target="../slideLayouts/slideLayout6.xml"/><Relationship Id="rId6" Type="http://schemas.openxmlformats.org/officeDocument/2006/relationships/oleObject" Target="../embeddings/oleObject15.bin"/><Relationship Id="rId5" Type="http://schemas.openxmlformats.org/officeDocument/2006/relationships/image" Target="../media/image31.emf"/><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16.bin"/><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35.emf"/><Relationship Id="rId7" Type="http://schemas.openxmlformats.org/officeDocument/2006/relationships/image" Target="../media/image37.e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36.emf"/><Relationship Id="rId4" Type="http://schemas.openxmlformats.org/officeDocument/2006/relationships/oleObject" Target="../embeddings/oleObject19.bin"/><Relationship Id="rId9" Type="http://schemas.openxmlformats.org/officeDocument/2006/relationships/image" Target="../media/image38.emf"/></Relationships>
</file>

<file path=ppt/slides/_rels/slide1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 Id="rId4" Type="http://schemas.openxmlformats.org/officeDocument/2006/relationships/image" Target="../media/image41.emf"/></Relationships>
</file>

<file path=ppt/slides/_rels/slide1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 Id="rId4" Type="http://schemas.openxmlformats.org/officeDocument/2006/relationships/image" Target="../media/image4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ctrTitle"/>
          </p:nvPr>
        </p:nvSpPr>
        <p:spPr>
          <a:xfrm>
            <a:off x="269575" y="2192572"/>
            <a:ext cx="8465346" cy="900608"/>
          </a:xfrm>
        </p:spPr>
        <p:txBody>
          <a:bodyPr/>
          <a:lstStyle/>
          <a:p>
            <a:pPr eaLnBrk="1" hangingPunct="1">
              <a:defRPr/>
            </a:pPr>
            <a:r>
              <a:rPr lang="en-US" dirty="0"/>
              <a:t>Frequency Space and Fourier Transforms</a:t>
            </a:r>
          </a:p>
        </p:txBody>
      </p:sp>
      <p:sp>
        <p:nvSpPr>
          <p:cNvPr id="8195" name="Rectangle 5"/>
          <p:cNvSpPr>
            <a:spLocks noGrp="1" noChangeArrowheads="1"/>
          </p:cNvSpPr>
          <p:nvPr>
            <p:ph type="subTitle" idx="1"/>
          </p:nvPr>
        </p:nvSpPr>
        <p:spPr>
          <a:xfrm>
            <a:off x="266816" y="5547869"/>
            <a:ext cx="6400800" cy="527762"/>
          </a:xfrm>
        </p:spPr>
        <p:txBody>
          <a:bodyPr/>
          <a:lstStyle/>
          <a:p>
            <a:pPr eaLnBrk="1" hangingPunct="1"/>
            <a:r>
              <a:rPr lang="en-US" dirty="0"/>
              <a:t>Eric Prebys</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Discrete Transformations</a:t>
            </a:r>
          </a:p>
        </p:txBody>
      </p:sp>
      <p:sp>
        <p:nvSpPr>
          <p:cNvPr id="3" name="Content Placeholder 2"/>
          <p:cNvSpPr>
            <a:spLocks noGrp="1"/>
          </p:cNvSpPr>
          <p:nvPr>
            <p:ph idx="1"/>
          </p:nvPr>
        </p:nvSpPr>
        <p:spPr>
          <a:xfrm>
            <a:off x="441713" y="1182022"/>
            <a:ext cx="8229600" cy="919712"/>
          </a:xfrm>
        </p:spPr>
        <p:txBody>
          <a:bodyPr/>
          <a:lstStyle/>
          <a:p>
            <a:r>
              <a:rPr lang="en-US" dirty="0"/>
              <a:t>In general, we can express any periodic function as sum of sines and cosines</a:t>
            </a:r>
          </a:p>
          <a:p>
            <a:endParaRPr lang="en-US" dirty="0"/>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2</a:t>
            </a:fld>
            <a:endParaRPr lang="en-US"/>
          </a:p>
        </p:txBody>
      </p:sp>
      <p:pic>
        <p:nvPicPr>
          <p:cNvPr id="7" name="Picture 6"/>
          <p:cNvPicPr>
            <a:picLocks noChangeAspect="1"/>
          </p:cNvPicPr>
          <p:nvPr/>
        </p:nvPicPr>
        <p:blipFill>
          <a:blip r:embed="rId2"/>
          <a:stretch>
            <a:fillRect/>
          </a:stretch>
        </p:blipFill>
        <p:spPr>
          <a:xfrm>
            <a:off x="192566" y="2233318"/>
            <a:ext cx="4887129" cy="2785277"/>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4035377073"/>
              </p:ext>
            </p:extLst>
          </p:nvPr>
        </p:nvGraphicFramePr>
        <p:xfrm>
          <a:off x="5243931" y="2583608"/>
          <a:ext cx="3643746" cy="2364224"/>
        </p:xfrm>
        <a:graphic>
          <a:graphicData uri="http://schemas.openxmlformats.org/presentationml/2006/ole">
            <mc:AlternateContent xmlns:mc="http://schemas.openxmlformats.org/markup-compatibility/2006">
              <mc:Choice xmlns:v="urn:schemas-microsoft-com:vml" Requires="v">
                <p:oleObj name="Equation" r:id="rId3" imgW="2387600" imgH="1549400" progId="Equation.DSMT4">
                  <p:embed/>
                </p:oleObj>
              </mc:Choice>
              <mc:Fallback>
                <p:oleObj name="Equation" r:id="rId3" imgW="2387600" imgH="1549400" progId="Equation.DSMT4">
                  <p:embed/>
                  <p:pic>
                    <p:nvPicPr>
                      <p:cNvPr id="0" name=""/>
                      <p:cNvPicPr/>
                      <p:nvPr/>
                    </p:nvPicPr>
                    <p:blipFill>
                      <a:blip r:embed="rId4"/>
                      <a:stretch>
                        <a:fillRect/>
                      </a:stretch>
                    </p:blipFill>
                    <p:spPr>
                      <a:xfrm>
                        <a:off x="5243931" y="2583608"/>
                        <a:ext cx="3643746" cy="2364224"/>
                      </a:xfrm>
                      <a:prstGeom prst="rect">
                        <a:avLst/>
                      </a:prstGeom>
                    </p:spPr>
                  </p:pic>
                </p:oleObj>
              </mc:Fallback>
            </mc:AlternateContent>
          </a:graphicData>
        </a:graphic>
      </p:graphicFrame>
      <p:sp>
        <p:nvSpPr>
          <p:cNvPr id="9" name="TextBox 8"/>
          <p:cNvSpPr txBox="1"/>
          <p:nvPr/>
        </p:nvSpPr>
        <p:spPr>
          <a:xfrm>
            <a:off x="5302024" y="5545353"/>
            <a:ext cx="3193329" cy="461665"/>
          </a:xfrm>
          <a:prstGeom prst="rect">
            <a:avLst/>
          </a:prstGeom>
          <a:noFill/>
        </p:spPr>
        <p:txBody>
          <a:bodyPr wrap="square" rtlCol="0">
            <a:spAutoFit/>
          </a:bodyPr>
          <a:lstStyle/>
          <a:p>
            <a:pPr algn="ctr"/>
            <a:r>
              <a:rPr lang="en-US" sz="2400" dirty="0"/>
              <a:t>Fourier Series</a:t>
            </a:r>
          </a:p>
        </p:txBody>
      </p:sp>
    </p:spTree>
    <p:extLst>
      <p:ext uri="{BB962C8B-B14F-4D97-AF65-F5344CB8AC3E}">
        <p14:creationId xmlns:p14="http://schemas.microsoft.com/office/powerpoint/2010/main" val="3363303174"/>
      </p:ext>
    </p:extLst>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 Sum and Product Rules</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3</a:t>
            </a:fld>
            <a:endParaRPr lang="en-US"/>
          </a:p>
        </p:txBody>
      </p:sp>
      <p:pic>
        <p:nvPicPr>
          <p:cNvPr id="7" name="Picture 6"/>
          <p:cNvPicPr>
            <a:picLocks noChangeAspect="1"/>
          </p:cNvPicPr>
          <p:nvPr/>
        </p:nvPicPr>
        <p:blipFill>
          <a:blip r:embed="rId2"/>
          <a:stretch>
            <a:fillRect/>
          </a:stretch>
        </p:blipFill>
        <p:spPr>
          <a:xfrm>
            <a:off x="1823670" y="1315489"/>
            <a:ext cx="5757732" cy="1786547"/>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3024543207"/>
              </p:ext>
            </p:extLst>
          </p:nvPr>
        </p:nvGraphicFramePr>
        <p:xfrm>
          <a:off x="387350" y="3559175"/>
          <a:ext cx="8472488" cy="1922463"/>
        </p:xfrm>
        <a:graphic>
          <a:graphicData uri="http://schemas.openxmlformats.org/presentationml/2006/ole">
            <mc:AlternateContent xmlns:mc="http://schemas.openxmlformats.org/markup-compatibility/2006">
              <mc:Choice xmlns:v="urn:schemas-microsoft-com:vml" Requires="v">
                <p:oleObj name="Equation" r:id="rId3" imgW="3911600" imgH="889000" progId="Equation.DSMT4">
                  <p:embed/>
                </p:oleObj>
              </mc:Choice>
              <mc:Fallback>
                <p:oleObj name="Equation" r:id="rId3" imgW="3911600" imgH="889000" progId="Equation.DSMT4">
                  <p:embed/>
                  <p:pic>
                    <p:nvPicPr>
                      <p:cNvPr id="0" name=""/>
                      <p:cNvPicPr/>
                      <p:nvPr/>
                    </p:nvPicPr>
                    <p:blipFill>
                      <a:blip r:embed="rId4"/>
                      <a:stretch>
                        <a:fillRect/>
                      </a:stretch>
                    </p:blipFill>
                    <p:spPr>
                      <a:xfrm>
                        <a:off x="387350" y="3559175"/>
                        <a:ext cx="8472488" cy="1922463"/>
                      </a:xfrm>
                      <a:prstGeom prst="rect">
                        <a:avLst/>
                      </a:prstGeom>
                    </p:spPr>
                  </p:pic>
                </p:oleObj>
              </mc:Fallback>
            </mc:AlternateContent>
          </a:graphicData>
        </a:graphic>
      </p:graphicFrame>
    </p:spTree>
    <p:extLst>
      <p:ext uri="{BB962C8B-B14F-4D97-AF65-F5344CB8AC3E}">
        <p14:creationId xmlns:p14="http://schemas.microsoft.com/office/powerpoint/2010/main" val="2968968150"/>
      </p:ext>
    </p:extLst>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Extracting the Coefficients</a:t>
            </a:r>
          </a:p>
        </p:txBody>
      </p:sp>
      <p:sp>
        <p:nvSpPr>
          <p:cNvPr id="3" name="Date Placeholder 2"/>
          <p:cNvSpPr>
            <a:spLocks noGrp="1"/>
          </p:cNvSpPr>
          <p:nvPr>
            <p:ph type="dt" sz="half" idx="10"/>
          </p:nvPr>
        </p:nvSpPr>
        <p:spPr/>
        <p:txBody>
          <a:bodyPr/>
          <a:lstStyle/>
          <a:p>
            <a:pPr>
              <a:defRPr/>
            </a:pPr>
            <a:r>
              <a:rPr lang="en-US"/>
              <a:t>Phy 40, Fall 2025</a:t>
            </a:r>
            <a:endParaRPr lang="en-US" dirty="0"/>
          </a:p>
        </p:txBody>
      </p:sp>
      <p:sp>
        <p:nvSpPr>
          <p:cNvPr id="4" name="Footer Placeholder 3"/>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4</a:t>
            </a:fld>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1018121445"/>
              </p:ext>
            </p:extLst>
          </p:nvPr>
        </p:nvGraphicFramePr>
        <p:xfrm>
          <a:off x="-71438" y="1463675"/>
          <a:ext cx="9234488" cy="3101975"/>
        </p:xfrm>
        <a:graphic>
          <a:graphicData uri="http://schemas.openxmlformats.org/presentationml/2006/ole">
            <mc:AlternateContent xmlns:mc="http://schemas.openxmlformats.org/markup-compatibility/2006">
              <mc:Choice xmlns:v="urn:schemas-microsoft-com:vml" Requires="v">
                <p:oleObj name="Equation" r:id="rId2" imgW="4305300" imgH="1447800" progId="Equation.DSMT4">
                  <p:embed/>
                </p:oleObj>
              </mc:Choice>
              <mc:Fallback>
                <p:oleObj name="Equation" r:id="rId2" imgW="4305300" imgH="1447800" progId="Equation.DSMT4">
                  <p:embed/>
                  <p:pic>
                    <p:nvPicPr>
                      <p:cNvPr id="0" name=""/>
                      <p:cNvPicPr/>
                      <p:nvPr/>
                    </p:nvPicPr>
                    <p:blipFill>
                      <a:blip r:embed="rId3"/>
                      <a:stretch>
                        <a:fillRect/>
                      </a:stretch>
                    </p:blipFill>
                    <p:spPr>
                      <a:xfrm>
                        <a:off x="-71438" y="1463675"/>
                        <a:ext cx="9234488" cy="3101975"/>
                      </a:xfrm>
                      <a:prstGeom prst="rect">
                        <a:avLst/>
                      </a:prstGeom>
                    </p:spPr>
                  </p:pic>
                </p:oleObj>
              </mc:Fallback>
            </mc:AlternateContent>
          </a:graphicData>
        </a:graphic>
      </p:graphicFrame>
      <p:sp>
        <p:nvSpPr>
          <p:cNvPr id="7" name="TextBox 6"/>
          <p:cNvSpPr txBox="1"/>
          <p:nvPr/>
        </p:nvSpPr>
        <p:spPr>
          <a:xfrm>
            <a:off x="2276578" y="4639996"/>
            <a:ext cx="4208753" cy="369332"/>
          </a:xfrm>
          <a:prstGeom prst="rect">
            <a:avLst/>
          </a:prstGeom>
          <a:noFill/>
        </p:spPr>
        <p:txBody>
          <a:bodyPr wrap="square" rtlCol="0">
            <a:spAutoFit/>
          </a:bodyPr>
          <a:lstStyle/>
          <a:p>
            <a:pPr algn="ctr"/>
            <a:r>
              <a:rPr lang="en-US" dirty="0"/>
              <a:t>Fourier Transform</a:t>
            </a:r>
          </a:p>
        </p:txBody>
      </p:sp>
    </p:spTree>
    <p:extLst>
      <p:ext uri="{BB962C8B-B14F-4D97-AF65-F5344CB8AC3E}">
        <p14:creationId xmlns:p14="http://schemas.microsoft.com/office/powerpoint/2010/main" val="516896445"/>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A7BE9-5AEB-B44B-8328-9A1278B62BA1}"/>
              </a:ext>
            </a:extLst>
          </p:cNvPr>
          <p:cNvSpPr>
            <a:spLocks noGrp="1"/>
          </p:cNvSpPr>
          <p:nvPr>
            <p:ph type="title"/>
          </p:nvPr>
        </p:nvSpPr>
        <p:spPr/>
        <p:txBody>
          <a:bodyPr/>
          <a:lstStyle/>
          <a:p>
            <a:r>
              <a:rPr lang="en-US" dirty="0"/>
              <a:t>Example: Square Wave</a:t>
            </a:r>
          </a:p>
        </p:txBody>
      </p:sp>
      <p:sp>
        <p:nvSpPr>
          <p:cNvPr id="3" name="Date Placeholder 2">
            <a:extLst>
              <a:ext uri="{FF2B5EF4-FFF2-40B4-BE49-F238E27FC236}">
                <a16:creationId xmlns:a16="http://schemas.microsoft.com/office/drawing/2014/main" id="{D2296C4A-D58A-D240-9C61-99DA12E1A810}"/>
              </a:ext>
            </a:extLst>
          </p:cNvPr>
          <p:cNvSpPr>
            <a:spLocks noGrp="1"/>
          </p:cNvSpPr>
          <p:nvPr>
            <p:ph type="dt" sz="half" idx="10"/>
          </p:nvPr>
        </p:nvSpPr>
        <p:spPr/>
        <p:txBody>
          <a:bodyPr/>
          <a:lstStyle/>
          <a:p>
            <a:pPr>
              <a:defRPr/>
            </a:pPr>
            <a:r>
              <a:rPr lang="en-US"/>
              <a:t>Phy 40, Fall 2025</a:t>
            </a:r>
            <a:endParaRPr lang="en-US" dirty="0"/>
          </a:p>
        </p:txBody>
      </p:sp>
      <p:sp>
        <p:nvSpPr>
          <p:cNvPr id="4" name="Footer Placeholder 3">
            <a:extLst>
              <a:ext uri="{FF2B5EF4-FFF2-40B4-BE49-F238E27FC236}">
                <a16:creationId xmlns:a16="http://schemas.microsoft.com/office/drawing/2014/main" id="{3BF7F4DB-E269-2744-B5C8-3A85F66AE2B9}"/>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a:extLst>
              <a:ext uri="{FF2B5EF4-FFF2-40B4-BE49-F238E27FC236}">
                <a16:creationId xmlns:a16="http://schemas.microsoft.com/office/drawing/2014/main" id="{36612D8C-EEB4-B84A-87D6-7F6529757C09}"/>
              </a:ext>
            </a:extLst>
          </p:cNvPr>
          <p:cNvSpPr>
            <a:spLocks noGrp="1"/>
          </p:cNvSpPr>
          <p:nvPr>
            <p:ph type="sldNum" sz="quarter" idx="12"/>
          </p:nvPr>
        </p:nvSpPr>
        <p:spPr/>
        <p:txBody>
          <a:bodyPr/>
          <a:lstStyle/>
          <a:p>
            <a:pPr>
              <a:defRPr/>
            </a:pPr>
            <a:fld id="{BAB536C3-BB10-4165-8E74-99838CB51702}" type="slidenum">
              <a:rPr lang="en-US" smtClean="0"/>
              <a:pPr>
                <a:defRPr/>
              </a:pPr>
              <a:t>5</a:t>
            </a:fld>
            <a:endParaRPr lang="en-US"/>
          </a:p>
        </p:txBody>
      </p:sp>
      <p:cxnSp>
        <p:nvCxnSpPr>
          <p:cNvPr id="7" name="Straight Arrow Connector 6">
            <a:extLst>
              <a:ext uri="{FF2B5EF4-FFF2-40B4-BE49-F238E27FC236}">
                <a16:creationId xmlns:a16="http://schemas.microsoft.com/office/drawing/2014/main" id="{5EE9D06D-80AF-2A41-A827-93EAEAF24433}"/>
              </a:ext>
            </a:extLst>
          </p:cNvPr>
          <p:cNvCxnSpPr/>
          <p:nvPr/>
        </p:nvCxnSpPr>
        <p:spPr>
          <a:xfrm flipV="1">
            <a:off x="651645" y="1156138"/>
            <a:ext cx="0" cy="1166649"/>
          </a:xfrm>
          <a:prstGeom prst="straightConnector1">
            <a:avLst/>
          </a:prstGeom>
          <a:ln w="26424">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788C19D3-03E5-5145-84B8-9293B4B26F35}"/>
              </a:ext>
            </a:extLst>
          </p:cNvPr>
          <p:cNvCxnSpPr>
            <a:cxnSpLocks/>
          </p:cNvCxnSpPr>
          <p:nvPr/>
        </p:nvCxnSpPr>
        <p:spPr>
          <a:xfrm flipV="1">
            <a:off x="651645" y="2322788"/>
            <a:ext cx="3783721" cy="1"/>
          </a:xfrm>
          <a:prstGeom prst="straightConnector1">
            <a:avLst/>
          </a:prstGeom>
          <a:ln w="26424">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8B0FF69-04F8-B449-9229-C57CCFBCC579}"/>
              </a:ext>
            </a:extLst>
          </p:cNvPr>
          <p:cNvCxnSpPr>
            <a:cxnSpLocks/>
          </p:cNvCxnSpPr>
          <p:nvPr/>
        </p:nvCxnSpPr>
        <p:spPr>
          <a:xfrm>
            <a:off x="578073" y="1524001"/>
            <a:ext cx="987972" cy="0"/>
          </a:xfrm>
          <a:prstGeom prst="line">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E421CA6-8C9C-F44C-97E8-87E82ED3CD73}"/>
              </a:ext>
            </a:extLst>
          </p:cNvPr>
          <p:cNvCxnSpPr>
            <a:cxnSpLocks/>
          </p:cNvCxnSpPr>
          <p:nvPr/>
        </p:nvCxnSpPr>
        <p:spPr>
          <a:xfrm>
            <a:off x="1566045" y="1518746"/>
            <a:ext cx="0" cy="909144"/>
          </a:xfrm>
          <a:prstGeom prst="line">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01188D0-5A4D-C94B-9CBC-8106755A116C}"/>
              </a:ext>
            </a:extLst>
          </p:cNvPr>
          <p:cNvCxnSpPr>
            <a:cxnSpLocks/>
          </p:cNvCxnSpPr>
          <p:nvPr/>
        </p:nvCxnSpPr>
        <p:spPr>
          <a:xfrm>
            <a:off x="2496210" y="2228194"/>
            <a:ext cx="0" cy="199696"/>
          </a:xfrm>
          <a:prstGeom prst="line">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graphicFrame>
        <p:nvGraphicFramePr>
          <p:cNvPr id="20" name="Object 19">
            <a:extLst>
              <a:ext uri="{FF2B5EF4-FFF2-40B4-BE49-F238E27FC236}">
                <a16:creationId xmlns:a16="http://schemas.microsoft.com/office/drawing/2014/main" id="{37C62A88-12B9-2F4A-B23E-586076D5EEE0}"/>
              </a:ext>
            </a:extLst>
          </p:cNvPr>
          <p:cNvGraphicFramePr>
            <a:graphicFrameLocks noChangeAspect="1"/>
          </p:cNvGraphicFramePr>
          <p:nvPr>
            <p:extLst>
              <p:ext uri="{D42A27DB-BD31-4B8C-83A1-F6EECF244321}">
                <p14:modId xmlns:p14="http://schemas.microsoft.com/office/powerpoint/2010/main" val="1047534317"/>
              </p:ext>
            </p:extLst>
          </p:nvPr>
        </p:nvGraphicFramePr>
        <p:xfrm>
          <a:off x="1434010" y="2427890"/>
          <a:ext cx="204370" cy="518940"/>
        </p:xfrm>
        <a:graphic>
          <a:graphicData uri="http://schemas.openxmlformats.org/presentationml/2006/ole">
            <mc:AlternateContent xmlns:mc="http://schemas.openxmlformats.org/markup-compatibility/2006">
              <mc:Choice xmlns:v="urn:schemas-microsoft-com:vml" Requires="v">
                <p:oleObj name="Equation" r:id="rId2" imgW="165100" imgH="419100" progId="Equation.DSMT4">
                  <p:embed/>
                </p:oleObj>
              </mc:Choice>
              <mc:Fallback>
                <p:oleObj name="Equation" r:id="rId2" imgW="165100" imgH="419100" progId="Equation.DSMT4">
                  <p:embed/>
                  <p:pic>
                    <p:nvPicPr>
                      <p:cNvPr id="7" name="Object 6"/>
                      <p:cNvPicPr/>
                      <p:nvPr/>
                    </p:nvPicPr>
                    <p:blipFill>
                      <a:blip r:embed="rId3"/>
                      <a:stretch>
                        <a:fillRect/>
                      </a:stretch>
                    </p:blipFill>
                    <p:spPr>
                      <a:xfrm>
                        <a:off x="1434010" y="2427890"/>
                        <a:ext cx="204370" cy="51894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BA1AE88B-55D3-F144-B37D-074210E9288A}"/>
              </a:ext>
            </a:extLst>
          </p:cNvPr>
          <p:cNvGraphicFramePr>
            <a:graphicFrameLocks noChangeAspect="1"/>
          </p:cNvGraphicFramePr>
          <p:nvPr>
            <p:extLst>
              <p:ext uri="{D42A27DB-BD31-4B8C-83A1-F6EECF244321}">
                <p14:modId xmlns:p14="http://schemas.microsoft.com/office/powerpoint/2010/main" val="150957733"/>
              </p:ext>
            </p:extLst>
          </p:nvPr>
        </p:nvGraphicFramePr>
        <p:xfrm>
          <a:off x="2370468" y="2445622"/>
          <a:ext cx="173038" cy="188912"/>
        </p:xfrm>
        <a:graphic>
          <a:graphicData uri="http://schemas.openxmlformats.org/presentationml/2006/ole">
            <mc:AlternateContent xmlns:mc="http://schemas.openxmlformats.org/markup-compatibility/2006">
              <mc:Choice xmlns:v="urn:schemas-microsoft-com:vml" Requires="v">
                <p:oleObj name="Equation" r:id="rId4" imgW="139700" imgH="152400" progId="Equation.DSMT4">
                  <p:embed/>
                </p:oleObj>
              </mc:Choice>
              <mc:Fallback>
                <p:oleObj name="Equation" r:id="rId4" imgW="139700" imgH="152400" progId="Equation.DSMT4">
                  <p:embed/>
                  <p:pic>
                    <p:nvPicPr>
                      <p:cNvPr id="20" name="Object 19">
                        <a:extLst>
                          <a:ext uri="{FF2B5EF4-FFF2-40B4-BE49-F238E27FC236}">
                            <a16:creationId xmlns:a16="http://schemas.microsoft.com/office/drawing/2014/main" id="{37C62A88-12B9-2F4A-B23E-586076D5EEE0}"/>
                          </a:ext>
                        </a:extLst>
                      </p:cNvPr>
                      <p:cNvPicPr/>
                      <p:nvPr/>
                    </p:nvPicPr>
                    <p:blipFill>
                      <a:blip r:embed="rId5"/>
                      <a:stretch>
                        <a:fillRect/>
                      </a:stretch>
                    </p:blipFill>
                    <p:spPr>
                      <a:xfrm>
                        <a:off x="2370468" y="2445622"/>
                        <a:ext cx="173038" cy="188912"/>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2AF807AD-D910-F248-898B-D637965E9134}"/>
              </a:ext>
            </a:extLst>
          </p:cNvPr>
          <p:cNvGraphicFramePr>
            <a:graphicFrameLocks noChangeAspect="1"/>
          </p:cNvGraphicFramePr>
          <p:nvPr>
            <p:extLst>
              <p:ext uri="{D42A27DB-BD31-4B8C-83A1-F6EECF244321}">
                <p14:modId xmlns:p14="http://schemas.microsoft.com/office/powerpoint/2010/main" val="1827774590"/>
              </p:ext>
            </p:extLst>
          </p:nvPr>
        </p:nvGraphicFramePr>
        <p:xfrm>
          <a:off x="392828" y="1413204"/>
          <a:ext cx="125413" cy="188913"/>
        </p:xfrm>
        <a:graphic>
          <a:graphicData uri="http://schemas.openxmlformats.org/presentationml/2006/ole">
            <mc:AlternateContent xmlns:mc="http://schemas.openxmlformats.org/markup-compatibility/2006">
              <mc:Choice xmlns:v="urn:schemas-microsoft-com:vml" Requires="v">
                <p:oleObj name="Equation" r:id="rId6" imgW="101600" imgH="152400" progId="Equation.DSMT4">
                  <p:embed/>
                </p:oleObj>
              </mc:Choice>
              <mc:Fallback>
                <p:oleObj name="Equation" r:id="rId6" imgW="101600" imgH="152400" progId="Equation.DSMT4">
                  <p:embed/>
                  <p:pic>
                    <p:nvPicPr>
                      <p:cNvPr id="21" name="Object 20">
                        <a:extLst>
                          <a:ext uri="{FF2B5EF4-FFF2-40B4-BE49-F238E27FC236}">
                            <a16:creationId xmlns:a16="http://schemas.microsoft.com/office/drawing/2014/main" id="{BA1AE88B-55D3-F144-B37D-074210E9288A}"/>
                          </a:ext>
                        </a:extLst>
                      </p:cNvPr>
                      <p:cNvPicPr/>
                      <p:nvPr/>
                    </p:nvPicPr>
                    <p:blipFill>
                      <a:blip r:embed="rId7"/>
                      <a:stretch>
                        <a:fillRect/>
                      </a:stretch>
                    </p:blipFill>
                    <p:spPr>
                      <a:xfrm>
                        <a:off x="392828" y="1413204"/>
                        <a:ext cx="125413" cy="188913"/>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BCE9DA2B-06A4-6745-9F3D-5822A6B93F54}"/>
              </a:ext>
            </a:extLst>
          </p:cNvPr>
          <p:cNvGraphicFramePr>
            <a:graphicFrameLocks noChangeAspect="1"/>
          </p:cNvGraphicFramePr>
          <p:nvPr>
            <p:extLst>
              <p:ext uri="{D42A27DB-BD31-4B8C-83A1-F6EECF244321}">
                <p14:modId xmlns:p14="http://schemas.microsoft.com/office/powerpoint/2010/main" val="2864626352"/>
              </p:ext>
            </p:extLst>
          </p:nvPr>
        </p:nvGraphicFramePr>
        <p:xfrm>
          <a:off x="5090082" y="1399214"/>
          <a:ext cx="1983375" cy="1240812"/>
        </p:xfrm>
        <a:graphic>
          <a:graphicData uri="http://schemas.openxmlformats.org/presentationml/2006/ole">
            <mc:AlternateContent xmlns:mc="http://schemas.openxmlformats.org/markup-compatibility/2006">
              <mc:Choice xmlns:v="urn:schemas-microsoft-com:vml" Requires="v">
                <p:oleObj name="Equation" r:id="rId8" imgW="1320800" imgH="825500" progId="Equation.DSMT4">
                  <p:embed/>
                </p:oleObj>
              </mc:Choice>
              <mc:Fallback>
                <p:oleObj name="Equation" r:id="rId8" imgW="1320800" imgH="825500" progId="Equation.DSMT4">
                  <p:embed/>
                  <p:pic>
                    <p:nvPicPr>
                      <p:cNvPr id="21" name="Object 20">
                        <a:extLst>
                          <a:ext uri="{FF2B5EF4-FFF2-40B4-BE49-F238E27FC236}">
                            <a16:creationId xmlns:a16="http://schemas.microsoft.com/office/drawing/2014/main" id="{BA1AE88B-55D3-F144-B37D-074210E9288A}"/>
                          </a:ext>
                        </a:extLst>
                      </p:cNvPr>
                      <p:cNvPicPr/>
                      <p:nvPr/>
                    </p:nvPicPr>
                    <p:blipFill>
                      <a:blip r:embed="rId9"/>
                      <a:stretch>
                        <a:fillRect/>
                      </a:stretch>
                    </p:blipFill>
                    <p:spPr>
                      <a:xfrm>
                        <a:off x="5090082" y="1399214"/>
                        <a:ext cx="1983375" cy="1240812"/>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37EFAC5B-949E-DE40-82D4-B736DC163A2D}"/>
              </a:ext>
            </a:extLst>
          </p:cNvPr>
          <p:cNvGraphicFramePr>
            <a:graphicFrameLocks noChangeAspect="1"/>
          </p:cNvGraphicFramePr>
          <p:nvPr>
            <p:extLst>
              <p:ext uri="{D42A27DB-BD31-4B8C-83A1-F6EECF244321}">
                <p14:modId xmlns:p14="http://schemas.microsoft.com/office/powerpoint/2010/main" val="665077729"/>
              </p:ext>
            </p:extLst>
          </p:nvPr>
        </p:nvGraphicFramePr>
        <p:xfrm>
          <a:off x="319324" y="3078259"/>
          <a:ext cx="3868737" cy="1033462"/>
        </p:xfrm>
        <a:graphic>
          <a:graphicData uri="http://schemas.openxmlformats.org/presentationml/2006/ole">
            <mc:AlternateContent xmlns:mc="http://schemas.openxmlformats.org/markup-compatibility/2006">
              <mc:Choice xmlns:v="urn:schemas-microsoft-com:vml" Requires="v">
                <p:oleObj name="Equation" r:id="rId10" imgW="1803400" imgH="482600" progId="Equation.DSMT4">
                  <p:embed/>
                </p:oleObj>
              </mc:Choice>
              <mc:Fallback>
                <p:oleObj name="Equation" r:id="rId10" imgW="1803400" imgH="482600" progId="Equation.DSMT4">
                  <p:embed/>
                  <p:pic>
                    <p:nvPicPr>
                      <p:cNvPr id="6" name="Object 5"/>
                      <p:cNvPicPr/>
                      <p:nvPr/>
                    </p:nvPicPr>
                    <p:blipFill>
                      <a:blip r:embed="rId11"/>
                      <a:stretch>
                        <a:fillRect/>
                      </a:stretch>
                    </p:blipFill>
                    <p:spPr>
                      <a:xfrm>
                        <a:off x="319324" y="3078259"/>
                        <a:ext cx="3868737" cy="1033462"/>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A816197A-ADBD-6A40-86C6-F5A5DED1F001}"/>
              </a:ext>
            </a:extLst>
          </p:cNvPr>
          <p:cNvGraphicFramePr>
            <a:graphicFrameLocks noChangeAspect="1"/>
          </p:cNvGraphicFramePr>
          <p:nvPr>
            <p:extLst>
              <p:ext uri="{D42A27DB-BD31-4B8C-83A1-F6EECF244321}">
                <p14:modId xmlns:p14="http://schemas.microsoft.com/office/powerpoint/2010/main" val="1433754807"/>
              </p:ext>
            </p:extLst>
          </p:nvPr>
        </p:nvGraphicFramePr>
        <p:xfrm>
          <a:off x="324094" y="4043454"/>
          <a:ext cx="7727935" cy="1050665"/>
        </p:xfrm>
        <a:graphic>
          <a:graphicData uri="http://schemas.openxmlformats.org/presentationml/2006/ole">
            <mc:AlternateContent xmlns:mc="http://schemas.openxmlformats.org/markup-compatibility/2006">
              <mc:Choice xmlns:v="urn:schemas-microsoft-com:vml" Requires="v">
                <p:oleObj name="Equation" r:id="rId12" imgW="4381500" imgH="596900" progId="Equation.DSMT4">
                  <p:embed/>
                </p:oleObj>
              </mc:Choice>
              <mc:Fallback>
                <p:oleObj name="Equation" r:id="rId12" imgW="4381500" imgH="596900" progId="Equation.DSMT4">
                  <p:embed/>
                  <p:pic>
                    <p:nvPicPr>
                      <p:cNvPr id="24" name="Object 23">
                        <a:extLst>
                          <a:ext uri="{FF2B5EF4-FFF2-40B4-BE49-F238E27FC236}">
                            <a16:creationId xmlns:a16="http://schemas.microsoft.com/office/drawing/2014/main" id="{37EFAC5B-949E-DE40-82D4-B736DC163A2D}"/>
                          </a:ext>
                        </a:extLst>
                      </p:cNvPr>
                      <p:cNvPicPr/>
                      <p:nvPr/>
                    </p:nvPicPr>
                    <p:blipFill>
                      <a:blip r:embed="rId13"/>
                      <a:stretch>
                        <a:fillRect/>
                      </a:stretch>
                    </p:blipFill>
                    <p:spPr>
                      <a:xfrm>
                        <a:off x="324094" y="4043454"/>
                        <a:ext cx="7727935" cy="1050665"/>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371B653E-5A86-F540-AC87-C1AE05B34E0D}"/>
              </a:ext>
            </a:extLst>
          </p:cNvPr>
          <p:cNvGraphicFramePr>
            <a:graphicFrameLocks noChangeAspect="1"/>
          </p:cNvGraphicFramePr>
          <p:nvPr>
            <p:extLst>
              <p:ext uri="{D42A27DB-BD31-4B8C-83A1-F6EECF244321}">
                <p14:modId xmlns:p14="http://schemas.microsoft.com/office/powerpoint/2010/main" val="4176314895"/>
              </p:ext>
            </p:extLst>
          </p:nvPr>
        </p:nvGraphicFramePr>
        <p:xfrm>
          <a:off x="324094" y="5177989"/>
          <a:ext cx="8495812" cy="1194061"/>
        </p:xfrm>
        <a:graphic>
          <a:graphicData uri="http://schemas.openxmlformats.org/presentationml/2006/ole">
            <mc:AlternateContent xmlns:mc="http://schemas.openxmlformats.org/markup-compatibility/2006">
              <mc:Choice xmlns:v="urn:schemas-microsoft-com:vml" Requires="v">
                <p:oleObj name="Equation" r:id="rId14" imgW="5232400" imgH="736600" progId="Equation.DSMT4">
                  <p:embed/>
                </p:oleObj>
              </mc:Choice>
              <mc:Fallback>
                <p:oleObj name="Equation" r:id="rId14" imgW="5232400" imgH="736600" progId="Equation.DSMT4">
                  <p:embed/>
                  <p:pic>
                    <p:nvPicPr>
                      <p:cNvPr id="25" name="Object 24">
                        <a:extLst>
                          <a:ext uri="{FF2B5EF4-FFF2-40B4-BE49-F238E27FC236}">
                            <a16:creationId xmlns:a16="http://schemas.microsoft.com/office/drawing/2014/main" id="{A816197A-ADBD-6A40-86C6-F5A5DED1F001}"/>
                          </a:ext>
                        </a:extLst>
                      </p:cNvPr>
                      <p:cNvPicPr/>
                      <p:nvPr/>
                    </p:nvPicPr>
                    <p:blipFill>
                      <a:blip r:embed="rId15"/>
                      <a:stretch>
                        <a:fillRect/>
                      </a:stretch>
                    </p:blipFill>
                    <p:spPr>
                      <a:xfrm>
                        <a:off x="324094" y="5177989"/>
                        <a:ext cx="8495812" cy="1194061"/>
                      </a:xfrm>
                      <a:prstGeom prst="rect">
                        <a:avLst/>
                      </a:prstGeom>
                    </p:spPr>
                  </p:pic>
                </p:oleObj>
              </mc:Fallback>
            </mc:AlternateContent>
          </a:graphicData>
        </a:graphic>
      </p:graphicFrame>
      <p:cxnSp>
        <p:nvCxnSpPr>
          <p:cNvPr id="19" name="Straight Connector 18">
            <a:extLst>
              <a:ext uri="{FF2B5EF4-FFF2-40B4-BE49-F238E27FC236}">
                <a16:creationId xmlns:a16="http://schemas.microsoft.com/office/drawing/2014/main" id="{1AAEBC84-DA9C-6945-9350-498DDA152D8D}"/>
              </a:ext>
            </a:extLst>
          </p:cNvPr>
          <p:cNvCxnSpPr>
            <a:cxnSpLocks/>
          </p:cNvCxnSpPr>
          <p:nvPr/>
        </p:nvCxnSpPr>
        <p:spPr>
          <a:xfrm>
            <a:off x="2496210" y="1518746"/>
            <a:ext cx="0" cy="909144"/>
          </a:xfrm>
          <a:prstGeom prst="line">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EC1D6FC4-6012-134F-8C4B-6F84EC3B38A0}"/>
              </a:ext>
            </a:extLst>
          </p:cNvPr>
          <p:cNvCxnSpPr>
            <a:cxnSpLocks/>
          </p:cNvCxnSpPr>
          <p:nvPr/>
        </p:nvCxnSpPr>
        <p:spPr>
          <a:xfrm>
            <a:off x="3442143" y="1518746"/>
            <a:ext cx="0" cy="909144"/>
          </a:xfrm>
          <a:prstGeom prst="line">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6870D39-A206-CE44-AFA0-FFF2C34C76C1}"/>
              </a:ext>
            </a:extLst>
          </p:cNvPr>
          <p:cNvCxnSpPr>
            <a:cxnSpLocks/>
          </p:cNvCxnSpPr>
          <p:nvPr/>
        </p:nvCxnSpPr>
        <p:spPr>
          <a:xfrm>
            <a:off x="2496210" y="1518746"/>
            <a:ext cx="945933" cy="0"/>
          </a:xfrm>
          <a:prstGeom prst="line">
            <a:avLst/>
          </a:prstGeom>
          <a:ln w="12700">
            <a:solidFill>
              <a:schemeClr val="tx1"/>
            </a:solidFill>
            <a:tailEnd type="none"/>
          </a:ln>
        </p:spPr>
        <p:style>
          <a:lnRef idx="2">
            <a:schemeClr val="accent1"/>
          </a:lnRef>
          <a:fillRef idx="0">
            <a:schemeClr val="accent1"/>
          </a:fillRef>
          <a:effectRef idx="1">
            <a:schemeClr val="accent1"/>
          </a:effectRef>
          <a:fontRef idx="minor">
            <a:schemeClr val="tx1"/>
          </a:fontRef>
        </p:style>
      </p:cxnSp>
      <p:graphicFrame>
        <p:nvGraphicFramePr>
          <p:cNvPr id="30" name="Object 29">
            <a:extLst>
              <a:ext uri="{FF2B5EF4-FFF2-40B4-BE49-F238E27FC236}">
                <a16:creationId xmlns:a16="http://schemas.microsoft.com/office/drawing/2014/main" id="{3B190E41-0A4F-D643-AEFB-3F3A2D66902C}"/>
              </a:ext>
            </a:extLst>
          </p:cNvPr>
          <p:cNvGraphicFramePr>
            <a:graphicFrameLocks noChangeAspect="1"/>
          </p:cNvGraphicFramePr>
          <p:nvPr>
            <p:extLst>
              <p:ext uri="{D42A27DB-BD31-4B8C-83A1-F6EECF244321}">
                <p14:modId xmlns:p14="http://schemas.microsoft.com/office/powerpoint/2010/main" val="1796689204"/>
              </p:ext>
            </p:extLst>
          </p:nvPr>
        </p:nvGraphicFramePr>
        <p:xfrm>
          <a:off x="3286125" y="2368550"/>
          <a:ext cx="296863" cy="519113"/>
        </p:xfrm>
        <a:graphic>
          <a:graphicData uri="http://schemas.openxmlformats.org/presentationml/2006/ole">
            <mc:AlternateContent xmlns:mc="http://schemas.openxmlformats.org/markup-compatibility/2006">
              <mc:Choice xmlns:v="urn:schemas-microsoft-com:vml" Requires="v">
                <p:oleObj name="Equation" r:id="rId16" imgW="241300" imgH="419100" progId="Equation.DSMT4">
                  <p:embed/>
                </p:oleObj>
              </mc:Choice>
              <mc:Fallback>
                <p:oleObj name="Equation" r:id="rId16" imgW="241300" imgH="419100" progId="Equation.DSMT4">
                  <p:embed/>
                  <p:pic>
                    <p:nvPicPr>
                      <p:cNvPr id="20" name="Object 19">
                        <a:extLst>
                          <a:ext uri="{FF2B5EF4-FFF2-40B4-BE49-F238E27FC236}">
                            <a16:creationId xmlns:a16="http://schemas.microsoft.com/office/drawing/2014/main" id="{37C62A88-12B9-2F4A-B23E-586076D5EEE0}"/>
                          </a:ext>
                        </a:extLst>
                      </p:cNvPr>
                      <p:cNvPicPr/>
                      <p:nvPr/>
                    </p:nvPicPr>
                    <p:blipFill>
                      <a:blip r:embed="rId17"/>
                      <a:stretch>
                        <a:fillRect/>
                      </a:stretch>
                    </p:blipFill>
                    <p:spPr>
                      <a:xfrm>
                        <a:off x="3286125" y="2368550"/>
                        <a:ext cx="296863" cy="519113"/>
                      </a:xfrm>
                      <a:prstGeom prst="rect">
                        <a:avLst/>
                      </a:prstGeom>
                    </p:spPr>
                  </p:pic>
                </p:oleObj>
              </mc:Fallback>
            </mc:AlternateContent>
          </a:graphicData>
        </a:graphic>
      </p:graphicFrame>
    </p:spTree>
    <p:extLst>
      <p:ext uri="{BB962C8B-B14F-4D97-AF65-F5344CB8AC3E}">
        <p14:creationId xmlns:p14="http://schemas.microsoft.com/office/powerpoint/2010/main" val="1637600201"/>
      </p:ext>
    </p:extLst>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Square Wave</a:t>
            </a:r>
          </a:p>
        </p:txBody>
      </p:sp>
      <p:sp>
        <p:nvSpPr>
          <p:cNvPr id="3" name="Date Placeholder 2"/>
          <p:cNvSpPr>
            <a:spLocks noGrp="1"/>
          </p:cNvSpPr>
          <p:nvPr>
            <p:ph type="dt" sz="half" idx="10"/>
          </p:nvPr>
        </p:nvSpPr>
        <p:spPr/>
        <p:txBody>
          <a:bodyPr/>
          <a:lstStyle/>
          <a:p>
            <a:pPr>
              <a:defRPr/>
            </a:pPr>
            <a:r>
              <a:rPr lang="en-US"/>
              <a:t>Phy 40, Fall 2025</a:t>
            </a:r>
            <a:endParaRPr lang="en-US" dirty="0"/>
          </a:p>
        </p:txBody>
      </p:sp>
      <p:sp>
        <p:nvSpPr>
          <p:cNvPr id="4" name="Footer Placeholder 3"/>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6</a:t>
            </a:fld>
            <a:endParaRPr lang="en-US"/>
          </a:p>
        </p:txBody>
      </p:sp>
      <p:pic>
        <p:nvPicPr>
          <p:cNvPr id="6" name="Picture 5"/>
          <p:cNvPicPr>
            <a:picLocks noChangeAspect="1"/>
          </p:cNvPicPr>
          <p:nvPr/>
        </p:nvPicPr>
        <p:blipFill rotWithShape="1">
          <a:blip r:embed="rId2"/>
          <a:srcRect l="852" t="1861" r="18024" b="1229"/>
          <a:stretch/>
        </p:blipFill>
        <p:spPr>
          <a:xfrm>
            <a:off x="4479727" y="1738309"/>
            <a:ext cx="4490362" cy="3647383"/>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2574010714"/>
              </p:ext>
            </p:extLst>
          </p:nvPr>
        </p:nvGraphicFramePr>
        <p:xfrm>
          <a:off x="434751" y="1491481"/>
          <a:ext cx="3615869" cy="947607"/>
        </p:xfrm>
        <a:graphic>
          <a:graphicData uri="http://schemas.openxmlformats.org/presentationml/2006/ole">
            <mc:AlternateContent xmlns:mc="http://schemas.openxmlformats.org/markup-compatibility/2006">
              <mc:Choice xmlns:v="urn:schemas-microsoft-com:vml" Requires="v">
                <p:oleObj name="Equation" r:id="rId3" imgW="1841500" imgH="482600" progId="Equation.DSMT4">
                  <p:embed/>
                </p:oleObj>
              </mc:Choice>
              <mc:Fallback>
                <p:oleObj name="Equation" r:id="rId3" imgW="1841500" imgH="482600" progId="Equation.DSMT4">
                  <p:embed/>
                  <p:pic>
                    <p:nvPicPr>
                      <p:cNvPr id="0" name=""/>
                      <p:cNvPicPr/>
                      <p:nvPr/>
                    </p:nvPicPr>
                    <p:blipFill>
                      <a:blip r:embed="rId4"/>
                      <a:stretch>
                        <a:fillRect/>
                      </a:stretch>
                    </p:blipFill>
                    <p:spPr>
                      <a:xfrm>
                        <a:off x="434751" y="1491481"/>
                        <a:ext cx="3615869" cy="947607"/>
                      </a:xfrm>
                      <a:prstGeom prst="rect">
                        <a:avLst/>
                      </a:prstGeom>
                    </p:spPr>
                  </p:pic>
                </p:oleObj>
              </mc:Fallback>
            </mc:AlternateContent>
          </a:graphicData>
        </a:graphic>
      </p:graphicFrame>
      <p:pic>
        <p:nvPicPr>
          <p:cNvPr id="8" name="Picture 7"/>
          <p:cNvPicPr>
            <a:picLocks noChangeAspect="1"/>
          </p:cNvPicPr>
          <p:nvPr/>
        </p:nvPicPr>
        <p:blipFill rotWithShape="1">
          <a:blip r:embed="rId5"/>
          <a:srcRect t="3413" r="3471"/>
          <a:stretch/>
        </p:blipFill>
        <p:spPr>
          <a:xfrm>
            <a:off x="294252" y="2967897"/>
            <a:ext cx="3759122" cy="3004726"/>
          </a:xfrm>
          <a:prstGeom prst="rect">
            <a:avLst/>
          </a:prstGeom>
        </p:spPr>
      </p:pic>
    </p:spTree>
    <p:extLst>
      <p:ext uri="{BB962C8B-B14F-4D97-AF65-F5344CB8AC3E}">
        <p14:creationId xmlns:p14="http://schemas.microsoft.com/office/powerpoint/2010/main" val="601880720"/>
      </p:ext>
    </p:extLst>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17B74-607F-164C-993E-0A005472D888}"/>
              </a:ext>
            </a:extLst>
          </p:cNvPr>
          <p:cNvSpPr>
            <a:spLocks noGrp="1"/>
          </p:cNvSpPr>
          <p:nvPr>
            <p:ph type="title"/>
          </p:nvPr>
        </p:nvSpPr>
        <p:spPr/>
        <p:txBody>
          <a:bodyPr/>
          <a:lstStyle/>
          <a:p>
            <a:r>
              <a:rPr lang="en-US" dirty="0"/>
              <a:t>The Ear and Fourier Transformations</a:t>
            </a:r>
          </a:p>
        </p:txBody>
      </p:sp>
      <p:sp>
        <p:nvSpPr>
          <p:cNvPr id="3" name="Date Placeholder 2">
            <a:extLst>
              <a:ext uri="{FF2B5EF4-FFF2-40B4-BE49-F238E27FC236}">
                <a16:creationId xmlns:a16="http://schemas.microsoft.com/office/drawing/2014/main" id="{95483CA7-B84D-9D4B-930A-FC4A2CAA9D43}"/>
              </a:ext>
            </a:extLst>
          </p:cNvPr>
          <p:cNvSpPr>
            <a:spLocks noGrp="1"/>
          </p:cNvSpPr>
          <p:nvPr>
            <p:ph type="dt" sz="half" idx="10"/>
          </p:nvPr>
        </p:nvSpPr>
        <p:spPr/>
        <p:txBody>
          <a:bodyPr/>
          <a:lstStyle/>
          <a:p>
            <a:pPr>
              <a:defRPr/>
            </a:pPr>
            <a:r>
              <a:rPr lang="en-US"/>
              <a:t>Phy 40, Fall 2025</a:t>
            </a:r>
            <a:endParaRPr lang="en-US" dirty="0"/>
          </a:p>
        </p:txBody>
      </p:sp>
      <p:sp>
        <p:nvSpPr>
          <p:cNvPr id="4" name="Footer Placeholder 3">
            <a:extLst>
              <a:ext uri="{FF2B5EF4-FFF2-40B4-BE49-F238E27FC236}">
                <a16:creationId xmlns:a16="http://schemas.microsoft.com/office/drawing/2014/main" id="{A5CD2CC2-7139-B54B-B344-771AD07B027F}"/>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a:extLst>
              <a:ext uri="{FF2B5EF4-FFF2-40B4-BE49-F238E27FC236}">
                <a16:creationId xmlns:a16="http://schemas.microsoft.com/office/drawing/2014/main" id="{D2BE3F59-E4B9-5C43-A277-BAC07FF28695}"/>
              </a:ext>
            </a:extLst>
          </p:cNvPr>
          <p:cNvSpPr>
            <a:spLocks noGrp="1"/>
          </p:cNvSpPr>
          <p:nvPr>
            <p:ph type="sldNum" sz="quarter" idx="12"/>
          </p:nvPr>
        </p:nvSpPr>
        <p:spPr/>
        <p:txBody>
          <a:bodyPr/>
          <a:lstStyle/>
          <a:p>
            <a:pPr>
              <a:defRPr/>
            </a:pPr>
            <a:fld id="{BAB536C3-BB10-4165-8E74-99838CB51702}" type="slidenum">
              <a:rPr lang="en-US" smtClean="0"/>
              <a:pPr>
                <a:defRPr/>
              </a:pPr>
              <a:t>7</a:t>
            </a:fld>
            <a:endParaRPr lang="en-US"/>
          </a:p>
        </p:txBody>
      </p:sp>
      <p:pic>
        <p:nvPicPr>
          <p:cNvPr id="67586" name="Picture 2" descr="Your brain is made of maps. Brains do many things, but each neuron… | by  Disability Science Review | Medium">
            <a:extLst>
              <a:ext uri="{FF2B5EF4-FFF2-40B4-BE49-F238E27FC236}">
                <a16:creationId xmlns:a16="http://schemas.microsoft.com/office/drawing/2014/main" id="{C34F92FF-5FBC-8140-AE68-CC30D04FA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85246"/>
            <a:ext cx="4211666" cy="3440394"/>
          </a:xfrm>
          <a:prstGeom prst="rect">
            <a:avLst/>
          </a:prstGeom>
          <a:noFill/>
          <a:extLst>
            <a:ext uri="{909E8E84-426E-40DD-AFC4-6F175D3DCCD1}">
              <a14:hiddenFill xmlns:a14="http://schemas.microsoft.com/office/drawing/2010/main">
                <a:solidFill>
                  <a:srgbClr val="FFFFFF"/>
                </a:solidFill>
              </a14:hiddenFill>
            </a:ext>
          </a:extLst>
        </p:spPr>
      </p:pic>
      <p:pic>
        <p:nvPicPr>
          <p:cNvPr id="67588" name="Picture 4" descr="How We Hear (or, An Introduction to Fourier Analysis) | Something of the  Marvelous">
            <a:extLst>
              <a:ext uri="{FF2B5EF4-FFF2-40B4-BE49-F238E27FC236}">
                <a16:creationId xmlns:a16="http://schemas.microsoft.com/office/drawing/2014/main" id="{2F38B1E8-C755-7949-B429-BCD846C2E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66" y="1194675"/>
            <a:ext cx="4051300" cy="2006600"/>
          </a:xfrm>
          <a:prstGeom prst="rect">
            <a:avLst/>
          </a:prstGeom>
          <a:noFill/>
          <a:extLst>
            <a:ext uri="{909E8E84-426E-40DD-AFC4-6F175D3DCCD1}">
              <a14:hiddenFill xmlns:a14="http://schemas.microsoft.com/office/drawing/2010/main">
                <a:solidFill>
                  <a:srgbClr val="FFFFFF"/>
                </a:solidFill>
              </a14:hiddenFill>
            </a:ext>
          </a:extLst>
        </p:spPr>
      </p:pic>
      <p:pic>
        <p:nvPicPr>
          <p:cNvPr id="67590" name="Picture 6" descr="Vocal Formants with Vowel Sounds">
            <a:extLst>
              <a:ext uri="{FF2B5EF4-FFF2-40B4-BE49-F238E27FC236}">
                <a16:creationId xmlns:a16="http://schemas.microsoft.com/office/drawing/2014/main" id="{AEAB44F1-E7CC-3647-BF32-1685A0CC39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228" y="1615876"/>
            <a:ext cx="4673406" cy="4591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515911"/>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18D3354-C8F2-5EE7-2DBA-36AB675602F3}"/>
              </a:ext>
            </a:extLst>
          </p:cNvPr>
          <p:cNvSpPr>
            <a:spLocks noGrp="1"/>
          </p:cNvSpPr>
          <p:nvPr>
            <p:ph type="title"/>
          </p:nvPr>
        </p:nvSpPr>
        <p:spPr/>
        <p:txBody>
          <a:bodyPr/>
          <a:lstStyle/>
          <a:p>
            <a:r>
              <a:rPr lang="en-US" dirty="0"/>
              <a:t>Perception of Hearing</a:t>
            </a:r>
          </a:p>
        </p:txBody>
      </p:sp>
      <p:sp>
        <p:nvSpPr>
          <p:cNvPr id="7" name="Content Placeholder 6">
            <a:extLst>
              <a:ext uri="{FF2B5EF4-FFF2-40B4-BE49-F238E27FC236}">
                <a16:creationId xmlns:a16="http://schemas.microsoft.com/office/drawing/2014/main" id="{755E32B0-955C-86BA-2C8C-7108B6BCE5FC}"/>
              </a:ext>
            </a:extLst>
          </p:cNvPr>
          <p:cNvSpPr>
            <a:spLocks noGrp="1"/>
          </p:cNvSpPr>
          <p:nvPr>
            <p:ph idx="1"/>
          </p:nvPr>
        </p:nvSpPr>
        <p:spPr/>
        <p:txBody>
          <a:bodyPr>
            <a:normAutofit/>
          </a:bodyPr>
          <a:lstStyle/>
          <a:p>
            <a:r>
              <a:rPr lang="en-US" sz="1800" dirty="0"/>
              <a:t>Because of the way the ear works, we do not directly sense the motion of the ear drum, but we do sense the individual frequency components of the sound, with very high precision.</a:t>
            </a:r>
          </a:p>
          <a:p>
            <a:pPr lvl="1"/>
            <a:r>
              <a:rPr lang="en-US" sz="1400" dirty="0"/>
              <a:t>This allows us to hear individual notes:</a:t>
            </a:r>
          </a:p>
        </p:txBody>
      </p:sp>
      <p:sp>
        <p:nvSpPr>
          <p:cNvPr id="3" name="Date Placeholder 2">
            <a:extLst>
              <a:ext uri="{FF2B5EF4-FFF2-40B4-BE49-F238E27FC236}">
                <a16:creationId xmlns:a16="http://schemas.microsoft.com/office/drawing/2014/main" id="{1303B135-8E9F-A23D-D321-B02705636A25}"/>
              </a:ext>
            </a:extLst>
          </p:cNvPr>
          <p:cNvSpPr>
            <a:spLocks noGrp="1"/>
          </p:cNvSpPr>
          <p:nvPr>
            <p:ph type="dt" sz="half" idx="10"/>
          </p:nvPr>
        </p:nvSpPr>
        <p:spPr/>
        <p:txBody>
          <a:bodyPr/>
          <a:lstStyle/>
          <a:p>
            <a:pPr>
              <a:defRPr/>
            </a:pPr>
            <a:r>
              <a:rPr lang="en-US"/>
              <a:t>Phy 40, Fall 2025</a:t>
            </a:r>
            <a:endParaRPr lang="en-US" dirty="0"/>
          </a:p>
        </p:txBody>
      </p:sp>
      <p:sp>
        <p:nvSpPr>
          <p:cNvPr id="4" name="Footer Placeholder 3">
            <a:extLst>
              <a:ext uri="{FF2B5EF4-FFF2-40B4-BE49-F238E27FC236}">
                <a16:creationId xmlns:a16="http://schemas.microsoft.com/office/drawing/2014/main" id="{B0C409FC-B1EB-A371-2140-10C4AD3CF31C}"/>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a:extLst>
              <a:ext uri="{FF2B5EF4-FFF2-40B4-BE49-F238E27FC236}">
                <a16:creationId xmlns:a16="http://schemas.microsoft.com/office/drawing/2014/main" id="{1A52B3E4-DEE5-4E38-6D99-ED8D5D0F7FAB}"/>
              </a:ext>
            </a:extLst>
          </p:cNvPr>
          <p:cNvSpPr>
            <a:spLocks noGrp="1"/>
          </p:cNvSpPr>
          <p:nvPr>
            <p:ph type="sldNum" sz="quarter" idx="12"/>
          </p:nvPr>
        </p:nvSpPr>
        <p:spPr/>
        <p:txBody>
          <a:bodyPr/>
          <a:lstStyle/>
          <a:p>
            <a:pPr>
              <a:defRPr/>
            </a:pPr>
            <a:fld id="{BAB536C3-BB10-4165-8E74-99838CB51702}" type="slidenum">
              <a:rPr lang="en-US" smtClean="0"/>
              <a:pPr>
                <a:defRPr/>
              </a:pPr>
              <a:t>8</a:t>
            </a:fld>
            <a:endParaRPr lang="en-US"/>
          </a:p>
        </p:txBody>
      </p:sp>
      <p:sp>
        <p:nvSpPr>
          <p:cNvPr id="10" name="TextBox 9">
            <a:extLst>
              <a:ext uri="{FF2B5EF4-FFF2-40B4-BE49-F238E27FC236}">
                <a16:creationId xmlns:a16="http://schemas.microsoft.com/office/drawing/2014/main" id="{9A5A3D92-244F-92E5-81CE-49645BA1918F}"/>
              </a:ext>
            </a:extLst>
          </p:cNvPr>
          <p:cNvSpPr txBox="1"/>
          <p:nvPr/>
        </p:nvSpPr>
        <p:spPr>
          <a:xfrm>
            <a:off x="1905000" y="5785157"/>
            <a:ext cx="1232854" cy="307777"/>
          </a:xfrm>
          <a:prstGeom prst="rect">
            <a:avLst/>
          </a:prstGeom>
          <a:noFill/>
        </p:spPr>
        <p:txBody>
          <a:bodyPr wrap="square" rtlCol="0">
            <a:spAutoFit/>
          </a:bodyPr>
          <a:lstStyle/>
          <a:p>
            <a:pPr algn="ctr"/>
            <a:r>
              <a:rPr lang="en-US" sz="1400" dirty="0">
                <a:latin typeface="+mn-lt"/>
              </a:rPr>
              <a:t>A</a:t>
            </a:r>
            <a:r>
              <a:rPr lang="en-US" sz="1400" baseline="-25000" dirty="0">
                <a:latin typeface="+mn-lt"/>
              </a:rPr>
              <a:t>3</a:t>
            </a:r>
            <a:r>
              <a:rPr lang="en-US" sz="1400" dirty="0">
                <a:latin typeface="+mn-lt"/>
              </a:rPr>
              <a:t> (220 Hz)</a:t>
            </a:r>
          </a:p>
        </p:txBody>
      </p:sp>
      <p:sp>
        <p:nvSpPr>
          <p:cNvPr id="11" name="TextBox 10">
            <a:extLst>
              <a:ext uri="{FF2B5EF4-FFF2-40B4-BE49-F238E27FC236}">
                <a16:creationId xmlns:a16="http://schemas.microsoft.com/office/drawing/2014/main" id="{74D23B3D-54D9-40DF-0A77-CF5A12E5C589}"/>
              </a:ext>
            </a:extLst>
          </p:cNvPr>
          <p:cNvSpPr txBox="1"/>
          <p:nvPr/>
        </p:nvSpPr>
        <p:spPr>
          <a:xfrm>
            <a:off x="5633720" y="5780275"/>
            <a:ext cx="2435776" cy="307777"/>
          </a:xfrm>
          <a:prstGeom prst="rect">
            <a:avLst/>
          </a:prstGeom>
          <a:noFill/>
        </p:spPr>
        <p:txBody>
          <a:bodyPr wrap="square" rtlCol="0">
            <a:spAutoFit/>
          </a:bodyPr>
          <a:lstStyle/>
          <a:p>
            <a:pPr algn="ctr"/>
            <a:r>
              <a:rPr lang="en-US" sz="1400" dirty="0">
                <a:latin typeface="+mn-lt"/>
              </a:rPr>
              <a:t>Perfect 5</a:t>
            </a:r>
            <a:r>
              <a:rPr lang="en-US" sz="1400" baseline="30000" dirty="0">
                <a:latin typeface="+mn-lt"/>
              </a:rPr>
              <a:t>th</a:t>
            </a:r>
            <a:r>
              <a:rPr lang="en-US" sz="1400" dirty="0">
                <a:latin typeface="+mn-lt"/>
              </a:rPr>
              <a:t> (220Hz+330 Hz)</a:t>
            </a:r>
          </a:p>
        </p:txBody>
      </p:sp>
      <p:pic>
        <p:nvPicPr>
          <p:cNvPr id="12" name="Picture 11">
            <a:extLst>
              <a:ext uri="{FF2B5EF4-FFF2-40B4-BE49-F238E27FC236}">
                <a16:creationId xmlns:a16="http://schemas.microsoft.com/office/drawing/2014/main" id="{D8C5854C-C4F1-539B-2837-7B682321AB97}"/>
              </a:ext>
            </a:extLst>
          </p:cNvPr>
          <p:cNvPicPr>
            <a:picLocks noChangeAspect="1"/>
          </p:cNvPicPr>
          <p:nvPr/>
        </p:nvPicPr>
        <p:blipFill>
          <a:blip r:embed="rId2"/>
          <a:stretch>
            <a:fillRect/>
          </a:stretch>
        </p:blipFill>
        <p:spPr>
          <a:xfrm>
            <a:off x="331453" y="2731159"/>
            <a:ext cx="4225060" cy="3009517"/>
          </a:xfrm>
          <a:prstGeom prst="rect">
            <a:avLst/>
          </a:prstGeom>
        </p:spPr>
      </p:pic>
      <p:pic>
        <p:nvPicPr>
          <p:cNvPr id="13" name="Picture 12">
            <a:extLst>
              <a:ext uri="{FF2B5EF4-FFF2-40B4-BE49-F238E27FC236}">
                <a16:creationId xmlns:a16="http://schemas.microsoft.com/office/drawing/2014/main" id="{47BD1391-25A7-21C6-E6D6-91C46DB365B8}"/>
              </a:ext>
            </a:extLst>
          </p:cNvPr>
          <p:cNvPicPr>
            <a:picLocks noChangeAspect="1"/>
          </p:cNvPicPr>
          <p:nvPr/>
        </p:nvPicPr>
        <p:blipFill>
          <a:blip r:embed="rId3"/>
          <a:stretch>
            <a:fillRect/>
          </a:stretch>
        </p:blipFill>
        <p:spPr>
          <a:xfrm>
            <a:off x="4666773" y="2731159"/>
            <a:ext cx="4220048" cy="3009517"/>
          </a:xfrm>
          <a:prstGeom prst="rect">
            <a:avLst/>
          </a:prstGeom>
        </p:spPr>
      </p:pic>
    </p:spTree>
    <p:extLst>
      <p:ext uri="{BB962C8B-B14F-4D97-AF65-F5344CB8AC3E}">
        <p14:creationId xmlns:p14="http://schemas.microsoft.com/office/powerpoint/2010/main" val="3393434828"/>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135E9-B892-84CA-1D94-7E890AC6C0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15DFA87-7E6F-566B-6D39-37A8CC711402}"/>
              </a:ext>
            </a:extLst>
          </p:cNvPr>
          <p:cNvSpPr>
            <a:spLocks noGrp="1"/>
          </p:cNvSpPr>
          <p:nvPr>
            <p:ph idx="1"/>
          </p:nvPr>
        </p:nvSpPr>
        <p:spPr>
          <a:xfrm>
            <a:off x="441713" y="1182022"/>
            <a:ext cx="8229600" cy="812032"/>
          </a:xfrm>
        </p:spPr>
        <p:txBody>
          <a:bodyPr>
            <a:normAutofit lnSpcReduction="10000"/>
          </a:bodyPr>
          <a:lstStyle/>
          <a:p>
            <a:r>
              <a:rPr lang="en-US" dirty="0"/>
              <a:t>Spectral content (overtone series) also determines how a note sounds to us.</a:t>
            </a:r>
          </a:p>
        </p:txBody>
      </p:sp>
      <p:sp>
        <p:nvSpPr>
          <p:cNvPr id="4" name="Date Placeholder 3">
            <a:extLst>
              <a:ext uri="{FF2B5EF4-FFF2-40B4-BE49-F238E27FC236}">
                <a16:creationId xmlns:a16="http://schemas.microsoft.com/office/drawing/2014/main" id="{DADAAC1C-4C4D-F480-3E37-3952E80424D7}"/>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A0D2BB5D-B37A-0450-C90C-8DD24A7F4398}"/>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a:extLst>
              <a:ext uri="{FF2B5EF4-FFF2-40B4-BE49-F238E27FC236}">
                <a16:creationId xmlns:a16="http://schemas.microsoft.com/office/drawing/2014/main" id="{5253FFBB-B0D2-6F1C-D3D7-F34320746485}"/>
              </a:ext>
            </a:extLst>
          </p:cNvPr>
          <p:cNvSpPr>
            <a:spLocks noGrp="1"/>
          </p:cNvSpPr>
          <p:nvPr>
            <p:ph type="sldNum" sz="quarter" idx="12"/>
          </p:nvPr>
        </p:nvSpPr>
        <p:spPr/>
        <p:txBody>
          <a:bodyPr/>
          <a:lstStyle/>
          <a:p>
            <a:pPr>
              <a:defRPr/>
            </a:pPr>
            <a:fld id="{BCA26155-0DCC-45D2-90B6-32F65F3F6C0F}" type="slidenum">
              <a:rPr lang="en-US" smtClean="0"/>
              <a:pPr>
                <a:defRPr/>
              </a:pPr>
              <a:t>9</a:t>
            </a:fld>
            <a:endParaRPr lang="en-US"/>
          </a:p>
        </p:txBody>
      </p:sp>
      <p:sp>
        <p:nvSpPr>
          <p:cNvPr id="10" name="TextBox 9">
            <a:extLst>
              <a:ext uri="{FF2B5EF4-FFF2-40B4-BE49-F238E27FC236}">
                <a16:creationId xmlns:a16="http://schemas.microsoft.com/office/drawing/2014/main" id="{C2B8E7C8-E2F3-976A-07DF-ED492BB343B4}"/>
              </a:ext>
            </a:extLst>
          </p:cNvPr>
          <p:cNvSpPr txBox="1"/>
          <p:nvPr/>
        </p:nvSpPr>
        <p:spPr>
          <a:xfrm>
            <a:off x="457200" y="5030305"/>
            <a:ext cx="2148288" cy="307777"/>
          </a:xfrm>
          <a:prstGeom prst="rect">
            <a:avLst/>
          </a:prstGeom>
          <a:noFill/>
        </p:spPr>
        <p:txBody>
          <a:bodyPr wrap="square" rtlCol="0">
            <a:spAutoFit/>
          </a:bodyPr>
          <a:lstStyle/>
          <a:p>
            <a:pPr algn="ctr"/>
            <a:r>
              <a:rPr lang="en-US" sz="1400" dirty="0">
                <a:latin typeface="+mn-lt"/>
              </a:rPr>
              <a:t>A</a:t>
            </a:r>
            <a:r>
              <a:rPr lang="en-US" sz="1400" baseline="-25000" dirty="0">
                <a:latin typeface="+mn-lt"/>
              </a:rPr>
              <a:t>3</a:t>
            </a:r>
            <a:r>
              <a:rPr lang="en-US" sz="1400" dirty="0">
                <a:latin typeface="+mn-lt"/>
              </a:rPr>
              <a:t> (220 Hz sine wave)</a:t>
            </a:r>
          </a:p>
        </p:txBody>
      </p:sp>
      <p:pic>
        <p:nvPicPr>
          <p:cNvPr id="11" name="Picture 10">
            <a:extLst>
              <a:ext uri="{FF2B5EF4-FFF2-40B4-BE49-F238E27FC236}">
                <a16:creationId xmlns:a16="http://schemas.microsoft.com/office/drawing/2014/main" id="{61095E52-D740-2DB9-021F-85AA1031E135}"/>
              </a:ext>
            </a:extLst>
          </p:cNvPr>
          <p:cNvPicPr>
            <a:picLocks noChangeAspect="1"/>
          </p:cNvPicPr>
          <p:nvPr/>
        </p:nvPicPr>
        <p:blipFill>
          <a:blip r:embed="rId2"/>
          <a:stretch>
            <a:fillRect/>
          </a:stretch>
        </p:blipFill>
        <p:spPr>
          <a:xfrm>
            <a:off x="89083" y="2887262"/>
            <a:ext cx="2813733" cy="2004227"/>
          </a:xfrm>
          <a:prstGeom prst="rect">
            <a:avLst/>
          </a:prstGeom>
        </p:spPr>
      </p:pic>
      <p:pic>
        <p:nvPicPr>
          <p:cNvPr id="12" name="Picture 11">
            <a:extLst>
              <a:ext uri="{FF2B5EF4-FFF2-40B4-BE49-F238E27FC236}">
                <a16:creationId xmlns:a16="http://schemas.microsoft.com/office/drawing/2014/main" id="{1BF77AD2-2C01-DC76-BF8A-F635454B5816}"/>
              </a:ext>
            </a:extLst>
          </p:cNvPr>
          <p:cNvPicPr>
            <a:picLocks noChangeAspect="1"/>
          </p:cNvPicPr>
          <p:nvPr/>
        </p:nvPicPr>
        <p:blipFill>
          <a:blip r:embed="rId3"/>
          <a:stretch>
            <a:fillRect/>
          </a:stretch>
        </p:blipFill>
        <p:spPr>
          <a:xfrm>
            <a:off x="3039171" y="2871702"/>
            <a:ext cx="2888056" cy="2034246"/>
          </a:xfrm>
          <a:prstGeom prst="rect">
            <a:avLst/>
          </a:prstGeom>
        </p:spPr>
      </p:pic>
      <p:sp>
        <p:nvSpPr>
          <p:cNvPr id="13" name="TextBox 12">
            <a:extLst>
              <a:ext uri="{FF2B5EF4-FFF2-40B4-BE49-F238E27FC236}">
                <a16:creationId xmlns:a16="http://schemas.microsoft.com/office/drawing/2014/main" id="{939D3E42-3927-6C7D-F12B-7A0710F732DE}"/>
              </a:ext>
            </a:extLst>
          </p:cNvPr>
          <p:cNvSpPr txBox="1"/>
          <p:nvPr/>
        </p:nvSpPr>
        <p:spPr>
          <a:xfrm>
            <a:off x="3497856" y="5014043"/>
            <a:ext cx="2148288" cy="307777"/>
          </a:xfrm>
          <a:prstGeom prst="rect">
            <a:avLst/>
          </a:prstGeom>
          <a:noFill/>
        </p:spPr>
        <p:txBody>
          <a:bodyPr wrap="square" rtlCol="0">
            <a:spAutoFit/>
          </a:bodyPr>
          <a:lstStyle/>
          <a:p>
            <a:pPr algn="ctr"/>
            <a:r>
              <a:rPr lang="en-US" sz="1400" dirty="0">
                <a:latin typeface="+mn-lt"/>
              </a:rPr>
              <a:t>220 Hz square wave</a:t>
            </a:r>
          </a:p>
        </p:txBody>
      </p:sp>
      <p:sp>
        <p:nvSpPr>
          <p:cNvPr id="15" name="TextBox 14">
            <a:extLst>
              <a:ext uri="{FF2B5EF4-FFF2-40B4-BE49-F238E27FC236}">
                <a16:creationId xmlns:a16="http://schemas.microsoft.com/office/drawing/2014/main" id="{37F53FB9-2CC6-DF1D-1F5C-22733B52D72B}"/>
              </a:ext>
            </a:extLst>
          </p:cNvPr>
          <p:cNvSpPr txBox="1"/>
          <p:nvPr/>
        </p:nvSpPr>
        <p:spPr>
          <a:xfrm>
            <a:off x="3468225" y="2458581"/>
            <a:ext cx="2535714" cy="307777"/>
          </a:xfrm>
          <a:prstGeom prst="rect">
            <a:avLst/>
          </a:prstGeom>
          <a:noFill/>
        </p:spPr>
        <p:txBody>
          <a:bodyPr wrap="square" rtlCol="0">
            <a:spAutoFit/>
          </a:bodyPr>
          <a:lstStyle/>
          <a:p>
            <a:r>
              <a:rPr lang="en-US" sz="1400" dirty="0">
                <a:solidFill>
                  <a:srgbClr val="FF0000"/>
                </a:solidFill>
                <a:latin typeface="+mn-lt"/>
              </a:rPr>
              <a:t>Note: only odd harmonics!</a:t>
            </a:r>
          </a:p>
        </p:txBody>
      </p:sp>
      <p:cxnSp>
        <p:nvCxnSpPr>
          <p:cNvPr id="17" name="Straight Arrow Connector 16">
            <a:extLst>
              <a:ext uri="{FF2B5EF4-FFF2-40B4-BE49-F238E27FC236}">
                <a16:creationId xmlns:a16="http://schemas.microsoft.com/office/drawing/2014/main" id="{EBEE9757-41BC-0705-C656-5346988AD957}"/>
              </a:ext>
            </a:extLst>
          </p:cNvPr>
          <p:cNvCxnSpPr/>
          <p:nvPr/>
        </p:nvCxnSpPr>
        <p:spPr>
          <a:xfrm>
            <a:off x="4647891" y="2715399"/>
            <a:ext cx="132203" cy="62830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1769ADC-E348-9F84-3B90-BB4C50466EDC}"/>
              </a:ext>
            </a:extLst>
          </p:cNvPr>
          <p:cNvCxnSpPr>
            <a:cxnSpLocks/>
          </p:cNvCxnSpPr>
          <p:nvPr/>
        </p:nvCxnSpPr>
        <p:spPr>
          <a:xfrm>
            <a:off x="4889502" y="2770221"/>
            <a:ext cx="66101" cy="67484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196A7D3-D023-8299-BCE2-3A5E4C7DBFBD}"/>
              </a:ext>
            </a:extLst>
          </p:cNvPr>
          <p:cNvCxnSpPr>
            <a:cxnSpLocks/>
          </p:cNvCxnSpPr>
          <p:nvPr/>
        </p:nvCxnSpPr>
        <p:spPr>
          <a:xfrm>
            <a:off x="5088875" y="2715399"/>
            <a:ext cx="0" cy="1201911"/>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22" name="Picture 21">
            <a:extLst>
              <a:ext uri="{FF2B5EF4-FFF2-40B4-BE49-F238E27FC236}">
                <a16:creationId xmlns:a16="http://schemas.microsoft.com/office/drawing/2014/main" id="{1CC563B9-D9B0-6913-4F16-8F88ECB31497}"/>
              </a:ext>
            </a:extLst>
          </p:cNvPr>
          <p:cNvPicPr>
            <a:picLocks noChangeAspect="1"/>
          </p:cNvPicPr>
          <p:nvPr/>
        </p:nvPicPr>
        <p:blipFill>
          <a:blip r:embed="rId4"/>
          <a:stretch>
            <a:fillRect/>
          </a:stretch>
        </p:blipFill>
        <p:spPr>
          <a:xfrm>
            <a:off x="6025974" y="2887262"/>
            <a:ext cx="2888056" cy="2055515"/>
          </a:xfrm>
          <a:prstGeom prst="rect">
            <a:avLst/>
          </a:prstGeom>
        </p:spPr>
      </p:pic>
      <p:sp>
        <p:nvSpPr>
          <p:cNvPr id="23" name="TextBox 22">
            <a:extLst>
              <a:ext uri="{FF2B5EF4-FFF2-40B4-BE49-F238E27FC236}">
                <a16:creationId xmlns:a16="http://schemas.microsoft.com/office/drawing/2014/main" id="{0BA4D99A-BBC3-A015-C135-861129DA2AFE}"/>
              </a:ext>
            </a:extLst>
          </p:cNvPr>
          <p:cNvSpPr txBox="1"/>
          <p:nvPr/>
        </p:nvSpPr>
        <p:spPr>
          <a:xfrm>
            <a:off x="6305320" y="5009292"/>
            <a:ext cx="2381479" cy="523220"/>
          </a:xfrm>
          <a:prstGeom prst="rect">
            <a:avLst/>
          </a:prstGeom>
          <a:noFill/>
        </p:spPr>
        <p:txBody>
          <a:bodyPr wrap="square" rtlCol="0">
            <a:spAutoFit/>
          </a:bodyPr>
          <a:lstStyle/>
          <a:p>
            <a:pPr algn="ctr"/>
            <a:r>
              <a:rPr lang="en-US" sz="1400" dirty="0">
                <a:latin typeface="+mn-lt"/>
              </a:rPr>
              <a:t>A</a:t>
            </a:r>
            <a:r>
              <a:rPr lang="en-US" sz="1400" baseline="-25000" dirty="0">
                <a:latin typeface="+mn-lt"/>
              </a:rPr>
              <a:t>3</a:t>
            </a:r>
            <a:r>
              <a:rPr lang="en-US" sz="1400" dirty="0">
                <a:latin typeface="+mn-lt"/>
              </a:rPr>
              <a:t> on Les Paul played through a really lousy amp.</a:t>
            </a:r>
          </a:p>
        </p:txBody>
      </p:sp>
      <p:sp>
        <p:nvSpPr>
          <p:cNvPr id="24" name="TextBox 23">
            <a:extLst>
              <a:ext uri="{FF2B5EF4-FFF2-40B4-BE49-F238E27FC236}">
                <a16:creationId xmlns:a16="http://schemas.microsoft.com/office/drawing/2014/main" id="{C50625B3-E8FF-A996-99B4-788BCC4C3B92}"/>
              </a:ext>
            </a:extLst>
          </p:cNvPr>
          <p:cNvSpPr txBox="1"/>
          <p:nvPr/>
        </p:nvSpPr>
        <p:spPr>
          <a:xfrm>
            <a:off x="7183605" y="2522147"/>
            <a:ext cx="1995022" cy="307777"/>
          </a:xfrm>
          <a:prstGeom prst="rect">
            <a:avLst/>
          </a:prstGeom>
          <a:noFill/>
        </p:spPr>
        <p:txBody>
          <a:bodyPr wrap="square" rtlCol="0">
            <a:spAutoFit/>
          </a:bodyPr>
          <a:lstStyle/>
          <a:p>
            <a:r>
              <a:rPr lang="en-US" sz="1400" dirty="0">
                <a:solidFill>
                  <a:srgbClr val="FF0000"/>
                </a:solidFill>
                <a:latin typeface="+mn-lt"/>
              </a:rPr>
              <a:t>Strong 2</a:t>
            </a:r>
            <a:r>
              <a:rPr lang="en-US" sz="1400" baseline="30000" dirty="0">
                <a:solidFill>
                  <a:srgbClr val="FF0000"/>
                </a:solidFill>
                <a:latin typeface="+mn-lt"/>
              </a:rPr>
              <a:t>nd</a:t>
            </a:r>
            <a:r>
              <a:rPr lang="en-US" sz="1400" dirty="0">
                <a:solidFill>
                  <a:srgbClr val="FF0000"/>
                </a:solidFill>
                <a:latin typeface="+mn-lt"/>
              </a:rPr>
              <a:t> Harmonic</a:t>
            </a:r>
          </a:p>
        </p:txBody>
      </p:sp>
      <p:cxnSp>
        <p:nvCxnSpPr>
          <p:cNvPr id="25" name="Straight Arrow Connector 24">
            <a:extLst>
              <a:ext uri="{FF2B5EF4-FFF2-40B4-BE49-F238E27FC236}">
                <a16:creationId xmlns:a16="http://schemas.microsoft.com/office/drawing/2014/main" id="{8303F08D-C28F-BC6C-E602-AC28C9B0E1D6}"/>
              </a:ext>
            </a:extLst>
          </p:cNvPr>
          <p:cNvCxnSpPr>
            <a:cxnSpLocks/>
          </p:cNvCxnSpPr>
          <p:nvPr/>
        </p:nvCxnSpPr>
        <p:spPr>
          <a:xfrm>
            <a:off x="7653969" y="2766358"/>
            <a:ext cx="0" cy="34128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8F3A95C-70D7-69BE-3087-87F978A73AFB}"/>
              </a:ext>
            </a:extLst>
          </p:cNvPr>
          <p:cNvSpPr txBox="1"/>
          <p:nvPr/>
        </p:nvSpPr>
        <p:spPr>
          <a:xfrm>
            <a:off x="6037922" y="2204045"/>
            <a:ext cx="2992529" cy="307777"/>
          </a:xfrm>
          <a:prstGeom prst="rect">
            <a:avLst/>
          </a:prstGeom>
          <a:noFill/>
        </p:spPr>
        <p:txBody>
          <a:bodyPr wrap="square" rtlCol="0">
            <a:spAutoFit/>
          </a:bodyPr>
          <a:lstStyle/>
          <a:p>
            <a:r>
              <a:rPr lang="en-US" sz="1400" dirty="0">
                <a:solidFill>
                  <a:srgbClr val="FF0000"/>
                </a:solidFill>
                <a:latin typeface="+mn-lt"/>
              </a:rPr>
              <a:t>Open A string vibrating in sympathy</a:t>
            </a:r>
          </a:p>
        </p:txBody>
      </p:sp>
      <p:cxnSp>
        <p:nvCxnSpPr>
          <p:cNvPr id="28" name="Straight Arrow Connector 27">
            <a:extLst>
              <a:ext uri="{FF2B5EF4-FFF2-40B4-BE49-F238E27FC236}">
                <a16:creationId xmlns:a16="http://schemas.microsoft.com/office/drawing/2014/main" id="{500F4FB5-7DB9-09D7-585D-58AD23A63343}"/>
              </a:ext>
            </a:extLst>
          </p:cNvPr>
          <p:cNvCxnSpPr>
            <a:cxnSpLocks/>
          </p:cNvCxnSpPr>
          <p:nvPr/>
        </p:nvCxnSpPr>
        <p:spPr>
          <a:xfrm>
            <a:off x="6720289" y="2511822"/>
            <a:ext cx="524828" cy="85901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943922"/>
      </p:ext>
    </p:extLst>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95AA9-AC47-3C8E-FD82-214A910463A3}"/>
              </a:ext>
            </a:extLst>
          </p:cNvPr>
          <p:cNvSpPr>
            <a:spLocks noGrp="1"/>
          </p:cNvSpPr>
          <p:nvPr>
            <p:ph type="title"/>
          </p:nvPr>
        </p:nvSpPr>
        <p:spPr/>
        <p:txBody>
          <a:bodyPr/>
          <a:lstStyle/>
          <a:p>
            <a:r>
              <a:rPr lang="en-US" dirty="0"/>
              <a:t>Digression: How We See Color</a:t>
            </a:r>
          </a:p>
        </p:txBody>
      </p:sp>
      <p:sp>
        <p:nvSpPr>
          <p:cNvPr id="6" name="Content Placeholder 5">
            <a:extLst>
              <a:ext uri="{FF2B5EF4-FFF2-40B4-BE49-F238E27FC236}">
                <a16:creationId xmlns:a16="http://schemas.microsoft.com/office/drawing/2014/main" id="{A70568F5-81BB-70DC-7E9F-152E215949DF}"/>
              </a:ext>
            </a:extLst>
          </p:cNvPr>
          <p:cNvSpPr>
            <a:spLocks noGrp="1"/>
          </p:cNvSpPr>
          <p:nvPr>
            <p:ph idx="1"/>
          </p:nvPr>
        </p:nvSpPr>
        <p:spPr>
          <a:xfrm>
            <a:off x="441713" y="1182021"/>
            <a:ext cx="8229600" cy="5657691"/>
          </a:xfrm>
        </p:spPr>
        <p:txBody>
          <a:bodyPr>
            <a:normAutofit/>
          </a:bodyPr>
          <a:lstStyle/>
          <a:p>
            <a:r>
              <a:rPr lang="en-US" sz="1800" dirty="0"/>
              <a:t>Our perception of color is also based on frequency, but unlike sound, we don’t distinguish individual colors.</a:t>
            </a:r>
          </a:p>
          <a:p>
            <a:r>
              <a:rPr lang="en-US" sz="1800" dirty="0"/>
              <a:t>For each point, we perceive a </a:t>
            </a:r>
            <a:r>
              <a:rPr lang="en-US" sz="1800" i="1" dirty="0"/>
              <a:t>single</a:t>
            </a:r>
            <a:r>
              <a:rPr lang="en-US" sz="1800" dirty="0"/>
              <a:t> color based on the relative stimulation of the three types of color-sensitive “cones” in our retinas.</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Projectors and displays mimic colors using combinations of red, green, and blue.</a:t>
            </a:r>
          </a:p>
        </p:txBody>
      </p:sp>
      <p:sp>
        <p:nvSpPr>
          <p:cNvPr id="3" name="Date Placeholder 2">
            <a:extLst>
              <a:ext uri="{FF2B5EF4-FFF2-40B4-BE49-F238E27FC236}">
                <a16:creationId xmlns:a16="http://schemas.microsoft.com/office/drawing/2014/main" id="{2BD5312F-E9AE-A220-1E3A-5F069B6737D0}"/>
              </a:ext>
            </a:extLst>
          </p:cNvPr>
          <p:cNvSpPr>
            <a:spLocks noGrp="1"/>
          </p:cNvSpPr>
          <p:nvPr>
            <p:ph type="dt" sz="half" idx="10"/>
          </p:nvPr>
        </p:nvSpPr>
        <p:spPr/>
        <p:txBody>
          <a:bodyPr/>
          <a:lstStyle/>
          <a:p>
            <a:pPr>
              <a:defRPr/>
            </a:pPr>
            <a:r>
              <a:rPr lang="en-US"/>
              <a:t>Phy 40, Fall 2025</a:t>
            </a:r>
            <a:endParaRPr lang="en-US" dirty="0"/>
          </a:p>
        </p:txBody>
      </p:sp>
      <p:sp>
        <p:nvSpPr>
          <p:cNvPr id="4" name="Footer Placeholder 3">
            <a:extLst>
              <a:ext uri="{FF2B5EF4-FFF2-40B4-BE49-F238E27FC236}">
                <a16:creationId xmlns:a16="http://schemas.microsoft.com/office/drawing/2014/main" id="{B945517B-CC56-DE98-1F0A-06262051911C}"/>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a:extLst>
              <a:ext uri="{FF2B5EF4-FFF2-40B4-BE49-F238E27FC236}">
                <a16:creationId xmlns:a16="http://schemas.microsoft.com/office/drawing/2014/main" id="{526842E9-CF82-BF31-D11A-C5BC1FA2016E}"/>
              </a:ext>
            </a:extLst>
          </p:cNvPr>
          <p:cNvSpPr>
            <a:spLocks noGrp="1"/>
          </p:cNvSpPr>
          <p:nvPr>
            <p:ph type="sldNum" sz="quarter" idx="12"/>
          </p:nvPr>
        </p:nvSpPr>
        <p:spPr/>
        <p:txBody>
          <a:bodyPr/>
          <a:lstStyle/>
          <a:p>
            <a:pPr>
              <a:defRPr/>
            </a:pPr>
            <a:fld id="{BAB536C3-BB10-4165-8E74-99838CB51702}" type="slidenum">
              <a:rPr lang="en-US" smtClean="0"/>
              <a:pPr>
                <a:defRPr/>
              </a:pPr>
              <a:t>10</a:t>
            </a:fld>
            <a:endParaRPr lang="en-US"/>
          </a:p>
        </p:txBody>
      </p:sp>
      <p:pic>
        <p:nvPicPr>
          <p:cNvPr id="1026" name="Picture 2" descr="What is accurate color | BenQ Asia Pacific">
            <a:extLst>
              <a:ext uri="{FF2B5EF4-FFF2-40B4-BE49-F238E27FC236}">
                <a16:creationId xmlns:a16="http://schemas.microsoft.com/office/drawing/2014/main" id="{FDC10189-8558-3394-478B-93DD6E5B79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71" y="3002006"/>
            <a:ext cx="3631894" cy="20177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B18AC2DF-C022-F22E-D42E-612CDE765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2705" y="2798286"/>
            <a:ext cx="3914895" cy="256618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1E1E5D9-62F5-4B6C-8089-62F12BA949E7}"/>
              </a:ext>
            </a:extLst>
          </p:cNvPr>
          <p:cNvSpPr txBox="1"/>
          <p:nvPr/>
        </p:nvSpPr>
        <p:spPr>
          <a:xfrm>
            <a:off x="6320812" y="2408142"/>
            <a:ext cx="1796788" cy="307777"/>
          </a:xfrm>
          <a:prstGeom prst="rect">
            <a:avLst/>
          </a:prstGeom>
          <a:noFill/>
        </p:spPr>
        <p:txBody>
          <a:bodyPr wrap="square" rtlCol="0">
            <a:spAutoFit/>
          </a:bodyPr>
          <a:lstStyle/>
          <a:p>
            <a:r>
              <a:rPr lang="en-US" sz="1400" dirty="0" err="1">
                <a:solidFill>
                  <a:srgbClr val="FF0000"/>
                </a:solidFill>
                <a:latin typeface="+mn-lt"/>
              </a:rPr>
              <a:t>red</a:t>
            </a:r>
            <a:r>
              <a:rPr lang="en-US" sz="1400" dirty="0" err="1">
                <a:latin typeface="+mn-lt"/>
              </a:rPr>
              <a:t>+</a:t>
            </a:r>
            <a:r>
              <a:rPr lang="en-US" sz="1400" dirty="0" err="1">
                <a:solidFill>
                  <a:srgbClr val="00B050"/>
                </a:solidFill>
                <a:latin typeface="+mn-lt"/>
              </a:rPr>
              <a:t>green</a:t>
            </a:r>
            <a:r>
              <a:rPr lang="en-US" sz="1400" dirty="0">
                <a:latin typeface="+mn-lt"/>
              </a:rPr>
              <a:t>=</a:t>
            </a:r>
            <a:r>
              <a:rPr lang="en-US" sz="1400" dirty="0">
                <a:solidFill>
                  <a:srgbClr val="FFFF00"/>
                </a:solidFill>
                <a:highlight>
                  <a:srgbClr val="000000"/>
                </a:highlight>
                <a:latin typeface="+mn-lt"/>
              </a:rPr>
              <a:t>yellow</a:t>
            </a:r>
          </a:p>
        </p:txBody>
      </p:sp>
      <p:cxnSp>
        <p:nvCxnSpPr>
          <p:cNvPr id="10" name="Straight Arrow Connector 9">
            <a:extLst>
              <a:ext uri="{FF2B5EF4-FFF2-40B4-BE49-F238E27FC236}">
                <a16:creationId xmlns:a16="http://schemas.microsoft.com/office/drawing/2014/main" id="{F5219E27-727E-9F70-C28B-092DBA59AA52}"/>
              </a:ext>
            </a:extLst>
          </p:cNvPr>
          <p:cNvCxnSpPr>
            <a:cxnSpLocks/>
          </p:cNvCxnSpPr>
          <p:nvPr/>
        </p:nvCxnSpPr>
        <p:spPr>
          <a:xfrm flipH="1">
            <a:off x="6169446" y="2715919"/>
            <a:ext cx="195041" cy="809479"/>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1F517060-4FA8-2C62-3D3D-81A8CFF99E60}"/>
              </a:ext>
            </a:extLst>
          </p:cNvPr>
          <p:cNvSpPr txBox="1"/>
          <p:nvPr/>
        </p:nvSpPr>
        <p:spPr>
          <a:xfrm>
            <a:off x="4073607" y="2490508"/>
            <a:ext cx="1796788" cy="307777"/>
          </a:xfrm>
          <a:prstGeom prst="rect">
            <a:avLst/>
          </a:prstGeom>
          <a:noFill/>
        </p:spPr>
        <p:txBody>
          <a:bodyPr wrap="square" rtlCol="0">
            <a:spAutoFit/>
          </a:bodyPr>
          <a:lstStyle/>
          <a:p>
            <a:r>
              <a:rPr lang="en-US" sz="1400" dirty="0" err="1">
                <a:solidFill>
                  <a:srgbClr val="0239F9"/>
                </a:solidFill>
                <a:latin typeface="+mn-lt"/>
              </a:rPr>
              <a:t>blue</a:t>
            </a:r>
            <a:r>
              <a:rPr lang="en-US" sz="1400" dirty="0" err="1">
                <a:latin typeface="+mn-lt"/>
              </a:rPr>
              <a:t>+</a:t>
            </a:r>
            <a:r>
              <a:rPr lang="en-US" sz="1400" dirty="0" err="1">
                <a:solidFill>
                  <a:srgbClr val="00B050"/>
                </a:solidFill>
                <a:latin typeface="+mn-lt"/>
              </a:rPr>
              <a:t>green</a:t>
            </a:r>
            <a:r>
              <a:rPr lang="en-US" sz="1400" dirty="0">
                <a:latin typeface="+mn-lt"/>
              </a:rPr>
              <a:t>=</a:t>
            </a:r>
            <a:r>
              <a:rPr lang="en-US" sz="1400" dirty="0">
                <a:solidFill>
                  <a:srgbClr val="00B0F0"/>
                </a:solidFill>
                <a:latin typeface="+mn-lt"/>
              </a:rPr>
              <a:t>cyan</a:t>
            </a:r>
            <a:endParaRPr lang="en-US" sz="1400" dirty="0">
              <a:solidFill>
                <a:srgbClr val="00B0F0"/>
              </a:solidFill>
              <a:highlight>
                <a:srgbClr val="000000"/>
              </a:highlight>
              <a:latin typeface="+mn-lt"/>
            </a:endParaRPr>
          </a:p>
        </p:txBody>
      </p:sp>
      <p:sp>
        <p:nvSpPr>
          <p:cNvPr id="12" name="TextBox 11">
            <a:extLst>
              <a:ext uri="{FF2B5EF4-FFF2-40B4-BE49-F238E27FC236}">
                <a16:creationId xmlns:a16="http://schemas.microsoft.com/office/drawing/2014/main" id="{035C7541-6BF1-3689-FA85-5B5456324132}"/>
              </a:ext>
            </a:extLst>
          </p:cNvPr>
          <p:cNvSpPr txBox="1"/>
          <p:nvPr/>
        </p:nvSpPr>
        <p:spPr>
          <a:xfrm>
            <a:off x="4273825" y="5317263"/>
            <a:ext cx="3635735" cy="523220"/>
          </a:xfrm>
          <a:prstGeom prst="rect">
            <a:avLst/>
          </a:prstGeom>
          <a:noFill/>
        </p:spPr>
        <p:txBody>
          <a:bodyPr wrap="square" rtlCol="0">
            <a:spAutoFit/>
          </a:bodyPr>
          <a:lstStyle/>
          <a:p>
            <a:r>
              <a:rPr lang="en-US" sz="1400" dirty="0">
                <a:solidFill>
                  <a:srgbClr val="FF0000"/>
                </a:solidFill>
                <a:latin typeface="+mn-lt"/>
              </a:rPr>
              <a:t>“red” </a:t>
            </a:r>
            <a:r>
              <a:rPr lang="en-US" sz="1400" dirty="0">
                <a:latin typeface="+mn-lt"/>
              </a:rPr>
              <a:t>cones are also sensitive to violet, thus </a:t>
            </a:r>
            <a:br>
              <a:rPr lang="en-US" sz="1400" dirty="0">
                <a:latin typeface="+mn-lt"/>
              </a:rPr>
            </a:br>
            <a:r>
              <a:rPr lang="en-US" sz="1400" dirty="0" err="1">
                <a:solidFill>
                  <a:srgbClr val="FF0000"/>
                </a:solidFill>
                <a:latin typeface="+mn-lt"/>
              </a:rPr>
              <a:t>red</a:t>
            </a:r>
            <a:r>
              <a:rPr lang="en-US" sz="1400" dirty="0" err="1">
                <a:latin typeface="+mn-lt"/>
              </a:rPr>
              <a:t>+</a:t>
            </a:r>
            <a:r>
              <a:rPr lang="en-US" sz="1400" dirty="0" err="1">
                <a:solidFill>
                  <a:srgbClr val="0239F9"/>
                </a:solidFill>
                <a:latin typeface="+mn-lt"/>
              </a:rPr>
              <a:t>blue</a:t>
            </a:r>
            <a:r>
              <a:rPr lang="en-US" sz="1400" dirty="0">
                <a:latin typeface="+mn-lt"/>
              </a:rPr>
              <a:t>=</a:t>
            </a:r>
            <a:r>
              <a:rPr lang="en-US" sz="1400" dirty="0">
                <a:solidFill>
                  <a:srgbClr val="7030A0"/>
                </a:solidFill>
                <a:latin typeface="+mn-lt"/>
              </a:rPr>
              <a:t>violet</a:t>
            </a:r>
            <a:endParaRPr lang="en-US" sz="1400" dirty="0">
              <a:solidFill>
                <a:srgbClr val="7030A0"/>
              </a:solidFill>
              <a:highlight>
                <a:srgbClr val="000000"/>
              </a:highlight>
              <a:latin typeface="+mn-lt"/>
            </a:endParaRPr>
          </a:p>
        </p:txBody>
      </p:sp>
      <p:cxnSp>
        <p:nvCxnSpPr>
          <p:cNvPr id="14" name="Straight Arrow Connector 13">
            <a:extLst>
              <a:ext uri="{FF2B5EF4-FFF2-40B4-BE49-F238E27FC236}">
                <a16:creationId xmlns:a16="http://schemas.microsoft.com/office/drawing/2014/main" id="{9D65359B-4A09-8C43-0C9B-E84B76E16C8D}"/>
              </a:ext>
            </a:extLst>
          </p:cNvPr>
          <p:cNvCxnSpPr>
            <a:cxnSpLocks/>
          </p:cNvCxnSpPr>
          <p:nvPr/>
        </p:nvCxnSpPr>
        <p:spPr>
          <a:xfrm>
            <a:off x="5129556" y="2761397"/>
            <a:ext cx="114473" cy="55468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0AFDB1F-AA9D-EA76-3F4D-E62CBCCD1AF3}"/>
              </a:ext>
            </a:extLst>
          </p:cNvPr>
          <p:cNvSpPr txBox="1"/>
          <p:nvPr/>
        </p:nvSpPr>
        <p:spPr>
          <a:xfrm>
            <a:off x="6424832" y="5615072"/>
            <a:ext cx="2350501" cy="307777"/>
          </a:xfrm>
          <a:prstGeom prst="rect">
            <a:avLst/>
          </a:prstGeom>
          <a:noFill/>
        </p:spPr>
        <p:txBody>
          <a:bodyPr wrap="square" rtlCol="0">
            <a:spAutoFit/>
          </a:bodyPr>
          <a:lstStyle/>
          <a:p>
            <a:pPr algn="r"/>
            <a:r>
              <a:rPr lang="en-US" sz="1400" dirty="0" err="1">
                <a:solidFill>
                  <a:srgbClr val="FF0000"/>
                </a:solidFill>
                <a:latin typeface="+mn-lt"/>
              </a:rPr>
              <a:t>red</a:t>
            </a:r>
            <a:r>
              <a:rPr lang="en-US" sz="1400" dirty="0" err="1">
                <a:latin typeface="+mn-lt"/>
              </a:rPr>
              <a:t>+</a:t>
            </a:r>
            <a:r>
              <a:rPr lang="en-US" sz="1400" dirty="0" err="1">
                <a:solidFill>
                  <a:srgbClr val="00B050"/>
                </a:solidFill>
                <a:latin typeface="+mn-lt"/>
              </a:rPr>
              <a:t>green</a:t>
            </a:r>
            <a:r>
              <a:rPr lang="en-US" sz="1400" dirty="0" err="1">
                <a:latin typeface="+mn-lt"/>
              </a:rPr>
              <a:t>+</a:t>
            </a:r>
            <a:r>
              <a:rPr lang="en-US" sz="1400" dirty="0" err="1">
                <a:solidFill>
                  <a:srgbClr val="0239F9"/>
                </a:solidFill>
                <a:latin typeface="+mn-lt"/>
              </a:rPr>
              <a:t>blue</a:t>
            </a:r>
            <a:r>
              <a:rPr lang="en-US" sz="1400" dirty="0">
                <a:latin typeface="+mn-lt"/>
              </a:rPr>
              <a:t>=</a:t>
            </a:r>
            <a:r>
              <a:rPr lang="en-US" sz="1400" dirty="0">
                <a:solidFill>
                  <a:schemeClr val="bg1"/>
                </a:solidFill>
                <a:highlight>
                  <a:srgbClr val="000000"/>
                </a:highlight>
                <a:latin typeface="+mn-lt"/>
              </a:rPr>
              <a:t>white</a:t>
            </a:r>
          </a:p>
        </p:txBody>
      </p:sp>
    </p:spTree>
    <p:extLst>
      <p:ext uri="{BB962C8B-B14F-4D97-AF65-F5344CB8AC3E}">
        <p14:creationId xmlns:p14="http://schemas.microsoft.com/office/powerpoint/2010/main" val="2686341790"/>
      </p:ext>
    </p:extLst>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CE1F2-4FAF-718D-9660-6179DD2926FC}"/>
              </a:ext>
            </a:extLst>
          </p:cNvPr>
          <p:cNvSpPr>
            <a:spLocks noGrp="1"/>
          </p:cNvSpPr>
          <p:nvPr>
            <p:ph type="title"/>
          </p:nvPr>
        </p:nvSpPr>
        <p:spPr/>
        <p:txBody>
          <a:bodyPr/>
          <a:lstStyle/>
          <a:p>
            <a:r>
              <a:rPr lang="en-US" dirty="0"/>
              <a:t>No image shows ”true” colors</a:t>
            </a:r>
          </a:p>
        </p:txBody>
      </p:sp>
      <p:sp>
        <p:nvSpPr>
          <p:cNvPr id="3" name="Content Placeholder 2">
            <a:extLst>
              <a:ext uri="{FF2B5EF4-FFF2-40B4-BE49-F238E27FC236}">
                <a16:creationId xmlns:a16="http://schemas.microsoft.com/office/drawing/2014/main" id="{A0A4B625-14E4-401F-F9F1-710C512F8E04}"/>
              </a:ext>
            </a:extLst>
          </p:cNvPr>
          <p:cNvSpPr>
            <a:spLocks noGrp="1"/>
          </p:cNvSpPr>
          <p:nvPr>
            <p:ph idx="1"/>
          </p:nvPr>
        </p:nvSpPr>
        <p:spPr/>
        <p:txBody>
          <a:bodyPr>
            <a:normAutofit/>
          </a:bodyPr>
          <a:lstStyle/>
          <a:p>
            <a:r>
              <a:rPr lang="en-US" sz="2000" dirty="0"/>
              <a:t>Example:  If I take the from a helium discharge tube and put it through a diffraction grating, I’ll see well defined lines corresponding to individual wavelengths</a:t>
            </a:r>
          </a:p>
          <a:p>
            <a:endParaRPr lang="en-US" sz="2000" dirty="0"/>
          </a:p>
          <a:p>
            <a:endParaRPr lang="en-US" sz="2000" dirty="0"/>
          </a:p>
          <a:p>
            <a:endParaRPr lang="en-US" sz="2000" dirty="0"/>
          </a:p>
          <a:p>
            <a:r>
              <a:rPr lang="en-US" sz="2000" dirty="0"/>
              <a:t>On the other hand, if I take the </a:t>
            </a:r>
            <a:br>
              <a:rPr lang="en-US" sz="2000" dirty="0"/>
            </a:br>
            <a:r>
              <a:rPr lang="en-US" sz="2000" dirty="0"/>
              <a:t>color “yellow” that I’m projecting </a:t>
            </a:r>
            <a:br>
              <a:rPr lang="en-US" sz="2000" dirty="0"/>
            </a:br>
            <a:r>
              <a:rPr lang="en-US" sz="2000" dirty="0"/>
              <a:t>here and pass it through a </a:t>
            </a:r>
            <a:br>
              <a:rPr lang="en-US" sz="2000" dirty="0"/>
            </a:br>
            <a:r>
              <a:rPr lang="en-US" sz="2000" dirty="0"/>
              <a:t>diffraction grating, I’ll see the </a:t>
            </a:r>
            <a:br>
              <a:rPr lang="en-US" sz="2000" dirty="0"/>
            </a:br>
            <a:r>
              <a:rPr lang="en-US" sz="2000" dirty="0"/>
              <a:t>spectra of the green and red </a:t>
            </a:r>
            <a:br>
              <a:rPr lang="en-US" sz="2000" dirty="0"/>
            </a:br>
            <a:r>
              <a:rPr lang="en-US" sz="2000" dirty="0"/>
              <a:t>LEDs</a:t>
            </a:r>
          </a:p>
          <a:p>
            <a:endParaRPr lang="en-US" sz="2000" dirty="0"/>
          </a:p>
          <a:p>
            <a:endParaRPr lang="en-US" sz="2000" dirty="0"/>
          </a:p>
          <a:p>
            <a:r>
              <a:rPr lang="en-US" sz="2000" dirty="0"/>
              <a:t>Fish and some birds have a fourth shorter wavelength cone, so they would not see an RGB projection of violet as the same as pure violet.</a:t>
            </a:r>
          </a:p>
        </p:txBody>
      </p:sp>
      <p:sp>
        <p:nvSpPr>
          <p:cNvPr id="4" name="Date Placeholder 3">
            <a:extLst>
              <a:ext uri="{FF2B5EF4-FFF2-40B4-BE49-F238E27FC236}">
                <a16:creationId xmlns:a16="http://schemas.microsoft.com/office/drawing/2014/main" id="{9CB6918B-3E46-F0E3-B34D-CF58B94FC2B8}"/>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C5B8F662-ED4C-E390-793A-58DAADB7E3A5}"/>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a:extLst>
              <a:ext uri="{FF2B5EF4-FFF2-40B4-BE49-F238E27FC236}">
                <a16:creationId xmlns:a16="http://schemas.microsoft.com/office/drawing/2014/main" id="{34482F2F-CFBF-DD31-B011-5DDE171EC2E7}"/>
              </a:ext>
            </a:extLst>
          </p:cNvPr>
          <p:cNvSpPr>
            <a:spLocks noGrp="1"/>
          </p:cNvSpPr>
          <p:nvPr>
            <p:ph type="sldNum" sz="quarter" idx="12"/>
          </p:nvPr>
        </p:nvSpPr>
        <p:spPr/>
        <p:txBody>
          <a:bodyPr/>
          <a:lstStyle/>
          <a:p>
            <a:pPr>
              <a:defRPr/>
            </a:pPr>
            <a:fld id="{BCA26155-0DCC-45D2-90B6-32F65F3F6C0F}" type="slidenum">
              <a:rPr lang="en-US" smtClean="0"/>
              <a:pPr>
                <a:defRPr/>
              </a:pPr>
              <a:t>11</a:t>
            </a:fld>
            <a:endParaRPr lang="en-US"/>
          </a:p>
        </p:txBody>
      </p:sp>
      <p:pic>
        <p:nvPicPr>
          <p:cNvPr id="7" name="Picture 6">
            <a:extLst>
              <a:ext uri="{FF2B5EF4-FFF2-40B4-BE49-F238E27FC236}">
                <a16:creationId xmlns:a16="http://schemas.microsoft.com/office/drawing/2014/main" id="{C63469A0-072D-8757-4D62-463B93FDDB52}"/>
              </a:ext>
            </a:extLst>
          </p:cNvPr>
          <p:cNvPicPr>
            <a:picLocks noChangeAspect="1"/>
          </p:cNvPicPr>
          <p:nvPr/>
        </p:nvPicPr>
        <p:blipFill rotWithShape="1">
          <a:blip r:embed="rId2"/>
          <a:srcRect r="18841"/>
          <a:stretch/>
        </p:blipFill>
        <p:spPr>
          <a:xfrm>
            <a:off x="230749" y="2145228"/>
            <a:ext cx="8440564" cy="975430"/>
          </a:xfrm>
          <a:prstGeom prst="rect">
            <a:avLst/>
          </a:prstGeom>
        </p:spPr>
      </p:pic>
      <p:pic>
        <p:nvPicPr>
          <p:cNvPr id="2052" name="Picture 4" descr="figure 1">
            <a:extLst>
              <a:ext uri="{FF2B5EF4-FFF2-40B4-BE49-F238E27FC236}">
                <a16:creationId xmlns:a16="http://schemas.microsoft.com/office/drawing/2014/main" id="{7BA48AE8-E65F-30D8-6A25-C41F797A3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871" y="3203024"/>
            <a:ext cx="3253696" cy="2657052"/>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F898C589-923A-C7E9-7DCE-9B7E78A92B89}"/>
              </a:ext>
            </a:extLst>
          </p:cNvPr>
          <p:cNvCxnSpPr>
            <a:cxnSpLocks/>
          </p:cNvCxnSpPr>
          <p:nvPr/>
        </p:nvCxnSpPr>
        <p:spPr>
          <a:xfrm>
            <a:off x="3429000" y="2900169"/>
            <a:ext cx="3621795" cy="75218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5691F66-4FC7-9B46-FD5C-A903F3777244}"/>
              </a:ext>
            </a:extLst>
          </p:cNvPr>
          <p:cNvCxnSpPr>
            <a:cxnSpLocks/>
          </p:cNvCxnSpPr>
          <p:nvPr/>
        </p:nvCxnSpPr>
        <p:spPr>
          <a:xfrm>
            <a:off x="3429000" y="2878157"/>
            <a:ext cx="2905699" cy="77419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89088058"/>
      </p:ext>
    </p:extLst>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 Representation</a:t>
            </a:r>
          </a:p>
        </p:txBody>
      </p:sp>
      <p:sp>
        <p:nvSpPr>
          <p:cNvPr id="3" name="Date Placeholder 2"/>
          <p:cNvSpPr>
            <a:spLocks noGrp="1"/>
          </p:cNvSpPr>
          <p:nvPr>
            <p:ph type="dt" sz="half" idx="10"/>
          </p:nvPr>
        </p:nvSpPr>
        <p:spPr/>
        <p:txBody>
          <a:bodyPr/>
          <a:lstStyle/>
          <a:p>
            <a:pPr>
              <a:defRPr/>
            </a:pPr>
            <a:r>
              <a:rPr lang="en-US"/>
              <a:t>Phy 40, Fall 2025</a:t>
            </a:r>
            <a:endParaRPr lang="en-US" dirty="0"/>
          </a:p>
        </p:txBody>
      </p:sp>
      <p:sp>
        <p:nvSpPr>
          <p:cNvPr id="4" name="Footer Placeholder 3"/>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12</a:t>
            </a:fld>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2637479348"/>
              </p:ext>
            </p:extLst>
          </p:nvPr>
        </p:nvGraphicFramePr>
        <p:xfrm>
          <a:off x="0" y="1466835"/>
          <a:ext cx="6045466" cy="3432364"/>
        </p:xfrm>
        <a:graphic>
          <a:graphicData uri="http://schemas.openxmlformats.org/presentationml/2006/ole">
            <mc:AlternateContent xmlns:mc="http://schemas.openxmlformats.org/markup-compatibility/2006">
              <mc:Choice xmlns:v="urn:schemas-microsoft-com:vml" Requires="v">
                <p:oleObj name="Equation" r:id="rId2" imgW="3124200" imgH="1778000" progId="Equation.DSMT4">
                  <p:embed/>
                </p:oleObj>
              </mc:Choice>
              <mc:Fallback>
                <p:oleObj name="Equation" r:id="rId2" imgW="3124200" imgH="1778000" progId="Equation.DSMT4">
                  <p:embed/>
                  <p:pic>
                    <p:nvPicPr>
                      <p:cNvPr id="0" name=""/>
                      <p:cNvPicPr/>
                      <p:nvPr/>
                    </p:nvPicPr>
                    <p:blipFill>
                      <a:blip r:embed="rId3"/>
                      <a:stretch>
                        <a:fillRect/>
                      </a:stretch>
                    </p:blipFill>
                    <p:spPr>
                      <a:xfrm>
                        <a:off x="0" y="1466835"/>
                        <a:ext cx="6045466" cy="3432364"/>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58804125"/>
              </p:ext>
            </p:extLst>
          </p:nvPr>
        </p:nvGraphicFramePr>
        <p:xfrm>
          <a:off x="5678591" y="1085850"/>
          <a:ext cx="3130550" cy="2066925"/>
        </p:xfrm>
        <a:graphic>
          <a:graphicData uri="http://schemas.openxmlformats.org/presentationml/2006/ole">
            <mc:AlternateContent xmlns:mc="http://schemas.openxmlformats.org/markup-compatibility/2006">
              <mc:Choice xmlns:v="urn:schemas-microsoft-com:vml" Requires="v">
                <p:oleObj name="Equation" r:id="rId4" imgW="1460500" imgH="965200" progId="Equation.DSMT4">
                  <p:embed/>
                </p:oleObj>
              </mc:Choice>
              <mc:Fallback>
                <p:oleObj name="Equation" r:id="rId4" imgW="1460500" imgH="965200" progId="Equation.DSMT4">
                  <p:embed/>
                  <p:pic>
                    <p:nvPicPr>
                      <p:cNvPr id="0" name=""/>
                      <p:cNvPicPr/>
                      <p:nvPr/>
                    </p:nvPicPr>
                    <p:blipFill>
                      <a:blip r:embed="rId5"/>
                      <a:stretch>
                        <a:fillRect/>
                      </a:stretch>
                    </p:blipFill>
                    <p:spPr>
                      <a:xfrm>
                        <a:off x="5678591" y="1085850"/>
                        <a:ext cx="3130550" cy="2066925"/>
                      </a:xfrm>
                      <a:prstGeom prst="rect">
                        <a:avLst/>
                      </a:prstGeom>
                    </p:spPr>
                  </p:pic>
                </p:oleObj>
              </mc:Fallback>
            </mc:AlternateContent>
          </a:graphicData>
        </a:graphic>
      </p:graphicFrame>
      <p:sp>
        <p:nvSpPr>
          <p:cNvPr id="8" name="TextBox 7"/>
          <p:cNvSpPr txBox="1"/>
          <p:nvPr/>
        </p:nvSpPr>
        <p:spPr>
          <a:xfrm>
            <a:off x="6086942" y="3910215"/>
            <a:ext cx="2939371" cy="461665"/>
          </a:xfrm>
          <a:prstGeom prst="rect">
            <a:avLst/>
          </a:prstGeom>
          <a:noFill/>
        </p:spPr>
        <p:txBody>
          <a:bodyPr wrap="square" rtlCol="0">
            <a:spAutoFit/>
          </a:bodyPr>
          <a:lstStyle/>
          <a:p>
            <a:r>
              <a:rPr lang="en-US" sz="2400" dirty="0"/>
              <a:t>If result is real, then </a:t>
            </a:r>
          </a:p>
        </p:txBody>
      </p:sp>
      <p:graphicFrame>
        <p:nvGraphicFramePr>
          <p:cNvPr id="9" name="Object 8"/>
          <p:cNvGraphicFramePr>
            <a:graphicFrameLocks noChangeAspect="1"/>
          </p:cNvGraphicFramePr>
          <p:nvPr>
            <p:extLst>
              <p:ext uri="{D42A27DB-BD31-4B8C-83A1-F6EECF244321}">
                <p14:modId xmlns:p14="http://schemas.microsoft.com/office/powerpoint/2010/main" val="1416841905"/>
              </p:ext>
            </p:extLst>
          </p:nvPr>
        </p:nvGraphicFramePr>
        <p:xfrm>
          <a:off x="6635509" y="4540830"/>
          <a:ext cx="1905876" cy="1080840"/>
        </p:xfrm>
        <a:graphic>
          <a:graphicData uri="http://schemas.openxmlformats.org/presentationml/2006/ole">
            <mc:AlternateContent xmlns:mc="http://schemas.openxmlformats.org/markup-compatibility/2006">
              <mc:Choice xmlns:v="urn:schemas-microsoft-com:vml" Requires="v">
                <p:oleObj name="Equation" r:id="rId6" imgW="469900" imgH="266700" progId="Equation.DSMT4">
                  <p:embed/>
                </p:oleObj>
              </mc:Choice>
              <mc:Fallback>
                <p:oleObj name="Equation" r:id="rId6" imgW="469900" imgH="266700" progId="Equation.DSMT4">
                  <p:embed/>
                  <p:pic>
                    <p:nvPicPr>
                      <p:cNvPr id="0" name=""/>
                      <p:cNvPicPr/>
                      <p:nvPr/>
                    </p:nvPicPr>
                    <p:blipFill>
                      <a:blip r:embed="rId7"/>
                      <a:stretch>
                        <a:fillRect/>
                      </a:stretch>
                    </p:blipFill>
                    <p:spPr>
                      <a:xfrm>
                        <a:off x="6635509" y="4540830"/>
                        <a:ext cx="1905876" cy="1080840"/>
                      </a:xfrm>
                      <a:prstGeom prst="rect">
                        <a:avLst/>
                      </a:prstGeom>
                    </p:spPr>
                  </p:pic>
                </p:oleObj>
              </mc:Fallback>
            </mc:AlternateContent>
          </a:graphicData>
        </a:graphic>
      </p:graphicFrame>
    </p:spTree>
    <p:extLst>
      <p:ext uri="{BB962C8B-B14F-4D97-AF65-F5344CB8AC3E}">
        <p14:creationId xmlns:p14="http://schemas.microsoft.com/office/powerpoint/2010/main" val="2639647529"/>
      </p:ext>
    </p:extLst>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in the Fourier spectrum</a:t>
            </a:r>
          </a:p>
        </p:txBody>
      </p:sp>
      <p:sp>
        <p:nvSpPr>
          <p:cNvPr id="6" name="Content Placeholder 5"/>
          <p:cNvSpPr>
            <a:spLocks noGrp="1"/>
          </p:cNvSpPr>
          <p:nvPr>
            <p:ph idx="1"/>
          </p:nvPr>
        </p:nvSpPr>
        <p:spPr/>
        <p:txBody>
          <a:bodyPr/>
          <a:lstStyle/>
          <a:p>
            <a:r>
              <a:rPr lang="en-US" dirty="0"/>
              <a:t>We’re generally interested in average power as a function of frequency, and in general</a:t>
            </a:r>
          </a:p>
          <a:p>
            <a:endParaRPr lang="en-US" dirty="0"/>
          </a:p>
          <a:p>
            <a:endParaRPr lang="en-US" dirty="0"/>
          </a:p>
          <a:p>
            <a:endParaRPr lang="en-US" dirty="0"/>
          </a:p>
          <a:p>
            <a:r>
              <a:rPr lang="en-US" dirty="0"/>
              <a:t>We need to be careful when dealing with nonlinear functions of complex representations, because in general</a:t>
            </a:r>
          </a:p>
          <a:p>
            <a:endParaRPr lang="en-US" dirty="0"/>
          </a:p>
          <a:p>
            <a:endParaRPr lang="en-US" dirty="0"/>
          </a:p>
        </p:txBody>
      </p:sp>
      <p:sp>
        <p:nvSpPr>
          <p:cNvPr id="3" name="Date Placeholder 2"/>
          <p:cNvSpPr>
            <a:spLocks noGrp="1"/>
          </p:cNvSpPr>
          <p:nvPr>
            <p:ph type="dt" sz="half" idx="10"/>
          </p:nvPr>
        </p:nvSpPr>
        <p:spPr/>
        <p:txBody>
          <a:bodyPr/>
          <a:lstStyle/>
          <a:p>
            <a:pPr>
              <a:defRPr/>
            </a:pPr>
            <a:r>
              <a:rPr lang="en-US"/>
              <a:t>Phy 40, Fall 2025</a:t>
            </a:r>
            <a:endParaRPr lang="en-US" dirty="0"/>
          </a:p>
        </p:txBody>
      </p:sp>
      <p:sp>
        <p:nvSpPr>
          <p:cNvPr id="4" name="Footer Placeholder 3"/>
          <p:cNvSpPr>
            <a:spLocks noGrp="1"/>
          </p:cNvSpPr>
          <p:nvPr>
            <p:ph type="ftr" sz="quarter" idx="11"/>
          </p:nvPr>
        </p:nvSpPr>
        <p:spPr/>
        <p:txBody>
          <a:bodyPr/>
          <a:lstStyle/>
          <a:p>
            <a:pPr>
              <a:defRPr/>
            </a:pPr>
            <a:r>
              <a:rPr lang="en-US"/>
              <a:t>Fast Fourier Transforms</a:t>
            </a:r>
            <a:endParaRPr lang="en-US">
              <a:latin typeface="+mn-lt"/>
            </a:endParaRPr>
          </a:p>
        </p:txBody>
      </p:sp>
      <p:sp>
        <p:nvSpPr>
          <p:cNvPr id="5" name="Slide Number Placeholder 4"/>
          <p:cNvSpPr>
            <a:spLocks noGrp="1"/>
          </p:cNvSpPr>
          <p:nvPr>
            <p:ph type="sldNum" sz="quarter" idx="12"/>
          </p:nvPr>
        </p:nvSpPr>
        <p:spPr/>
        <p:txBody>
          <a:bodyPr/>
          <a:lstStyle/>
          <a:p>
            <a:pPr>
              <a:defRPr/>
            </a:pPr>
            <a:fld id="{BAB536C3-BB10-4165-8E74-99838CB51702}" type="slidenum">
              <a:rPr lang="en-US" smtClean="0"/>
              <a:pPr>
                <a:defRPr/>
              </a:pPr>
              <a:t>13</a:t>
            </a:fld>
            <a:endParaRPr lang="en-US"/>
          </a:p>
        </p:txBody>
      </p:sp>
      <p:graphicFrame>
        <p:nvGraphicFramePr>
          <p:cNvPr id="7" name="Object 6"/>
          <p:cNvGraphicFramePr>
            <a:graphicFrameLocks noChangeAspect="1"/>
          </p:cNvGraphicFramePr>
          <p:nvPr>
            <p:extLst>
              <p:ext uri="{D42A27DB-BD31-4B8C-83A1-F6EECF244321}">
                <p14:modId xmlns:p14="http://schemas.microsoft.com/office/powerpoint/2010/main" val="1580995750"/>
              </p:ext>
            </p:extLst>
          </p:nvPr>
        </p:nvGraphicFramePr>
        <p:xfrm>
          <a:off x="3208506" y="2074295"/>
          <a:ext cx="1969961" cy="1141682"/>
        </p:xfrm>
        <a:graphic>
          <a:graphicData uri="http://schemas.openxmlformats.org/presentationml/2006/ole">
            <mc:AlternateContent xmlns:mc="http://schemas.openxmlformats.org/markup-compatibility/2006">
              <mc:Choice xmlns:v="urn:schemas-microsoft-com:vml" Requires="v">
                <p:oleObj name="Equation" r:id="rId2" imgW="546100" imgH="317500" progId="Equation.DSMT4">
                  <p:embed/>
                </p:oleObj>
              </mc:Choice>
              <mc:Fallback>
                <p:oleObj name="Equation" r:id="rId2" imgW="546100" imgH="317500" progId="Equation.DSMT4">
                  <p:embed/>
                  <p:pic>
                    <p:nvPicPr>
                      <p:cNvPr id="0" name=""/>
                      <p:cNvPicPr/>
                      <p:nvPr/>
                    </p:nvPicPr>
                    <p:blipFill>
                      <a:blip r:embed="rId3"/>
                      <a:stretch>
                        <a:fillRect/>
                      </a:stretch>
                    </p:blipFill>
                    <p:spPr>
                      <a:xfrm>
                        <a:off x="3208506" y="2074295"/>
                        <a:ext cx="1969961" cy="1141682"/>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240343531"/>
              </p:ext>
            </p:extLst>
          </p:nvPr>
        </p:nvGraphicFramePr>
        <p:xfrm>
          <a:off x="2832293" y="4605550"/>
          <a:ext cx="3052762" cy="957263"/>
        </p:xfrm>
        <a:graphic>
          <a:graphicData uri="http://schemas.openxmlformats.org/presentationml/2006/ole">
            <mc:AlternateContent xmlns:mc="http://schemas.openxmlformats.org/markup-compatibility/2006">
              <mc:Choice xmlns:v="urn:schemas-microsoft-com:vml" Requires="v">
                <p:oleObj name="Equation" r:id="rId4" imgW="1092200" imgH="342900" progId="Equation.DSMT4">
                  <p:embed/>
                </p:oleObj>
              </mc:Choice>
              <mc:Fallback>
                <p:oleObj name="Equation" r:id="rId4" imgW="1092200" imgH="342900" progId="Equation.DSMT4">
                  <p:embed/>
                  <p:pic>
                    <p:nvPicPr>
                      <p:cNvPr id="0" name=""/>
                      <p:cNvPicPr/>
                      <p:nvPr/>
                    </p:nvPicPr>
                    <p:blipFill>
                      <a:blip r:embed="rId5"/>
                      <a:stretch>
                        <a:fillRect/>
                      </a:stretch>
                    </p:blipFill>
                    <p:spPr>
                      <a:xfrm>
                        <a:off x="2832293" y="4605550"/>
                        <a:ext cx="3052762" cy="957263"/>
                      </a:xfrm>
                      <a:prstGeom prst="rect">
                        <a:avLst/>
                      </a:prstGeom>
                    </p:spPr>
                  </p:pic>
                </p:oleObj>
              </mc:Fallback>
            </mc:AlternateContent>
          </a:graphicData>
        </a:graphic>
      </p:graphicFrame>
    </p:spTree>
    <p:extLst>
      <p:ext uri="{BB962C8B-B14F-4D97-AF65-F5344CB8AC3E}">
        <p14:creationId xmlns:p14="http://schemas.microsoft.com/office/powerpoint/2010/main" val="2229086453"/>
      </p:ext>
    </p:extLst>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(cont’d)</a:t>
            </a:r>
          </a:p>
        </p:txBody>
      </p:sp>
      <p:sp>
        <p:nvSpPr>
          <p:cNvPr id="4" name="Date Placeholder 3"/>
          <p:cNvSpPr>
            <a:spLocks noGrp="1"/>
          </p:cNvSpPr>
          <p:nvPr>
            <p:ph type="dt" sz="half" idx="10"/>
          </p:nvPr>
        </p:nvSpPr>
        <p:spPr/>
        <p:txBody>
          <a:bodyPr/>
          <a:lstStyle/>
          <a:p>
            <a:pPr>
              <a:defRPr/>
            </a:pPr>
            <a:r>
              <a:rPr lang="en-US"/>
              <a:t>Phy 40, Fall 2025</a:t>
            </a:r>
            <a:endParaRPr lang="en-US" dirty="0"/>
          </a:p>
        </p:txBody>
      </p:sp>
      <p:sp>
        <p:nvSpPr>
          <p:cNvPr id="5" name="Footer Placeholder 4"/>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p:cNvSpPr>
            <a:spLocks noGrp="1"/>
          </p:cNvSpPr>
          <p:nvPr>
            <p:ph type="sldNum" sz="quarter" idx="12"/>
          </p:nvPr>
        </p:nvSpPr>
        <p:spPr/>
        <p:txBody>
          <a:bodyPr/>
          <a:lstStyle/>
          <a:p>
            <a:pPr>
              <a:defRPr/>
            </a:pPr>
            <a:fld id="{BCA26155-0DCC-45D2-90B6-32F65F3F6C0F}" type="slidenum">
              <a:rPr lang="en-US" smtClean="0"/>
              <a:pPr>
                <a:defRPr/>
              </a:pPr>
              <a:t>14</a:t>
            </a:fld>
            <a:endParaRPr lang="en-US"/>
          </a:p>
        </p:txBody>
      </p:sp>
      <p:sp>
        <p:nvSpPr>
          <p:cNvPr id="7" name="Content Placeholder 2"/>
          <p:cNvSpPr>
            <a:spLocks noGrp="1"/>
          </p:cNvSpPr>
          <p:nvPr>
            <p:ph idx="1"/>
          </p:nvPr>
        </p:nvSpPr>
        <p:spPr/>
        <p:txBody>
          <a:bodyPr>
            <a:normAutofit/>
          </a:bodyPr>
          <a:lstStyle/>
          <a:p>
            <a:r>
              <a:rPr lang="en-US" sz="2000" dirty="0"/>
              <a:t>In our frequency representation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In other words, the power spectrum has the same spectral content as the amplitude spectrum</a:t>
            </a:r>
          </a:p>
        </p:txBody>
      </p:sp>
      <p:graphicFrame>
        <p:nvGraphicFramePr>
          <p:cNvPr id="8" name="Object 7"/>
          <p:cNvGraphicFramePr>
            <a:graphicFrameLocks noChangeAspect="1"/>
          </p:cNvGraphicFramePr>
          <p:nvPr>
            <p:extLst>
              <p:ext uri="{D42A27DB-BD31-4B8C-83A1-F6EECF244321}">
                <p14:modId xmlns:p14="http://schemas.microsoft.com/office/powerpoint/2010/main" val="3555108666"/>
              </p:ext>
            </p:extLst>
          </p:nvPr>
        </p:nvGraphicFramePr>
        <p:xfrm>
          <a:off x="1183486" y="2979181"/>
          <a:ext cx="1824956" cy="697553"/>
        </p:xfrm>
        <a:graphic>
          <a:graphicData uri="http://schemas.openxmlformats.org/presentationml/2006/ole">
            <mc:AlternateContent xmlns:mc="http://schemas.openxmlformats.org/markup-compatibility/2006">
              <mc:Choice xmlns:v="urn:schemas-microsoft-com:vml" Requires="v">
                <p:oleObj name="Equation" r:id="rId2" imgW="1308100" imgH="495300" progId="Equation.DSMT4">
                  <p:embed/>
                </p:oleObj>
              </mc:Choice>
              <mc:Fallback>
                <p:oleObj name="Equation" r:id="rId2" imgW="1308100" imgH="495300" progId="Equation.DSMT4">
                  <p:embed/>
                  <p:pic>
                    <p:nvPicPr>
                      <p:cNvPr id="0" name=""/>
                      <p:cNvPicPr/>
                      <p:nvPr/>
                    </p:nvPicPr>
                    <p:blipFill>
                      <a:blip r:embed="rId3"/>
                      <a:stretch>
                        <a:fillRect/>
                      </a:stretch>
                    </p:blipFill>
                    <p:spPr>
                      <a:xfrm>
                        <a:off x="1183486" y="2979181"/>
                        <a:ext cx="1824956" cy="697553"/>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158672156"/>
              </p:ext>
            </p:extLst>
          </p:nvPr>
        </p:nvGraphicFramePr>
        <p:xfrm>
          <a:off x="4489321" y="656950"/>
          <a:ext cx="4469733" cy="4779502"/>
        </p:xfrm>
        <a:graphic>
          <a:graphicData uri="http://schemas.openxmlformats.org/presentationml/2006/ole">
            <mc:AlternateContent xmlns:mc="http://schemas.openxmlformats.org/markup-compatibility/2006">
              <mc:Choice xmlns:v="urn:schemas-microsoft-com:vml" Requires="v">
                <p:oleObj name="Equation" r:id="rId4" imgW="2349500" imgH="2514600" progId="Equation.DSMT4">
                  <p:embed/>
                </p:oleObj>
              </mc:Choice>
              <mc:Fallback>
                <p:oleObj name="Equation" r:id="rId4" imgW="2349500" imgH="2514600" progId="Equation.DSMT4">
                  <p:embed/>
                  <p:pic>
                    <p:nvPicPr>
                      <p:cNvPr id="0" name=""/>
                      <p:cNvPicPr/>
                      <p:nvPr/>
                    </p:nvPicPr>
                    <p:blipFill>
                      <a:blip r:embed="rId5"/>
                      <a:stretch>
                        <a:fillRect/>
                      </a:stretch>
                    </p:blipFill>
                    <p:spPr>
                      <a:xfrm>
                        <a:off x="4489321" y="656950"/>
                        <a:ext cx="4469733" cy="4779502"/>
                      </a:xfrm>
                      <a:prstGeom prst="rect">
                        <a:avLst/>
                      </a:prstGeom>
                    </p:spPr>
                  </p:pic>
                </p:oleObj>
              </mc:Fallback>
            </mc:AlternateContent>
          </a:graphicData>
        </a:graphic>
      </p:graphicFrame>
      <p:cxnSp>
        <p:nvCxnSpPr>
          <p:cNvPr id="10" name="Straight Arrow Connector 9"/>
          <p:cNvCxnSpPr/>
          <p:nvPr/>
        </p:nvCxnSpPr>
        <p:spPr>
          <a:xfrm flipV="1">
            <a:off x="7770017" y="2583191"/>
            <a:ext cx="686429" cy="997940"/>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aphicFrame>
        <p:nvGraphicFramePr>
          <p:cNvPr id="11" name="Object 10"/>
          <p:cNvGraphicFramePr>
            <a:graphicFrameLocks noChangeAspect="1"/>
          </p:cNvGraphicFramePr>
          <p:nvPr>
            <p:extLst>
              <p:ext uri="{D42A27DB-BD31-4B8C-83A1-F6EECF244321}">
                <p14:modId xmlns:p14="http://schemas.microsoft.com/office/powerpoint/2010/main" val="3567162634"/>
              </p:ext>
            </p:extLst>
          </p:nvPr>
        </p:nvGraphicFramePr>
        <p:xfrm>
          <a:off x="8500553" y="2310641"/>
          <a:ext cx="165100" cy="222250"/>
        </p:xfrm>
        <a:graphic>
          <a:graphicData uri="http://schemas.openxmlformats.org/presentationml/2006/ole">
            <mc:AlternateContent xmlns:mc="http://schemas.openxmlformats.org/markup-compatibility/2006">
              <mc:Choice xmlns:v="urn:schemas-microsoft-com:vml" Requires="v">
                <p:oleObj name="Equation" r:id="rId6" imgW="114300" imgH="152400" progId="Equation.DSMT4">
                  <p:embed/>
                </p:oleObj>
              </mc:Choice>
              <mc:Fallback>
                <p:oleObj name="Equation" r:id="rId6" imgW="114300" imgH="152400" progId="Equation.DSMT4">
                  <p:embed/>
                  <p:pic>
                    <p:nvPicPr>
                      <p:cNvPr id="0" name=""/>
                      <p:cNvPicPr/>
                      <p:nvPr/>
                    </p:nvPicPr>
                    <p:blipFill>
                      <a:blip r:embed="rId7"/>
                      <a:stretch>
                        <a:fillRect/>
                      </a:stretch>
                    </p:blipFill>
                    <p:spPr>
                      <a:xfrm>
                        <a:off x="8500553" y="2310641"/>
                        <a:ext cx="165100" cy="222250"/>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627816911"/>
              </p:ext>
            </p:extLst>
          </p:nvPr>
        </p:nvGraphicFramePr>
        <p:xfrm>
          <a:off x="6685754" y="3984991"/>
          <a:ext cx="818236" cy="470295"/>
        </p:xfrm>
        <a:graphic>
          <a:graphicData uri="http://schemas.openxmlformats.org/presentationml/2006/ole">
            <mc:AlternateContent xmlns:mc="http://schemas.openxmlformats.org/markup-compatibility/2006">
              <mc:Choice xmlns:v="urn:schemas-microsoft-com:vml" Requires="v">
                <p:oleObj name="Equation" r:id="rId8" imgW="469900" imgH="266700" progId="Equation.DSMT4">
                  <p:embed/>
                </p:oleObj>
              </mc:Choice>
              <mc:Fallback>
                <p:oleObj name="Equation" r:id="rId8" imgW="469900" imgH="266700" progId="Equation.DSMT4">
                  <p:embed/>
                  <p:pic>
                    <p:nvPicPr>
                      <p:cNvPr id="0" name=""/>
                      <p:cNvPicPr/>
                      <p:nvPr/>
                    </p:nvPicPr>
                    <p:blipFill>
                      <a:blip r:embed="rId9"/>
                      <a:stretch>
                        <a:fillRect/>
                      </a:stretch>
                    </p:blipFill>
                    <p:spPr>
                      <a:xfrm>
                        <a:off x="6685754" y="3984991"/>
                        <a:ext cx="818236" cy="470295"/>
                      </a:xfrm>
                      <a:prstGeom prst="rect">
                        <a:avLst/>
                      </a:prstGeom>
                    </p:spPr>
                  </p:pic>
                </p:oleObj>
              </mc:Fallback>
            </mc:AlternateContent>
          </a:graphicData>
        </a:graphic>
      </p:graphicFrame>
      <p:cxnSp>
        <p:nvCxnSpPr>
          <p:cNvPr id="13" name="Straight Arrow Connector 12"/>
          <p:cNvCxnSpPr/>
          <p:nvPr/>
        </p:nvCxnSpPr>
        <p:spPr>
          <a:xfrm flipH="1" flipV="1">
            <a:off x="6215854" y="3445048"/>
            <a:ext cx="469900" cy="635053"/>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5446017"/>
      </p:ext>
    </p:extLst>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48FE-FA34-19FA-C7AE-F29DDE5C9039}"/>
              </a:ext>
            </a:extLst>
          </p:cNvPr>
          <p:cNvSpPr>
            <a:spLocks noGrp="1"/>
          </p:cNvSpPr>
          <p:nvPr>
            <p:ph type="title"/>
          </p:nvPr>
        </p:nvSpPr>
        <p:spPr/>
        <p:txBody>
          <a:bodyPr/>
          <a:lstStyle/>
          <a:p>
            <a:r>
              <a:rPr lang="en-US" dirty="0"/>
              <a:t>Discrete Fourier Transformation</a:t>
            </a:r>
          </a:p>
        </p:txBody>
      </p:sp>
      <p:sp>
        <p:nvSpPr>
          <p:cNvPr id="3" name="Content Placeholder 2">
            <a:extLst>
              <a:ext uri="{FF2B5EF4-FFF2-40B4-BE49-F238E27FC236}">
                <a16:creationId xmlns:a16="http://schemas.microsoft.com/office/drawing/2014/main" id="{D7B05798-55F8-A7F8-994D-AD05B9EA50B3}"/>
              </a:ext>
            </a:extLst>
          </p:cNvPr>
          <p:cNvSpPr>
            <a:spLocks noGrp="1"/>
          </p:cNvSpPr>
          <p:nvPr>
            <p:ph idx="1"/>
          </p:nvPr>
        </p:nvSpPr>
        <p:spPr/>
        <p:txBody>
          <a:bodyPr>
            <a:normAutofit/>
          </a:bodyPr>
          <a:lstStyle/>
          <a:p>
            <a:r>
              <a:rPr lang="en-US" sz="2000" dirty="0"/>
              <a:t>If we have </a:t>
            </a:r>
            <a:r>
              <a:rPr lang="en-US" sz="2000" i="1" dirty="0"/>
              <a:t>N</a:t>
            </a:r>
            <a:r>
              <a:rPr lang="en-US" sz="2000" dirty="0"/>
              <a:t> time domain samples over a time </a:t>
            </a:r>
            <a:r>
              <a:rPr lang="en-US" sz="2000" i="1" dirty="0"/>
              <a:t>T</a:t>
            </a:r>
            <a:r>
              <a:rPr lang="en-US" sz="2000" dirty="0"/>
              <a:t>, the time between samples will be</a:t>
            </a:r>
          </a:p>
          <a:p>
            <a:endParaRPr lang="en-US" sz="2000" dirty="0"/>
          </a:p>
          <a:p>
            <a:endParaRPr lang="en-US" sz="2000" dirty="0"/>
          </a:p>
          <a:p>
            <a:r>
              <a:rPr lang="en-US" sz="2000" dirty="0"/>
              <a:t>This will correspond to </a:t>
            </a:r>
            <a:r>
              <a:rPr lang="en-US" sz="2000" i="1" dirty="0"/>
              <a:t>N</a:t>
            </a:r>
            <a:r>
              <a:rPr lang="en-US" sz="2000" dirty="0"/>
              <a:t> frequency domain, with a frequency step</a:t>
            </a:r>
          </a:p>
          <a:p>
            <a:endParaRPr lang="en-US" sz="2000" dirty="0"/>
          </a:p>
          <a:p>
            <a:endParaRPr lang="en-US" sz="2000" dirty="0"/>
          </a:p>
          <a:p>
            <a:r>
              <a:rPr lang="en-US" sz="2000" dirty="0"/>
              <a:t>That is, the minimum frequency would be one in which the period is the entire time of acquisition.</a:t>
            </a:r>
          </a:p>
          <a:p>
            <a:r>
              <a:rPr lang="en-US" sz="2000" dirty="0"/>
              <a:t>The maximum frequency would be </a:t>
            </a:r>
          </a:p>
          <a:p>
            <a:endParaRPr lang="en-US" sz="2000" dirty="0"/>
          </a:p>
          <a:p>
            <a:endParaRPr lang="en-US" sz="2000" dirty="0"/>
          </a:p>
          <a:p>
            <a:r>
              <a:rPr lang="en-US" sz="2000" dirty="0"/>
              <a:t>Nyquist’s theorem tells us we can only use up to half of this frequency, to the extra information is for phase values.</a:t>
            </a:r>
          </a:p>
        </p:txBody>
      </p:sp>
      <p:sp>
        <p:nvSpPr>
          <p:cNvPr id="4" name="Date Placeholder 3">
            <a:extLst>
              <a:ext uri="{FF2B5EF4-FFF2-40B4-BE49-F238E27FC236}">
                <a16:creationId xmlns:a16="http://schemas.microsoft.com/office/drawing/2014/main" id="{6E30A977-E063-DB37-86F3-14E0AB0D615C}"/>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1D1A1F0D-40FE-3CE3-AB9F-68550CD13564}"/>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a:extLst>
              <a:ext uri="{FF2B5EF4-FFF2-40B4-BE49-F238E27FC236}">
                <a16:creationId xmlns:a16="http://schemas.microsoft.com/office/drawing/2014/main" id="{80BE434B-72A1-8BB6-4186-918CECDBB8C8}"/>
              </a:ext>
            </a:extLst>
          </p:cNvPr>
          <p:cNvSpPr>
            <a:spLocks noGrp="1"/>
          </p:cNvSpPr>
          <p:nvPr>
            <p:ph type="sldNum" sz="quarter" idx="12"/>
          </p:nvPr>
        </p:nvSpPr>
        <p:spPr/>
        <p:txBody>
          <a:bodyPr/>
          <a:lstStyle/>
          <a:p>
            <a:pPr>
              <a:defRPr/>
            </a:pPr>
            <a:fld id="{BCA26155-0DCC-45D2-90B6-32F65F3F6C0F}" type="slidenum">
              <a:rPr lang="en-US" smtClean="0"/>
              <a:pPr>
                <a:defRPr/>
              </a:pPr>
              <a:t>15</a:t>
            </a:fld>
            <a:endParaRPr lang="en-US"/>
          </a:p>
        </p:txBody>
      </p:sp>
      <p:pic>
        <p:nvPicPr>
          <p:cNvPr id="7" name="Picture 6">
            <a:extLst>
              <a:ext uri="{FF2B5EF4-FFF2-40B4-BE49-F238E27FC236}">
                <a16:creationId xmlns:a16="http://schemas.microsoft.com/office/drawing/2014/main" id="{DD0E685F-65B1-0A95-990F-7406A179C624}"/>
              </a:ext>
            </a:extLst>
          </p:cNvPr>
          <p:cNvPicPr>
            <a:picLocks noChangeAspect="1"/>
          </p:cNvPicPr>
          <p:nvPr/>
        </p:nvPicPr>
        <p:blipFill>
          <a:blip r:embed="rId2"/>
          <a:stretch>
            <a:fillRect/>
          </a:stretch>
        </p:blipFill>
        <p:spPr>
          <a:xfrm>
            <a:off x="3697076" y="1723375"/>
            <a:ext cx="1079500" cy="635000"/>
          </a:xfrm>
          <a:prstGeom prst="rect">
            <a:avLst/>
          </a:prstGeom>
        </p:spPr>
      </p:pic>
      <p:pic>
        <p:nvPicPr>
          <p:cNvPr id="8" name="Picture 7">
            <a:extLst>
              <a:ext uri="{FF2B5EF4-FFF2-40B4-BE49-F238E27FC236}">
                <a16:creationId xmlns:a16="http://schemas.microsoft.com/office/drawing/2014/main" id="{F3F17925-4A80-AE08-25D8-AB87ABBF3F31}"/>
              </a:ext>
            </a:extLst>
          </p:cNvPr>
          <p:cNvPicPr>
            <a:picLocks noChangeAspect="1"/>
          </p:cNvPicPr>
          <p:nvPr/>
        </p:nvPicPr>
        <p:blipFill>
          <a:blip r:embed="rId3"/>
          <a:stretch>
            <a:fillRect/>
          </a:stretch>
        </p:blipFill>
        <p:spPr>
          <a:xfrm>
            <a:off x="3774194" y="3001332"/>
            <a:ext cx="1092200" cy="635000"/>
          </a:xfrm>
          <a:prstGeom prst="rect">
            <a:avLst/>
          </a:prstGeom>
        </p:spPr>
      </p:pic>
      <p:pic>
        <p:nvPicPr>
          <p:cNvPr id="9" name="Picture 8">
            <a:extLst>
              <a:ext uri="{FF2B5EF4-FFF2-40B4-BE49-F238E27FC236}">
                <a16:creationId xmlns:a16="http://schemas.microsoft.com/office/drawing/2014/main" id="{34554B03-078B-FC45-ECF8-70E5109727A1}"/>
              </a:ext>
            </a:extLst>
          </p:cNvPr>
          <p:cNvPicPr>
            <a:picLocks noChangeAspect="1"/>
          </p:cNvPicPr>
          <p:nvPr/>
        </p:nvPicPr>
        <p:blipFill>
          <a:blip r:embed="rId4"/>
          <a:stretch>
            <a:fillRect/>
          </a:stretch>
        </p:blipFill>
        <p:spPr>
          <a:xfrm>
            <a:off x="3056644" y="4820643"/>
            <a:ext cx="3619500" cy="635000"/>
          </a:xfrm>
          <a:prstGeom prst="rect">
            <a:avLst/>
          </a:prstGeom>
        </p:spPr>
      </p:pic>
    </p:spTree>
    <p:extLst>
      <p:ext uri="{BB962C8B-B14F-4D97-AF65-F5344CB8AC3E}">
        <p14:creationId xmlns:p14="http://schemas.microsoft.com/office/powerpoint/2010/main" val="3760177523"/>
      </p:ext>
    </p:extLst>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31920-28C0-55C3-ACD6-C3A2BF66B699}"/>
              </a:ext>
            </a:extLst>
          </p:cNvPr>
          <p:cNvSpPr>
            <a:spLocks noGrp="1"/>
          </p:cNvSpPr>
          <p:nvPr>
            <p:ph type="title"/>
          </p:nvPr>
        </p:nvSpPr>
        <p:spPr/>
        <p:txBody>
          <a:bodyPr/>
          <a:lstStyle/>
          <a:p>
            <a:r>
              <a:rPr lang="en-US" dirty="0"/>
              <a:t>Fast Fourier Transforms (FFTs)</a:t>
            </a:r>
          </a:p>
        </p:txBody>
      </p:sp>
      <p:sp>
        <p:nvSpPr>
          <p:cNvPr id="3" name="Content Placeholder 2">
            <a:extLst>
              <a:ext uri="{FF2B5EF4-FFF2-40B4-BE49-F238E27FC236}">
                <a16:creationId xmlns:a16="http://schemas.microsoft.com/office/drawing/2014/main" id="{F55646F5-1008-14E8-86D4-5518731EAB10}"/>
              </a:ext>
            </a:extLst>
          </p:cNvPr>
          <p:cNvSpPr>
            <a:spLocks noGrp="1"/>
          </p:cNvSpPr>
          <p:nvPr>
            <p:ph idx="1"/>
          </p:nvPr>
        </p:nvSpPr>
        <p:spPr/>
        <p:txBody>
          <a:bodyPr>
            <a:normAutofit/>
          </a:bodyPr>
          <a:lstStyle/>
          <a:p>
            <a:r>
              <a:rPr lang="en-US" sz="2000" dirty="0"/>
              <a:t>In order to find the Fourier Coefficients using integration, we would have to integrate </a:t>
            </a:r>
            <a:r>
              <a:rPr lang="en-US" sz="2000" i="1" dirty="0"/>
              <a:t>N</a:t>
            </a:r>
            <a:r>
              <a:rPr lang="en-US" sz="2000" dirty="0"/>
              <a:t> time domain points for each of the </a:t>
            </a:r>
            <a:r>
              <a:rPr lang="en-US" sz="2000" i="1" dirty="0"/>
              <a:t>N</a:t>
            </a:r>
            <a:r>
              <a:rPr lang="en-US" sz="2000" dirty="0"/>
              <a:t> frequency values, so the computation time would go as </a:t>
            </a:r>
            <a:r>
              <a:rPr lang="en-US" sz="2000" i="1" dirty="0"/>
              <a:t>N</a:t>
            </a:r>
            <a:r>
              <a:rPr lang="en-US" sz="2000" i="1" baseline="30000" dirty="0"/>
              <a:t>2</a:t>
            </a:r>
          </a:p>
          <a:p>
            <a:r>
              <a:rPr lang="en-US" sz="2000" dirty="0"/>
              <a:t>Luckily, there’s an algorithm called “Fast Fourier Transform”, for which the time goes like log(</a:t>
            </a:r>
            <a:r>
              <a:rPr lang="en-US" sz="2000" i="1" dirty="0"/>
              <a:t>N</a:t>
            </a:r>
            <a:r>
              <a:rPr lang="en-US" sz="2000" dirty="0"/>
              <a:t>).</a:t>
            </a:r>
          </a:p>
          <a:p>
            <a:r>
              <a:rPr lang="en-US" sz="2000" dirty="0"/>
              <a:t>The FFT tool in Python is </a:t>
            </a:r>
            <a:r>
              <a:rPr lang="en-US" sz="2000" dirty="0" err="1"/>
              <a:t>np.fft.fft</a:t>
            </a:r>
            <a:r>
              <a:rPr lang="en-US" sz="2000" dirty="0"/>
              <a:t>.  </a:t>
            </a:r>
          </a:p>
          <a:p>
            <a:pPr lvl="1"/>
            <a:r>
              <a:rPr lang="en-US" sz="1600" dirty="0"/>
              <a:t>In general, this takes </a:t>
            </a:r>
            <a:r>
              <a:rPr lang="en-US" sz="1600" i="1" dirty="0"/>
              <a:t>N</a:t>
            </a:r>
            <a:r>
              <a:rPr lang="en-US" sz="1600" dirty="0"/>
              <a:t> complex time domain values and returns </a:t>
            </a:r>
            <a:r>
              <a:rPr lang="en-US" sz="1600" i="1" dirty="0"/>
              <a:t>N</a:t>
            </a:r>
            <a:r>
              <a:rPr lang="en-US" sz="1600" dirty="0"/>
              <a:t> complex frequency domain values, corresponding to</a:t>
            </a:r>
          </a:p>
          <a:p>
            <a:pPr lvl="1"/>
            <a:endParaRPr lang="en-US" sz="1600" dirty="0"/>
          </a:p>
          <a:p>
            <a:pPr lvl="1"/>
            <a:endParaRPr lang="en-US" sz="1600" dirty="0"/>
          </a:p>
          <a:p>
            <a:pPr lvl="1"/>
            <a:r>
              <a:rPr lang="en-US" sz="1600" dirty="0"/>
              <a:t>Because we usually deal with real values in the time domain</a:t>
            </a:r>
          </a:p>
          <a:p>
            <a:pPr lvl="1"/>
            <a:endParaRPr lang="en-US" sz="1600" dirty="0"/>
          </a:p>
          <a:p>
            <a:pPr lvl="1"/>
            <a:endParaRPr lang="en-US" sz="1600" dirty="0"/>
          </a:p>
          <a:p>
            <a:pPr lvl="1"/>
            <a:r>
              <a:rPr lang="en-US" sz="1600" dirty="0"/>
              <a:t>Since we’re generally only interested in the positive values, the the returned values are in the order</a:t>
            </a:r>
          </a:p>
        </p:txBody>
      </p:sp>
      <p:sp>
        <p:nvSpPr>
          <p:cNvPr id="4" name="Date Placeholder 3">
            <a:extLst>
              <a:ext uri="{FF2B5EF4-FFF2-40B4-BE49-F238E27FC236}">
                <a16:creationId xmlns:a16="http://schemas.microsoft.com/office/drawing/2014/main" id="{C4CB56A9-93C0-84DB-ED34-4F652DD9D39A}"/>
              </a:ext>
            </a:extLst>
          </p:cNvPr>
          <p:cNvSpPr>
            <a:spLocks noGrp="1"/>
          </p:cNvSpPr>
          <p:nvPr>
            <p:ph type="dt" sz="half" idx="10"/>
          </p:nvPr>
        </p:nvSpPr>
        <p:spPr/>
        <p:txBody>
          <a:bodyPr/>
          <a:lstStyle/>
          <a:p>
            <a:pPr>
              <a:defRPr/>
            </a:pPr>
            <a:r>
              <a:rPr lang="en-US"/>
              <a:t>Phy 40, Fall 2025</a:t>
            </a:r>
            <a:endParaRPr lang="en-US" dirty="0"/>
          </a:p>
        </p:txBody>
      </p:sp>
      <p:sp>
        <p:nvSpPr>
          <p:cNvPr id="5" name="Footer Placeholder 4">
            <a:extLst>
              <a:ext uri="{FF2B5EF4-FFF2-40B4-BE49-F238E27FC236}">
                <a16:creationId xmlns:a16="http://schemas.microsoft.com/office/drawing/2014/main" id="{D3C65853-145B-4638-9DB6-798E10FD36E4}"/>
              </a:ext>
            </a:extLst>
          </p:cNvPr>
          <p:cNvSpPr>
            <a:spLocks noGrp="1"/>
          </p:cNvSpPr>
          <p:nvPr>
            <p:ph type="ftr" sz="quarter" idx="11"/>
          </p:nvPr>
        </p:nvSpPr>
        <p:spPr/>
        <p:txBody>
          <a:bodyPr/>
          <a:lstStyle/>
          <a:p>
            <a:pPr>
              <a:defRPr/>
            </a:pPr>
            <a:r>
              <a:rPr lang="en-US"/>
              <a:t>Fast Fourier Transforms</a:t>
            </a:r>
            <a:endParaRPr lang="en-US">
              <a:latin typeface="+mn-lt"/>
            </a:endParaRPr>
          </a:p>
        </p:txBody>
      </p:sp>
      <p:sp>
        <p:nvSpPr>
          <p:cNvPr id="6" name="Slide Number Placeholder 5">
            <a:extLst>
              <a:ext uri="{FF2B5EF4-FFF2-40B4-BE49-F238E27FC236}">
                <a16:creationId xmlns:a16="http://schemas.microsoft.com/office/drawing/2014/main" id="{FD8ED930-3E10-B7CE-52BC-1E90068462E9}"/>
              </a:ext>
            </a:extLst>
          </p:cNvPr>
          <p:cNvSpPr>
            <a:spLocks noGrp="1"/>
          </p:cNvSpPr>
          <p:nvPr>
            <p:ph type="sldNum" sz="quarter" idx="12"/>
          </p:nvPr>
        </p:nvSpPr>
        <p:spPr/>
        <p:txBody>
          <a:bodyPr/>
          <a:lstStyle/>
          <a:p>
            <a:pPr>
              <a:defRPr/>
            </a:pPr>
            <a:fld id="{BCA26155-0DCC-45D2-90B6-32F65F3F6C0F}" type="slidenum">
              <a:rPr lang="en-US" smtClean="0"/>
              <a:pPr>
                <a:defRPr/>
              </a:pPr>
              <a:t>16</a:t>
            </a:fld>
            <a:endParaRPr lang="en-US"/>
          </a:p>
        </p:txBody>
      </p:sp>
      <p:pic>
        <p:nvPicPr>
          <p:cNvPr id="7" name="Picture 6">
            <a:extLst>
              <a:ext uri="{FF2B5EF4-FFF2-40B4-BE49-F238E27FC236}">
                <a16:creationId xmlns:a16="http://schemas.microsoft.com/office/drawing/2014/main" id="{853F23D1-1A4A-3B5D-828B-E46C7DCA904D}"/>
              </a:ext>
            </a:extLst>
          </p:cNvPr>
          <p:cNvPicPr>
            <a:picLocks noChangeAspect="1"/>
          </p:cNvPicPr>
          <p:nvPr/>
        </p:nvPicPr>
        <p:blipFill>
          <a:blip r:embed="rId2"/>
          <a:stretch>
            <a:fillRect/>
          </a:stretch>
        </p:blipFill>
        <p:spPr>
          <a:xfrm>
            <a:off x="3429000" y="3902881"/>
            <a:ext cx="1993900" cy="330200"/>
          </a:xfrm>
          <a:prstGeom prst="rect">
            <a:avLst/>
          </a:prstGeom>
        </p:spPr>
      </p:pic>
      <p:pic>
        <p:nvPicPr>
          <p:cNvPr id="8" name="Picture 7">
            <a:extLst>
              <a:ext uri="{FF2B5EF4-FFF2-40B4-BE49-F238E27FC236}">
                <a16:creationId xmlns:a16="http://schemas.microsoft.com/office/drawing/2014/main" id="{42B907A9-39A6-411D-38A1-14F66B197A36}"/>
              </a:ext>
            </a:extLst>
          </p:cNvPr>
          <p:cNvPicPr>
            <a:picLocks noChangeAspect="1"/>
          </p:cNvPicPr>
          <p:nvPr/>
        </p:nvPicPr>
        <p:blipFill>
          <a:blip r:embed="rId3"/>
          <a:stretch>
            <a:fillRect/>
          </a:stretch>
        </p:blipFill>
        <p:spPr>
          <a:xfrm>
            <a:off x="3848100" y="4746510"/>
            <a:ext cx="1155700" cy="317500"/>
          </a:xfrm>
          <a:prstGeom prst="rect">
            <a:avLst/>
          </a:prstGeom>
        </p:spPr>
      </p:pic>
      <p:pic>
        <p:nvPicPr>
          <p:cNvPr id="9" name="Picture 8">
            <a:extLst>
              <a:ext uri="{FF2B5EF4-FFF2-40B4-BE49-F238E27FC236}">
                <a16:creationId xmlns:a16="http://schemas.microsoft.com/office/drawing/2014/main" id="{B81E10AB-BB81-4985-F854-31B88B04C986}"/>
              </a:ext>
            </a:extLst>
          </p:cNvPr>
          <p:cNvPicPr>
            <a:picLocks noChangeAspect="1"/>
          </p:cNvPicPr>
          <p:nvPr/>
        </p:nvPicPr>
        <p:blipFill>
          <a:blip r:embed="rId4"/>
          <a:stretch>
            <a:fillRect/>
          </a:stretch>
        </p:blipFill>
        <p:spPr>
          <a:xfrm>
            <a:off x="2335347" y="6012305"/>
            <a:ext cx="4635500" cy="292100"/>
          </a:xfrm>
          <a:prstGeom prst="rect">
            <a:avLst/>
          </a:prstGeom>
        </p:spPr>
      </p:pic>
    </p:spTree>
    <p:extLst>
      <p:ext uri="{BB962C8B-B14F-4D97-AF65-F5344CB8AC3E}">
        <p14:creationId xmlns:p14="http://schemas.microsoft.com/office/powerpoint/2010/main" val="737445329"/>
      </p:ext>
    </p:extLst>
  </p:cSld>
  <p:clrMapOvr>
    <a:masterClrMapping/>
  </p:clrMapOvr>
  <p:transition>
    <p:fade thruBlk="1"/>
  </p:transition>
</p:sld>
</file>

<file path=ppt/tags/tag1.xml><?xml version="1.0" encoding="utf-8"?>
<p:tagLst xmlns:a="http://schemas.openxmlformats.org/drawingml/2006/main" xmlns:r="http://schemas.openxmlformats.org/officeDocument/2006/relationships" xmlns:p="http://schemas.openxmlformats.org/presentationml/2006/main">
  <p:tag name="FIRSTPREBYS@7EJIGINFUVWYY57I" val="435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spDef>
      <a:spPr>
        <a:noFill/>
        <a:ln>
          <a:solidFill>
            <a:srgbClr val="FF0000"/>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rgbClr val="FF0000"/>
          </a:solidFill>
          <a:tailEnd type="arrow"/>
        </a:ln>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400" dirty="0" smtClean="0">
            <a:latin typeface="+mn-lt"/>
          </a:defRPr>
        </a:defPPr>
      </a:lstStyle>
    </a:tx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36263</TotalTime>
  <Words>777</Words>
  <Application>Microsoft Macintosh PowerPoint</Application>
  <PresentationFormat>On-screen Show (4:3)</PresentationFormat>
  <Paragraphs>141</Paragraphs>
  <Slides>16</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0" baseType="lpstr">
      <vt:lpstr>Times New Roman</vt:lpstr>
      <vt:lpstr>Arial</vt:lpstr>
      <vt:lpstr>Clarity</vt:lpstr>
      <vt:lpstr>Equation</vt:lpstr>
      <vt:lpstr>Frequency Space and Fourier Transforms</vt:lpstr>
      <vt:lpstr>Discrete Transformations</vt:lpstr>
      <vt:lpstr>Reminder: Sum and Product Rules</vt:lpstr>
      <vt:lpstr>Extracting the Coefficients</vt:lpstr>
      <vt:lpstr>Example: Square Wave</vt:lpstr>
      <vt:lpstr>Example: Square Wave</vt:lpstr>
      <vt:lpstr>The Ear and Fourier Transformations</vt:lpstr>
      <vt:lpstr>Perception of Hearing</vt:lpstr>
      <vt:lpstr>PowerPoint Presentation</vt:lpstr>
      <vt:lpstr>Digression: How We See Color</vt:lpstr>
      <vt:lpstr>No image shows ”true” colors</vt:lpstr>
      <vt:lpstr>Complex Representation</vt:lpstr>
      <vt:lpstr>Power in the Fourier spectrum</vt:lpstr>
      <vt:lpstr>Power (cont’d)</vt:lpstr>
      <vt:lpstr>Discrete Fourier Transformation</vt:lpstr>
      <vt:lpstr>Fast Fourier Transforms (FFTs)</vt:lpstr>
    </vt:vector>
  </TitlesOfParts>
  <Company>Fermilab Beams Division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Antiproton Stacking and Cooling</dc:title>
  <dc:creator>localadmin</dc:creator>
  <cp:lastModifiedBy>Eric J Prebys</cp:lastModifiedBy>
  <cp:revision>756</cp:revision>
  <cp:lastPrinted>2022-10-05T20:54:27Z</cp:lastPrinted>
  <dcterms:created xsi:type="dcterms:W3CDTF">2003-06-24T14:15:57Z</dcterms:created>
  <dcterms:modified xsi:type="dcterms:W3CDTF">2025-12-01T22:36:09Z</dcterms:modified>
</cp:coreProperties>
</file>