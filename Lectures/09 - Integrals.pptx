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4624" r:id="rId1"/>
  </p:sldMasterIdLst>
  <p:notesMasterIdLst>
    <p:notesMasterId r:id="rId15"/>
  </p:notesMasterIdLst>
  <p:handoutMasterIdLst>
    <p:handoutMasterId r:id="rId16"/>
  </p:handoutMasterIdLst>
  <p:sldIdLst>
    <p:sldId id="271" r:id="rId2"/>
    <p:sldId id="273" r:id="rId3"/>
    <p:sldId id="272" r:id="rId4"/>
    <p:sldId id="275" r:id="rId5"/>
    <p:sldId id="274" r:id="rId6"/>
    <p:sldId id="276" r:id="rId7"/>
    <p:sldId id="277" r:id="rId8"/>
    <p:sldId id="279" r:id="rId9"/>
    <p:sldId id="278" r:id="rId10"/>
    <p:sldId id="280" r:id="rId11"/>
    <p:sldId id="282" r:id="rId12"/>
    <p:sldId id="283" r:id="rId13"/>
    <p:sldId id="281" r:id="rId14"/>
  </p:sldIdLst>
  <p:sldSz cx="9144000" cy="6858000" type="screen4x3"/>
  <p:notesSz cx="6858000" cy="9144000"/>
  <p:custDataLst>
    <p:tags r:id="rId17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userDrawn="1">
          <p15:clr>
            <a:srgbClr val="A4A3A4"/>
          </p15:clr>
        </p15:guide>
        <p15:guide id="3" orient="horz" pos="42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D6F7D"/>
    <a:srgbClr val="008000"/>
    <a:srgbClr val="CC3399"/>
    <a:srgbClr val="FF9933"/>
    <a:srgbClr val="FF9966"/>
    <a:srgbClr val="33CC33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922"/>
    <p:restoredTop sz="94694"/>
  </p:normalViewPr>
  <p:slideViewPr>
    <p:cSldViewPr snapToGrid="0">
      <p:cViewPr varScale="1">
        <p:scale>
          <a:sx n="117" d="100"/>
          <a:sy n="117" d="100"/>
        </p:scale>
        <p:origin x="1328" y="-8"/>
      </p:cViewPr>
      <p:guideLst>
        <p:guide/>
        <p:guide orient="horz" pos="429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641E0-C0FB-FB45-BE20-B5E285E46BDA}" type="datetimeFigureOut">
              <a:rPr lang="en-US" smtClean="0"/>
              <a:t>11/4/25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CD667F-4C0A-F045-9861-4468224AED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59655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40E8FAF-0EB9-4F3C-9D18-30F5214B3A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1687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40E8FAF-0EB9-4F3C-9D18-30F5214B3A3C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1362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448882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5582482"/>
            <a:ext cx="6400800" cy="554404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9C4FB-7D33-419B-8833-D1372BFD11C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294106" y="5472156"/>
            <a:ext cx="8643661" cy="3646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Integrals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63A33-8271-4DD0-9C48-789913D7C11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2486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914655-DFE5-45AD-AEB7-B6324F535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013A5A-BD10-4E42-8EDD-42C4A14A642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B536C3-BB10-4165-8E74-99838CB5170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871096-0617-41A5-9758-D8016564092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A0D8F-9A19-4D03-8318-653C6FCD8B9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309CFA1-B09C-442F-85C3-919131D33D2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5B137E2-35D0-4667-9362-8260FF57AB0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1713" y="471448"/>
            <a:ext cx="8229600" cy="6282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713" y="1182021"/>
            <a:ext cx="8229600" cy="5441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4094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Integrals</a:t>
            </a:r>
            <a:endParaRPr lang="en-US" dirty="0">
              <a:latin typeface="+mn-lt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09560" y="18288"/>
            <a:ext cx="77724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1210FB4-E372-466D-A3EB-21FD966A10F2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9" name="Text Box 11"/>
          <p:cNvSpPr txBox="1">
            <a:spLocks noChangeArrowheads="1"/>
          </p:cNvSpPr>
          <p:nvPr userDrawn="1"/>
        </p:nvSpPr>
        <p:spPr bwMode="auto">
          <a:xfrm>
            <a:off x="381000" y="6553200"/>
            <a:ext cx="167640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endParaRPr lang="en-US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8781336" y="1"/>
            <a:ext cx="362663" cy="37083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625" r:id="rId1"/>
    <p:sldLayoutId id="2147484626" r:id="rId2"/>
    <p:sldLayoutId id="2147484627" r:id="rId3"/>
    <p:sldLayoutId id="2147484628" r:id="rId4"/>
    <p:sldLayoutId id="2147484629" r:id="rId5"/>
    <p:sldLayoutId id="2147484630" r:id="rId6"/>
    <p:sldLayoutId id="2147484631" r:id="rId7"/>
    <p:sldLayoutId id="2147484632" r:id="rId8"/>
    <p:sldLayoutId id="2147484633" r:id="rId9"/>
    <p:sldLayoutId id="2147484634" r:id="rId10"/>
    <p:sldLayoutId id="2147484635" r:id="rId11"/>
  </p:sldLayoutIdLst>
  <p:transition>
    <p:fade thruBlk="1"/>
  </p:transition>
  <p:hf hdr="0"/>
  <p:txStyles>
    <p:titleStyle>
      <a:lvl1pPr algn="l" defTabSz="914400" rtl="0" eaLnBrk="1" latinLnBrk="0" hangingPunct="1">
        <a:spcBef>
          <a:spcPct val="0"/>
        </a:spcBef>
        <a:buNone/>
        <a:defRPr sz="32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emf"/><Relationship Id="rId4" Type="http://schemas.openxmlformats.org/officeDocument/2006/relationships/image" Target="../media/image20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00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9575" y="2192572"/>
            <a:ext cx="8465346" cy="900608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Integrals</a:t>
            </a:r>
          </a:p>
        </p:txBody>
      </p:sp>
      <p:sp>
        <p:nvSpPr>
          <p:cNvPr id="8195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266816" y="5547869"/>
            <a:ext cx="6400800" cy="527762"/>
          </a:xfrm>
        </p:spPr>
        <p:txBody>
          <a:bodyPr/>
          <a:lstStyle/>
          <a:p>
            <a:pPr eaLnBrk="1" hangingPunct="1"/>
            <a:r>
              <a:rPr lang="en-US" dirty="0"/>
              <a:t>Eric Prebys</a:t>
            </a: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10848-AB4B-424E-CB59-6185D0F75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3AD28-763B-6C13-4C37-FD5E405A9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 an integral to a discrete sums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C318EA-ED21-F497-DCAD-7475B0B3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A93BF-AE68-5414-4DFA-F49E13C59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5A04-93EA-21C3-CB84-978ACA22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9513F72-902D-9C26-4BB1-9AD42ECBD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43" y="1851478"/>
            <a:ext cx="3644900" cy="37211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205BE4-F86F-A044-731D-42948578C3FA}"/>
              </a:ext>
            </a:extLst>
          </p:cNvPr>
          <p:cNvSpPr txBox="1"/>
          <p:nvPr/>
        </p:nvSpPr>
        <p:spPr>
          <a:xfrm>
            <a:off x="4909457" y="1839686"/>
            <a:ext cx="300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Start with n discrete points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F1D93D-DB30-447B-3763-9A9E946571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690" y="2928181"/>
            <a:ext cx="1485900" cy="279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FFEE798-F105-87D3-F793-24F1E6F1A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537" y="2779132"/>
            <a:ext cx="1308100" cy="6477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BD4B62A-964C-93CC-51BE-8AE5D6D441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1226" y="4441115"/>
            <a:ext cx="3200400" cy="889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95495C3-1129-E234-2E79-C02473312457}"/>
              </a:ext>
            </a:extLst>
          </p:cNvPr>
          <p:cNvSpPr txBox="1"/>
          <p:nvPr/>
        </p:nvSpPr>
        <p:spPr>
          <a:xfrm>
            <a:off x="4917266" y="3669728"/>
            <a:ext cx="3000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Approximate as a sum</a:t>
            </a:r>
          </a:p>
        </p:txBody>
      </p:sp>
    </p:spTree>
    <p:extLst>
      <p:ext uri="{BB962C8B-B14F-4D97-AF65-F5344CB8AC3E}">
        <p14:creationId xmlns:p14="http://schemas.microsoft.com/office/powerpoint/2010/main" val="857852169"/>
      </p:ext>
    </p:extLst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8F678-2A3C-9847-72BD-251FF60B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Left-side Rule Integrals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40FF70-A1E9-5C97-E87D-D4C55560E4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simplest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1C047-FCBC-189A-D179-D4EDDBE72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06C7A-6B2A-B414-1BF0-FBA1F0D57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35C6D6-3FFA-560D-1438-60D52B168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194B11-7E8C-725D-98FD-0623D3D0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0000"/>
          <a:stretch>
            <a:fillRect/>
          </a:stretch>
        </p:blipFill>
        <p:spPr>
          <a:xfrm>
            <a:off x="441713" y="1771650"/>
            <a:ext cx="3416300" cy="33147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3AE6C3-5350-757E-907F-B229B4868CF7}"/>
              </a:ext>
            </a:extLst>
          </p:cNvPr>
          <p:cNvSpPr txBox="1"/>
          <p:nvPr/>
        </p:nvSpPr>
        <p:spPr>
          <a:xfrm>
            <a:off x="6978433" y="1860123"/>
            <a:ext cx="1862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rgbClr val="FF0000"/>
                </a:solidFill>
                <a:latin typeface="+mn-lt"/>
              </a:rPr>
              <a:t>Skip last point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9FEE254-AC02-0535-2F4C-11D5F21401DE}"/>
              </a:ext>
            </a:extLst>
          </p:cNvPr>
          <p:cNvCxnSpPr>
            <a:cxnSpLocks/>
          </p:cNvCxnSpPr>
          <p:nvPr/>
        </p:nvCxnSpPr>
        <p:spPr>
          <a:xfrm flipH="1">
            <a:off x="7063120" y="2341756"/>
            <a:ext cx="1356051" cy="184924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B60FFED-F28A-20FF-31B5-66F2B038A7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7045" y="3295650"/>
            <a:ext cx="35941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383190"/>
      </p:ext>
    </p:extLst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CD493-D9CA-92A9-EEB0-F27C34C2A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Midpoint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98D37-F682-4989-BFEB-04B65C042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obviously do better if we use the midpoint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A918F8-CAD5-C278-5D68-F6E08299E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F86D-786A-5298-3E00-69FDC898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EC0A4-E055-2811-B72F-1A798B17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118ACE-8594-94BA-F498-40290588DC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53"/>
          <a:stretch>
            <a:fillRect/>
          </a:stretch>
        </p:blipFill>
        <p:spPr>
          <a:xfrm>
            <a:off x="219152" y="1771650"/>
            <a:ext cx="3371695" cy="3314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94E7B-30B5-C1DE-EB7A-1C3EA3D98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6231" y="2778976"/>
            <a:ext cx="443230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881706"/>
      </p:ext>
    </p:extLst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A2403-5A3B-F7ED-6E07-BF969EFF9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Trapezoidal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55AC7-6F80-B9DB-FA93-98E55C4BD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based on approximating an integral by a trapezoid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50BCE-53DD-D5CE-9DD4-E5CB33C5B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814E1-5C05-A3DE-4D8E-B8FE59904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04DF3-4F05-AB4E-146B-8AEBD8C52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9CD73D-0C4E-7978-B283-C3F9BF7992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12" b="8543"/>
          <a:stretch>
            <a:fillRect/>
          </a:stretch>
        </p:blipFill>
        <p:spPr>
          <a:xfrm>
            <a:off x="118836" y="1686379"/>
            <a:ext cx="3233964" cy="30082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9E3778-8E7C-7BB4-DC72-B8A9F2D15D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710" t="4742" r="68807" b="57628"/>
          <a:stretch>
            <a:fillRect/>
          </a:stretch>
        </p:blipFill>
        <p:spPr>
          <a:xfrm>
            <a:off x="7461651" y="1820194"/>
            <a:ext cx="895817" cy="123778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87003B9-BDD7-F60C-8EB5-BC2A98EBD1BB}"/>
              </a:ext>
            </a:extLst>
          </p:cNvPr>
          <p:cNvCxnSpPr/>
          <p:nvPr/>
        </p:nvCxnSpPr>
        <p:spPr>
          <a:xfrm>
            <a:off x="7740431" y="2243941"/>
            <a:ext cx="490654" cy="0"/>
          </a:xfrm>
          <a:prstGeom prst="line">
            <a:avLst/>
          </a:prstGeom>
          <a:ln w="15875">
            <a:solidFill>
              <a:schemeClr val="tx1"/>
            </a:solidFill>
            <a:prstDash val="sysDash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D10DDD2-00D8-20EE-F9BF-8CC93127D0E2}"/>
              </a:ext>
            </a:extLst>
          </p:cNvPr>
          <p:cNvSpPr txBox="1"/>
          <p:nvPr/>
        </p:nvSpPr>
        <p:spPr>
          <a:xfrm>
            <a:off x="3579541" y="2007220"/>
            <a:ext cx="31892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Note: the integral if the trapezoid is just the integral of the mean.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155C19-F0B1-8061-EFA6-9916C6A5B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7238" y="3626298"/>
            <a:ext cx="5356860" cy="230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058772"/>
      </p:ext>
    </p:extLst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C90E5-A555-FF9D-BD32-2ED14B6549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Simpson’s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45DB1-2799-9DA1-C864-EDBC873E0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Simpson’s Rule involves fitting a quadratic between three points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90DAA-2878-D83D-C537-4DD776039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13F39-44C0-6F92-1C00-83F25E105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891DA-D3A0-952B-43A6-FBB8AB64E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768AC7-B664-BC19-BECB-57116B28F3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14" b="10505"/>
          <a:stretch>
            <a:fillRect/>
          </a:stretch>
        </p:blipFill>
        <p:spPr>
          <a:xfrm>
            <a:off x="264532" y="3429000"/>
            <a:ext cx="2930757" cy="294376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CFB39EA-FD27-C250-CBC2-89C90E4E2E0A}"/>
              </a:ext>
            </a:extLst>
          </p:cNvPr>
          <p:cNvSpPr txBox="1"/>
          <p:nvPr/>
        </p:nvSpPr>
        <p:spPr>
          <a:xfrm>
            <a:off x="887637" y="2055910"/>
            <a:ext cx="4930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Assume three points lie on a parabola about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B02F437-7B17-C97F-929A-4E21D7409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703" y="2594451"/>
            <a:ext cx="7217584" cy="253750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3703473-F237-3701-DE40-1DD3B94DBC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1212" y="5301169"/>
            <a:ext cx="2616200" cy="1295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EE634EA-CADF-D400-E02F-C55546C087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7963" y="2104221"/>
            <a:ext cx="825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783465"/>
      </p:ext>
    </p:extLst>
  </p:cSld>
  <p:clrMapOvr>
    <a:masterClrMapping/>
  </p:clrMapOvr>
  <p:transition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A13B5-5856-B1F3-C25F-59B833778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Simpson’s Rule (</a:t>
            </a:r>
            <a:r>
              <a:rPr lang="en-US" dirty="0" err="1"/>
              <a:t>con’d</a:t>
            </a:r>
            <a:r>
              <a:rPr lang="en-US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8F088-D305-661A-9F57-06D3C48AAE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The equations.  Fron the second</a:t>
            </a:r>
          </a:p>
          <a:p>
            <a:endParaRPr lang="en-US" sz="2000" dirty="0"/>
          </a:p>
          <a:p>
            <a:r>
              <a:rPr lang="en-US" sz="2000" dirty="0"/>
              <a:t>Adding the first and third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Going back to the original equation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4F67-092A-D9DA-3EA6-F2D6E4A3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67F50-701C-2134-9FAD-9187CC2D8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67972A-D66B-AA5B-9A0F-223EB4FD0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07B477-28F0-5618-6C2E-623CFA5B21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660" y="1654717"/>
            <a:ext cx="787400" cy="203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AF4340-E0AD-780C-F73E-67DDC7B87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049" y="2342971"/>
            <a:ext cx="2514600" cy="3143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E290746-3520-FC9C-A3FE-6F2D1CCA3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4304" y="3018867"/>
            <a:ext cx="3097197" cy="17880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577AEF-F975-A6E4-3A87-62A099B7D3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245" y="5004522"/>
            <a:ext cx="6009579" cy="1536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036939"/>
      </p:ext>
    </p:extLst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1FC9EBC-A7D4-6B2D-D697-F484D1CF3F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50" y="1789188"/>
            <a:ext cx="5623050" cy="27719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ECA5E6-50E8-A4A9-1407-F85D9F7B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on Left-side Rule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7B2AD-2E7C-5EAE-7F80-9FB7D31490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Taylor expand about the starting point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FB4CC0-C144-ABF2-3053-C5516CFB6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7FE3C-A305-C9AC-8D68-328FD9527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7CDA5-A07E-1B30-68BA-39AE48BD6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E94A64-B6A3-568C-1D0E-1053ADC1EB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/>
          <a:stretch>
            <a:fillRect/>
          </a:stretch>
        </p:blipFill>
        <p:spPr>
          <a:xfrm>
            <a:off x="118327" y="1961221"/>
            <a:ext cx="3416300" cy="3314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8615C16-B497-A5D2-FED3-EFEAB96AB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8522" y="4253388"/>
            <a:ext cx="1987151" cy="400994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732B8AF-092B-EB9F-CC0B-CA1ADE296E21}"/>
              </a:ext>
            </a:extLst>
          </p:cNvPr>
          <p:cNvCxnSpPr>
            <a:cxnSpLocks/>
          </p:cNvCxnSpPr>
          <p:nvPr/>
        </p:nvCxnSpPr>
        <p:spPr>
          <a:xfrm flipH="1" flipV="1">
            <a:off x="7315200" y="3311912"/>
            <a:ext cx="523240" cy="8363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04CAF83-FE66-49A6-1390-62187B1575C3}"/>
              </a:ext>
            </a:extLst>
          </p:cNvPr>
          <p:cNvSpPr/>
          <p:nvPr/>
        </p:nvSpPr>
        <p:spPr>
          <a:xfrm>
            <a:off x="5220896" y="6002830"/>
            <a:ext cx="1550019" cy="603944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23E7D8-1EFA-2AF6-411C-F2AAC9A6DEFE}"/>
              </a:ext>
            </a:extLst>
          </p:cNvPr>
          <p:cNvSpPr txBox="1"/>
          <p:nvPr/>
        </p:nvSpPr>
        <p:spPr>
          <a:xfrm>
            <a:off x="3858013" y="5038430"/>
            <a:ext cx="4746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The accumulated error then becomes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2FD983E-F6D8-5A1B-C974-1B77499AE2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8137" y="5500589"/>
            <a:ext cx="1655535" cy="100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139417"/>
      </p:ext>
    </p:extLst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6AD39-B161-482F-A377-9DA40526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on Midpoint Rule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2FD70-2647-460E-0F9D-56080C190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6699D-86EC-3041-AAAE-76B11EF5A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0CC67-98C9-52B0-38A5-BD9B5E4F1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D37FFCF-4704-A451-10E5-E704AB98B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53"/>
          <a:stretch>
            <a:fillRect/>
          </a:stretch>
        </p:blipFill>
        <p:spPr>
          <a:xfrm>
            <a:off x="5738208" y="471448"/>
            <a:ext cx="2752649" cy="27061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0272D4F-2134-E4D0-3E31-2C01AEC21713}"/>
              </a:ext>
            </a:extLst>
          </p:cNvPr>
          <p:cNvSpPr txBox="1"/>
          <p:nvPr/>
        </p:nvSpPr>
        <p:spPr>
          <a:xfrm>
            <a:off x="507747" y="1146559"/>
            <a:ext cx="4460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Set the midpoint at x=0 and expand</a:t>
            </a:r>
            <a:endParaRPr lang="en-US" sz="1800" i="1" baseline="-25000" dirty="0">
              <a:latin typeface="+mn-lt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63869CA-7AC6-7371-88BF-C542D9AC5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47" y="1687578"/>
            <a:ext cx="4812458" cy="106505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41855B3-2414-A590-9D0E-3E44AE9E469C}"/>
              </a:ext>
            </a:extLst>
          </p:cNvPr>
          <p:cNvSpPr txBox="1"/>
          <p:nvPr/>
        </p:nvSpPr>
        <p:spPr>
          <a:xfrm>
            <a:off x="457200" y="2709412"/>
            <a:ext cx="8033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+mn-lt"/>
              </a:rPr>
              <a:t>integrate from ci</a:t>
            </a:r>
            <a:r>
              <a:rPr lang="en-US" sz="1800" i="1" dirty="0">
                <a:latin typeface="+mn-lt"/>
              </a:rPr>
              <a:t>–h/2</a:t>
            </a:r>
            <a:r>
              <a:rPr lang="en-US" sz="1800" dirty="0">
                <a:latin typeface="+mn-lt"/>
              </a:rPr>
              <a:t> to </a:t>
            </a:r>
            <a:r>
              <a:rPr lang="en-US" sz="1800" i="1" dirty="0">
                <a:latin typeface="+mn-lt"/>
              </a:rPr>
              <a:t>+h/2</a:t>
            </a:r>
            <a:r>
              <a:rPr lang="en-US" sz="1800" dirty="0">
                <a:latin typeface="+mn-lt"/>
              </a:rPr>
              <a:t> (odd terms vanish)</a:t>
            </a:r>
            <a:endParaRPr lang="en-US" sz="1800" i="1" dirty="0">
              <a:latin typeface="+mn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159E75A-0EF1-F0B3-1C7C-361D2851AB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750" y="3465202"/>
            <a:ext cx="7772400" cy="292135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37FD9CC-B08A-0592-EEA8-6A488A2F9ED4}"/>
              </a:ext>
            </a:extLst>
          </p:cNvPr>
          <p:cNvSpPr txBox="1"/>
          <p:nvPr/>
        </p:nvSpPr>
        <p:spPr>
          <a:xfrm>
            <a:off x="4968235" y="5526775"/>
            <a:ext cx="3329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  <a:latin typeface="+mn-lt"/>
              </a:rPr>
              <a:t>Some point on the curve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B55E309-69CE-4064-AF50-0099FAD2A0CA}"/>
              </a:ext>
            </a:extLst>
          </p:cNvPr>
          <p:cNvCxnSpPr>
            <a:cxnSpLocks/>
          </p:cNvCxnSpPr>
          <p:nvPr/>
        </p:nvCxnSpPr>
        <p:spPr>
          <a:xfrm flipH="1">
            <a:off x="4763950" y="5896107"/>
            <a:ext cx="204285" cy="156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4617353"/>
      </p:ext>
    </p:extLst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328F1-E78E-319B-8D24-A7DE8FFCE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Trapezoidal and Simpson’s rule (derived in book)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2169C-3F4B-AA46-7E6C-0B40508D4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Trapezoidal Rule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Simpson’s Rule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C6622-1E11-CFBC-096B-E13380019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9E4CC-AF42-F689-0AC5-85260797B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37F93-4664-F5E9-1D1D-25074C7AB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D946EE0-6863-70D3-3450-49F12C1F2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712" b="8543"/>
          <a:stretch>
            <a:fillRect/>
          </a:stretch>
        </p:blipFill>
        <p:spPr>
          <a:xfrm>
            <a:off x="1937017" y="1642686"/>
            <a:ext cx="2333900" cy="217103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850CAF-F8B8-106C-41B5-C1C55AD0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425" y="2219402"/>
            <a:ext cx="2514600" cy="635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6B00B2E-EA7B-BFCA-D92B-68B2BADAEF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14" b="10505"/>
          <a:stretch>
            <a:fillRect/>
          </a:stretch>
        </p:blipFill>
        <p:spPr>
          <a:xfrm>
            <a:off x="2109481" y="4363501"/>
            <a:ext cx="2161436" cy="21710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3C8860-04D7-5CB1-3B43-39B1E3C9BE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8225" y="5028279"/>
            <a:ext cx="2667000" cy="647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6F6AA4-7DE7-FF03-D177-B465B8E96B11}"/>
              </a:ext>
            </a:extLst>
          </p:cNvPr>
          <p:cNvSpPr txBox="1"/>
          <p:nvPr/>
        </p:nvSpPr>
        <p:spPr>
          <a:xfrm>
            <a:off x="5163015" y="6255834"/>
            <a:ext cx="2930624" cy="36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(go to notebook…)</a:t>
            </a:r>
          </a:p>
        </p:txBody>
      </p:sp>
    </p:spTree>
    <p:extLst>
      <p:ext uri="{BB962C8B-B14F-4D97-AF65-F5344CB8AC3E}">
        <p14:creationId xmlns:p14="http://schemas.microsoft.com/office/powerpoint/2010/main" val="2081779767"/>
      </p:ext>
    </p:extLst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A3531-FC59-22ED-F94C-256084D7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Simulation Results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ADF89-0963-3EB2-01B8-1A557A7915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4A408-EC64-5A55-3577-723E38475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720C8-0F4C-3C74-093E-FDC8F9638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123E62-E497-DA44-E040-B616632BA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96" y="1220194"/>
            <a:ext cx="6629958" cy="26930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2A46472-0F81-2AFB-25A8-67A156D574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696" y="4033806"/>
            <a:ext cx="6755119" cy="269307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F324FD8-DD52-D5E7-8548-256C9FCD1880}"/>
              </a:ext>
            </a:extLst>
          </p:cNvPr>
          <p:cNvSpPr txBox="1"/>
          <p:nvPr/>
        </p:nvSpPr>
        <p:spPr>
          <a:xfrm>
            <a:off x="607184" y="3788870"/>
            <a:ext cx="86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h=.01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4251017-2953-3A32-0196-728122C81253}"/>
              </a:ext>
            </a:extLst>
          </p:cNvPr>
          <p:cNvSpPr txBox="1"/>
          <p:nvPr/>
        </p:nvSpPr>
        <p:spPr>
          <a:xfrm>
            <a:off x="551428" y="975258"/>
            <a:ext cx="8647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>
                <a:latin typeface="+mn-lt"/>
              </a:rPr>
              <a:t>h=.2</a:t>
            </a:r>
          </a:p>
        </p:txBody>
      </p:sp>
    </p:spTree>
    <p:extLst>
      <p:ext uri="{BB962C8B-B14F-4D97-AF65-F5344CB8AC3E}">
        <p14:creationId xmlns:p14="http://schemas.microsoft.com/office/powerpoint/2010/main" val="1482832754"/>
      </p:ext>
    </p:extLst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753C-F89F-B3CD-9D60-120E0CDA6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Iterative Trapezoid (Next Week’s Lab)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97F5B-6C9E-9073-2C5F-1EC3CA1E84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/>
              <a:t>In most cases, rather than calculate the error, it’s easier to simply reduce the step size until the integral stops changing.  </a:t>
            </a:r>
          </a:p>
          <a:p>
            <a:r>
              <a:rPr lang="en-US" sz="1800" dirty="0"/>
              <a:t>In the case of the Trapezoid Rule, you can begin dividing the interval by two each iteration.</a:t>
            </a:r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For each value </a:t>
            </a:r>
            <a:r>
              <a:rPr lang="en-US" sz="1800" i="1" dirty="0"/>
              <a:t>h</a:t>
            </a:r>
            <a:r>
              <a:rPr lang="en-US" sz="1800" i="1" baseline="-25000" dirty="0"/>
              <a:t>m</a:t>
            </a:r>
            <a:r>
              <a:rPr lang="en-US" sz="1800" dirty="0"/>
              <a:t>, calculate the integral </a:t>
            </a:r>
            <a:r>
              <a:rPr lang="en-US" sz="1800" i="1" dirty="0" err="1"/>
              <a:t>I</a:t>
            </a:r>
            <a:r>
              <a:rPr lang="en-US" sz="1800" i="1" baseline="-25000" dirty="0" err="1"/>
              <a:t>m</a:t>
            </a:r>
            <a:r>
              <a:rPr lang="en-US" sz="1800" dirty="0"/>
              <a:t>. Continue until </a:t>
            </a:r>
          </a:p>
          <a:p>
            <a:endParaRPr lang="en-US" dirty="0"/>
          </a:p>
          <a:p>
            <a:pPr marL="0" indent="0">
              <a:buNone/>
            </a:pPr>
            <a:endParaRPr lang="en-US" sz="2000" dirty="0"/>
          </a:p>
          <a:p>
            <a:r>
              <a:rPr lang="en-US" sz="1800" dirty="0"/>
              <a:t>Note that for each iteration, half the points were points you used before, so you could save a teeny bit of time by basing each integral on the previous integral</a:t>
            </a:r>
          </a:p>
          <a:p>
            <a:endParaRPr lang="en-US" sz="1800" dirty="0"/>
          </a:p>
          <a:p>
            <a:endParaRPr lang="en-US" sz="14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  but to be honest, it would probably take you more time to get the algorithm </a:t>
            </a:r>
            <a:br>
              <a:rPr lang="en-US" sz="1800" dirty="0"/>
            </a:br>
            <a:r>
              <a:rPr lang="en-US" sz="1800" dirty="0"/>
              <a:t>  right than you would save!</a:t>
            </a:r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AF82E3-AA3C-86BF-4039-1ED3519D6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65AF9-CA2F-BEC4-3FF5-492298A0F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D2AF9A-3266-5243-95F0-782D10DC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BAD5B8-91C8-83B4-D9D7-20640FD5B5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360386"/>
            <a:ext cx="5092700" cy="63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AA963F-E376-101A-77BE-FD2E86685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7420" y="3518045"/>
            <a:ext cx="1933666" cy="6293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2DECEA-AE43-EBC4-F9EE-6B1616708B2E}"/>
              </a:ext>
            </a:extLst>
          </p:cNvPr>
          <p:cNvSpPr txBox="1"/>
          <p:nvPr/>
        </p:nvSpPr>
        <p:spPr>
          <a:xfrm>
            <a:off x="6058289" y="3324568"/>
            <a:ext cx="26996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+mn-lt"/>
              </a:rPr>
              <a:t>Predetermined accuracy target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4B6B478-B664-711D-44E4-90346ADEA906}"/>
              </a:ext>
            </a:extLst>
          </p:cNvPr>
          <p:cNvCxnSpPr/>
          <p:nvPr/>
        </p:nvCxnSpPr>
        <p:spPr>
          <a:xfrm flipH="1">
            <a:off x="5594350" y="3518045"/>
            <a:ext cx="413658" cy="2286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2874694-57C3-6045-A7C7-1A080706C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6156" y="4991301"/>
            <a:ext cx="5171687" cy="86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47788"/>
      </p:ext>
    </p:extLst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A3609-5578-DBC0-5118-3E0C28322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Integration tools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5FB76-C71D-3753-A1F0-88DA1FE3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Phy 40, Fall 2025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0F9A2-8082-1402-2209-B6EBC7BC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Integrals</a:t>
            </a:r>
            <a:endParaRPr lang="en-US">
              <a:latin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BD1F4-4AC5-9358-1DD7-138CB8252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26155-0DCC-45D2-90B6-32F65F3F6C0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1026" name="Picture 2" descr="May be an image of text that says 'scipy. integrate. quad a, quad func, b, args=(), full_output=0, epsabs=1 49e-08, epsrel=1. epsrel=1.49e-08, 49e-08, Limit=50, points=None, weight=None, wvar=None, wopts=None, maxp1=50, Limlst=50, complex_func=False) [source] Compute a definite integral. Integrate func from a to b (possibly infinite interval) using a technique from the Fortran library QUADPACK.'">
            <a:extLst>
              <a:ext uri="{FF2B5EF4-FFF2-40B4-BE49-F238E27FC236}">
                <a16:creationId xmlns:a16="http://schemas.microsoft.com/office/drawing/2014/main" id="{993D72A9-D95E-17AA-758A-A6D8469B25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449" y="1149126"/>
            <a:ext cx="5664820" cy="2241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A933A5-FCC6-5550-4AE3-467BC32FD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467534"/>
            <a:ext cx="8270093" cy="3352366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21A81F2-F27B-C576-BE07-E2CC309E2612}"/>
              </a:ext>
            </a:extLst>
          </p:cNvPr>
          <p:cNvSpPr/>
          <p:nvPr/>
        </p:nvSpPr>
        <p:spPr>
          <a:xfrm>
            <a:off x="4995746" y="3467534"/>
            <a:ext cx="457200" cy="234671"/>
          </a:xfrm>
          <a:prstGeom prst="rect">
            <a:avLst/>
          </a:prstGeom>
          <a:noFill/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CA5238-17E2-7848-08C5-6E820A982183}"/>
              </a:ext>
            </a:extLst>
          </p:cNvPr>
          <p:cNvSpPr/>
          <p:nvPr/>
        </p:nvSpPr>
        <p:spPr>
          <a:xfrm>
            <a:off x="6041571" y="2982686"/>
            <a:ext cx="816429" cy="185057"/>
          </a:xfrm>
          <a:prstGeom prst="rect">
            <a:avLst/>
          </a:prstGeom>
          <a:solidFill>
            <a:srgbClr val="FFFF00">
              <a:alpha val="401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7CB8DF5-048A-FFAE-E67E-BF70156E9896}"/>
              </a:ext>
            </a:extLst>
          </p:cNvPr>
          <p:cNvSpPr/>
          <p:nvPr/>
        </p:nvSpPr>
        <p:spPr>
          <a:xfrm>
            <a:off x="1588517" y="3190842"/>
            <a:ext cx="816429" cy="185057"/>
          </a:xfrm>
          <a:prstGeom prst="rect">
            <a:avLst/>
          </a:prstGeom>
          <a:solidFill>
            <a:srgbClr val="FFFF00">
              <a:alpha val="4018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238891"/>
      </p:ext>
    </p:extLst>
  </p:cSld>
  <p:clrMapOvr>
    <a:masterClrMapping/>
  </p:clrMapOvr>
  <p:transition>
    <p:fade thruBlk="1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PREBYS@7EJIGINFUVWYY57I" val="4350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>
    <a:spDef>
      <a:spPr>
        <a:noFill/>
        <a:ln>
          <a:solidFill>
            <a:srgbClr val="FF0000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  <a:tailEnd type="arrow"/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sz="1800" dirty="0" smtClean="0"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41298</TotalTime>
  <Words>397</Words>
  <Application>Microsoft Macintosh PowerPoint</Application>
  <PresentationFormat>On-screen Show (4:3)</PresentationFormat>
  <Paragraphs>96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Times New Roman</vt:lpstr>
      <vt:lpstr>Clarity</vt:lpstr>
      <vt:lpstr>Integrals</vt:lpstr>
      <vt:lpstr>General Problem</vt:lpstr>
      <vt:lpstr>Left-side Rule Integrals</vt:lpstr>
      <vt:lpstr>Midpoint Rule</vt:lpstr>
      <vt:lpstr>Trapezoidal Rule</vt:lpstr>
      <vt:lpstr>Simpson’s Rule</vt:lpstr>
      <vt:lpstr>Simpson’s Rule (con’d)</vt:lpstr>
      <vt:lpstr>Error on Left-side Rule</vt:lpstr>
      <vt:lpstr>Error on Midpoint Rule</vt:lpstr>
      <vt:lpstr>Trapezoidal and Simpson’s rule (derived in book)</vt:lpstr>
      <vt:lpstr>Simulation Results</vt:lpstr>
      <vt:lpstr>Iterative Trapezoid (Next Week’s Lab)</vt:lpstr>
      <vt:lpstr>Built-in Integration tools</vt:lpstr>
    </vt:vector>
  </TitlesOfParts>
  <Company>Fermilab Beams Division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Antiproton Stacking and Cooling</dc:title>
  <dc:creator>localadmin</dc:creator>
  <cp:lastModifiedBy>Eric J Prebys</cp:lastModifiedBy>
  <cp:revision>776</cp:revision>
  <cp:lastPrinted>2025-01-10T20:21:22Z</cp:lastPrinted>
  <dcterms:created xsi:type="dcterms:W3CDTF">2003-06-24T14:15:57Z</dcterms:created>
  <dcterms:modified xsi:type="dcterms:W3CDTF">2025-11-04T23:45:42Z</dcterms:modified>
</cp:coreProperties>
</file>