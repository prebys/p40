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19"/>
  </p:notesMasterIdLst>
  <p:handoutMasterIdLst>
    <p:handoutMasterId r:id="rId20"/>
  </p:handoutMasterIdLst>
  <p:sldIdLst>
    <p:sldId id="271" r:id="rId2"/>
    <p:sldId id="273" r:id="rId3"/>
    <p:sldId id="282" r:id="rId4"/>
    <p:sldId id="286" r:id="rId5"/>
    <p:sldId id="287" r:id="rId6"/>
    <p:sldId id="292" r:id="rId7"/>
    <p:sldId id="293" r:id="rId8"/>
    <p:sldId id="294" r:id="rId9"/>
    <p:sldId id="295" r:id="rId10"/>
    <p:sldId id="296" r:id="rId11"/>
    <p:sldId id="297" r:id="rId12"/>
    <p:sldId id="298" r:id="rId13"/>
    <p:sldId id="309" r:id="rId14"/>
    <p:sldId id="310" r:id="rId15"/>
    <p:sldId id="311" r:id="rId16"/>
    <p:sldId id="313" r:id="rId17"/>
    <p:sldId id="312" r:id="rId18"/>
  </p:sldIdLst>
  <p:sldSz cx="9144000" cy="6858000" type="screen4x3"/>
  <p:notesSz cx="6858000" cy="9144000"/>
  <p:custDataLst>
    <p:tags r:id="rId2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38">
          <p15:clr>
            <a:srgbClr val="A4A3A4"/>
          </p15:clr>
        </p15:guide>
        <p15:guide id="2">
          <p15:clr>
            <a:srgbClr val="A4A3A4"/>
          </p15:clr>
        </p15:guide>
        <p15:guide id="3" orient="horz" pos="4293">
          <p15:clr>
            <a:srgbClr val="A4A3A4"/>
          </p15:clr>
        </p15:guide>
        <p15:guide id="4" pos="20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1928" y="168"/>
      </p:cViewPr>
      <p:guideLst>
        <p:guide orient="horz" pos="4238"/>
        <p:guide/>
        <p:guide orient="horz" pos="4293"/>
        <p:guide pos="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22:50:17.2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24752 12658 24575,'-29'-14'0,"-1"0"0,1 0 0,-1-1 0,1 1 0,0 0 0,-1-1 0,-3 0 0,2 1 0,0 0 0,-3-1 0,4 1 0,-3 0 0,-2-1 0,0-1 0,0 2 0,2 0 0,3 2-820,-4-1 1,2 2 0,3 1 0,2 1 692,-2-1 1,1 0 153,1-1 0,0 0 1,2 0-28,7 2 0,0 0 0,-3-2 0,-3-2 0,-1 1 0,-1 0 0,-1 1 0,-5-1 0,2 2 0,-4-2 0,-3 1 0,-2-2 0,0 2 0,2-1 0,3 2-320,-1 0 1,4 1-1,0 0 1,-1 0 0,-3-1 319,3 2 0,-2-2 0,-2 1 0,-1-1 0,-1 0 0,1 0 0,1 1 0,1 0 0,4 2-656,-5-2 1,4 2-1,1 0 1,-2 0 0,-4-2 652,8 3 1,-3-1 0,-2-1-1,-2 0 1,-1 0 0,0 0 0,-1-1-1,1 1 1,2 1 0,0-1 0,3 1-311,-6-1 1,3 0 0,2 1 0,-1-1 0,0 1 0,-2-1 0,-4 0 312,9 2 0,-1 0 0,-3 0 0,0-1 0,-2 0 0,-1 0 0,0 1 0,0-1 0,0 0 0,0 1 0,2-1 0,1 1 0,1 1 0,2 0 0,-7-1 0,2 0 0,2 1 0,1 1 0,0-1 0,0 0 0,-2 1 0,-2-2 0,4 1 0,-2 0 0,-1 0 0,0-1 0,-1 0 0,-1 1 0,1-1 0,1 0 0,0 1 0,1 0 0,2-1-375,-3 1 0,0-1 0,2 1 1,1 0-1,0 0 0,0-1 1,-1 1-1,0-1 375,-1-1 0,-1 1 0,0-2 0,0 1 0,0 0 0,1 0 0,1 0 0,1 0 0,-2 0 0,2 0 0,1 1 0,0-1 0,-1 1 0,-2-1 25,2 1 1,-1 0 0,-1 0 0,-1 0-1,0-1 1,0 1 0,0 0 0,1 0-26,2 1 0,1 0 0,0-1 0,0 1 0,0 0 0,0-1 0,1 1 0,0 0 0,-3 0 0,1 0 0,1 0 0,-1 0 0,0 1 0,1-1 0,-1-1 0,0 1 0,-1-1 0,-1 0 0,2 0 0,0 0 0,1 1 0,3-1 0,-5 0 0,2 0 0,2 0 0,0 1 0,1-1 0,0 0 0,0 1 0,1-1 649,-9-2 0,1 0 0,7 2-649,2 0 3101,9 3-3101,19 3 3276,-15 7-508,0-4-536,-17 3-2232,10-6 0,-8-1 0,12-1 0,-3-1 0,-2 0 0,-4 0 0,-3-1-547,2 0 1,-3 0 0,-2 0 0,-2 0 0,0 0 0,2 0 32,1 1 1,0-1 0,0 1 0,0 0 0,-1 0 0,-1-1 513,2 1 0,-2 0 0,0-1 0,-1 1 0,0-1 0,-1 1 0,2 0 0,0 0 0,-3 0 0,0 0 0,1 0 0,-1 0 0,2 1 0,0-1 0,1 1-485,0 0 0,1 0 0,0 0 0,1 0 0,1 0 0,-1 0 485,-2 1 0,-1-1 0,1 1 0,1 0 0,2 0-310,-7 2 1,4 0 0,2 2 309,0 1 0,-1 1 0,5-1 0,-4 0 0,-3 0 0,0-1 0,3 0 0,2-1 0,1 0 0,0 0 0,-2-1 0,-1 1 0,-2 0 0,-1 0 0,1 0 0,3-2 0,-8 0 0,3 0 0,5-1 0,7-1 0,2 1 0,-5 1 0,2 1 0,-3 2 0,-1 1 0,-9 2 0,-4-1 0,4 1 504,8-1 0,1 0 0,0 0 1,-1 1-505,-4-1 0,-2 1 0,-1 0 0,2 0 0,4 1 0,-1 2 0,3 0 0,5 1 1596,5 0 0,3 2-1596,1 5 0,3 0 1398,1 5-1398,0 6 0,2 4 0,5 0 0,2 2 0,-1-6 0,1 1 0,1 2 0,4-2 0,1 2 0,2 1 0,-1 0 0,-1 1 0,1 1 0,0 0 0,0-1-565,0-1 1,1-2-1,0 1 1,-1 0 564,-1 0 0,-1 0 0,0 0 0,-1-1 0,-1 2 0,0-1 0,-1 3 0,0-3 0,1 1 0,-1 2 0,1 1 0,0-1 0,0-2 0,-1 0 0,1 0 0,1 2 0,1 4 0,0-8 0,0 2 0,2 3 0,-1 2 0,2 1 0,-1 0 0,1 0 0,0-1 0,0 0 0,-1-3 0,0-2-4,1 3 0,-1-3 0,0-1 0,1-1 0,0 0 0,0 2 0,1 2 4,0-2 0,1 1 0,1 3 0,-1 1 0,2 0 0,-1 0 0,0 0 0,1-2 0,-1-1 0,0-3 0,0-3 0,2 6 0,0-4 0,0-1 0,0-1 0,1 2 0,1 1 0,0 1 0,1 1 0,1 0 0,-2-2 0,0-4 0,4 7 0,-1-3 0,1-1 0,-4-4 0,2 1 0,-1 0 0,-1-1-451,3 4 0,-1 0 0,-1-1 451,-3-6 0,-1-1 0,1 1 0,4 8 0,1 2 0,-1-3 0,-1-3 0,1 0 0,0-4 0,3 3 0,0 0 0,-2-3 0,2 1 0,1-1 0,1 2 0,3 1 0,-1-2-281,-3-6 0,0-2 1,-1 0 280,5 2 0,1 0 0,-1-1 0,3 1 0,-2-3 0,5-1 0,0-2 0,0 0 0,3-1 0,-6-6 0,4 0 0,3-1 0,-1 0 0,-1 0 0,3 0 0,-1 0 0,1 0 0,3 0-378,-6 0 0,2 0 0,2 0 0,1 1 0,1-1 0,-2 1 0,-1-1 378,1 1 0,-1-1 0,-1 1 0,1 0 0,0-1 0,1 1 0,0 0 0,1 1 0,0-1 0,1 1 0,0-1 0,1 0 0,0 0 0,-4-1 0,0 0 0,1-1 0,1 1 0,0-1 0,-1 0 0,1 0 0,-1 0 0,-1 0 0,1 0 0,-2 0 0,0-1 0,0 1 0,0-1 0,2 1 0,1-2 0,2 1 0,-5-1 0,1 0 0,2-1 0,0 0 0,2 0 0,0 0 0,1 0 0,0 0 0,0-1 0,0 1 0,0 0 0,0 0 0,-1 0-131,-3 0 0,0 0 0,1 0 0,-1 0 0,1 0 0,-1 0 0,0 0 0,1 0 0,-1 0 0,1 0 0,0 0 0,-1 0 0,1 0 0,-1 0 131,2 0 0,-1 0 0,1 0 0,0 0 0,0-1 0,0 1 0,0 0 0,0 0 0,-1-1 0,1 1 0,-1 0 0,-1 0 0,1 0 0,-2 0-190,5 1 0,0-1 1,0 0-1,0 1 1,0-1-1,-2 1 1,0 0-1,0-1 0,-3 1 1,0 0-1,-2-1 190,10 2 0,-3 0 0,-1-1 0,-2 1 0,-2-1 0,-2 0-154,0-1 0,-2 0 0,-1-1 0,0 0 154,1 0 0,0 0 0,2-1 0,2-2 0,-5 0 0,3-2 0,2 0 0,2-1 0,-1-1 0,0 1 0,-2-1 0,-3 2 0,4-1 0,-3 0 0,-2 1 0,2-1 0,3-1 31,-2 1 0,2-1 0,2-1 0,2 0 0,-1 0 0,-1 0 0,-2 1 0,-3 0-31,2 1 0,-3 1 0,-2 0 0,1 0 0,2-1 0,0 1 0,1 0 0,0 0 0,2 0 0,0-1 0,1 0 0,-4 0 0,0 0 0,2 0 0,0-1 0,0 1 0,0-1 0,-1 0 0,0 0 0,4 0 0,-2-1 0,1 1 0,-1-1 0,1 1 0,0-2 0,1 1 0,-4 0 0,1 0 0,0 0 0,1 0 0,0-1 0,-1 0 0,0 1 0,-2 0 0,-1 0 0,6-1 0,-1 0 0,-2 0 0,0 1 0,-1-1 0,1 0-49,0 0 0,1 0 0,0 0 0,-1 0 0,-2 1 0,0 0 49,3 0 0,-2 0 0,-1 0 0,-1 1 540,5-2 1,-2 1-1,-2 0-540,-1-1 0,1 0 0,-2 1 0,4 0 0,2-2 0,2 0 0,-8 3 0,2-1 0,1 0 0,2 0 0,-1 0 0,1 0 0,-1-1 324,-1 1 0,0-1 0,0 0 0,0 1 1,1-1-1,-1 0 0,1-1-324,3 1 0,1-2 0,1 1 0,-1-1 0,-1 1 0,-3 1 0,-5 0 1092,5-1 0,-5 1 0,-2-1-483,4-4 1,1-5-610,-9 3 0,3-3 0,1-3 0,0 1 0,-2 2-78,-1 1 1,-1 1 0,-1 0 0,4-2 77,-2 1 0,3-1 0,2-3 0,0 0 0,0 1 0,-2 0 0,-3 1 0,5-4 0,-2 1 0,-2 1 0,-1 0-11,1-3 1,-1 1-1,-2 0 11,-4 4 0,-2-1 0,-3 1 543,-1-9 0,-3 1-543,-1 7 0,1-1 0,1-5 0,1-1 0,-3 5 0,0 2 0,1-10 0,-3 7 3276,-4 3-2388,-3 7-247,-5-4 1,-1-4-642,2 1 0,1-1 0,-3-4 0,1-1 359,3-3 1,3 2-360,0 4 0,-3 4 0,-2 0 0,-6 5 0,-7-8 0,2 11 0,-2 0 0,-8-4 0,-3-1 0,14 6 0,8 3 0,0 0 0,-6-5 0,-9-5 0,4 5 0,-3-1 0,10 7 0,5 5 0,4 1 0,2 2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DACs and ADCs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r-HR"/>
              <a:t>DACs and ADCs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hr-HR"/>
              <a:t>DACs and ADCs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sldNum="0"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7" Type="http://schemas.openxmlformats.org/officeDocument/2006/relationships/image" Target="../media/image1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5.emf"/><Relationship Id="rId4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Digital to Analog Converters (DACs)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Digital to Analog Converter (DAC)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In general, a DAC will map a (binary) number </a:t>
            </a:r>
            <a:r>
              <a:rPr lang="en-US" sz="2400" i="1" dirty="0"/>
              <a:t>D</a:t>
            </a:r>
            <a:r>
              <a:rPr lang="en-US" sz="2400" dirty="0"/>
              <a:t> to an output analog signal </a:t>
            </a:r>
            <a:r>
              <a:rPr lang="en-US" sz="2400" i="1" dirty="0"/>
              <a:t>A</a:t>
            </a:r>
            <a:endParaRPr lang="en-US" sz="2400" i="1" baseline="-25000" dirty="0"/>
          </a:p>
          <a:p>
            <a:endParaRPr lang="en-US" sz="2400" i="1" baseline="-25000" dirty="0"/>
          </a:p>
          <a:p>
            <a:endParaRPr lang="en-US" sz="2400" i="1" baseline="-25000" dirty="0"/>
          </a:p>
          <a:p>
            <a:r>
              <a:rPr lang="en-US" sz="2400" dirty="0"/>
              <a:t>Depending on our application, there are many possible mappings, but for now we’ll focus on “linear” conversion, in which an </a:t>
            </a:r>
            <a:r>
              <a:rPr lang="en-US" sz="2400" i="1" dirty="0"/>
              <a:t>n</a:t>
            </a:r>
            <a:r>
              <a:rPr lang="en-US" sz="2400" dirty="0"/>
              <a:t>-bit integer </a:t>
            </a:r>
            <a:r>
              <a:rPr lang="en-US" sz="2400" i="1" dirty="0"/>
              <a:t>D</a:t>
            </a:r>
            <a:r>
              <a:rPr lang="en-US" sz="2400" dirty="0"/>
              <a:t> produces a range of voltages between </a:t>
            </a:r>
            <a:r>
              <a:rPr lang="en-US" sz="2400" i="1" dirty="0"/>
              <a:t>A</a:t>
            </a:r>
            <a:r>
              <a:rPr lang="en-US" sz="2400" i="1" baseline="-25000" dirty="0"/>
              <a:t>min</a:t>
            </a:r>
            <a:r>
              <a:rPr lang="en-US" sz="2400" dirty="0"/>
              <a:t> and </a:t>
            </a:r>
            <a:r>
              <a:rPr lang="en-US" sz="2400" i="1" dirty="0"/>
              <a:t>A</a:t>
            </a:r>
            <a:r>
              <a:rPr lang="en-US" sz="2400" i="1" baseline="-25000" dirty="0"/>
              <a:t>max</a:t>
            </a:r>
            <a:r>
              <a:rPr lang="en-US" sz="2400" dirty="0"/>
              <a:t>, given by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2689166"/>
              </p:ext>
            </p:extLst>
          </p:nvPr>
        </p:nvGraphicFramePr>
        <p:xfrm>
          <a:off x="3487059" y="2023533"/>
          <a:ext cx="1539875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500" imgH="203200" progId="Equation.DSMT4">
                  <p:embed/>
                </p:oleObj>
              </mc:Choice>
              <mc:Fallback>
                <p:oleObj name="Equation" r:id="rId2" imgW="5715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87059" y="2023533"/>
                        <a:ext cx="1539875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2176406"/>
              </p:ext>
            </p:extLst>
          </p:nvPr>
        </p:nvGraphicFramePr>
        <p:xfrm>
          <a:off x="2595348" y="4274997"/>
          <a:ext cx="4141787" cy="1160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36700" imgH="431800" progId="Equation.DSMT4">
                  <p:embed/>
                </p:oleObj>
              </mc:Choice>
              <mc:Fallback>
                <p:oleObj name="Equation" r:id="rId4" imgW="15367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95348" y="4274997"/>
                        <a:ext cx="4141787" cy="1160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DA5155-1C58-5842-93E7-E8D582C17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542147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Bipolar DACs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all of our previous examples, if we replace </a:t>
            </a:r>
            <a:r>
              <a:rPr lang="en-US" i="1" dirty="0"/>
              <a:t>GND</a:t>
            </a:r>
            <a:r>
              <a:rPr lang="en-US" dirty="0"/>
              <a:t> with </a:t>
            </a:r>
            <a:r>
              <a:rPr lang="en-US" i="1" dirty="0" err="1"/>
              <a:t>V</a:t>
            </a:r>
            <a:r>
              <a:rPr lang="en-US" i="1" baseline="-25000" dirty="0" err="1"/>
              <a:t>min</a:t>
            </a:r>
            <a:r>
              <a:rPr lang="en-US" dirty="0"/>
              <a:t> and </a:t>
            </a:r>
            <a:r>
              <a:rPr lang="en-US" i="1" dirty="0" err="1"/>
              <a:t>V</a:t>
            </a:r>
            <a:r>
              <a:rPr lang="en-US" i="1" baseline="-25000" dirty="0" err="1"/>
              <a:t>ref</a:t>
            </a:r>
            <a:r>
              <a:rPr lang="en-US" dirty="0"/>
              <a:t> with </a:t>
            </a:r>
            <a:r>
              <a:rPr lang="en-US" i="1" dirty="0" err="1"/>
              <a:t>V</a:t>
            </a:r>
            <a:r>
              <a:rPr lang="en-US" i="1" baseline="-25000" dirty="0" err="1"/>
              <a:t>max</a:t>
            </a:r>
            <a:r>
              <a:rPr lang="en-US" i="1" dirty="0"/>
              <a:t>, </a:t>
            </a:r>
            <a:r>
              <a:rPr lang="en-US" dirty="0"/>
              <a:t>then</a:t>
            </a:r>
          </a:p>
          <a:p>
            <a:endParaRPr lang="en-US" dirty="0"/>
          </a:p>
          <a:p>
            <a:endParaRPr lang="en-US" dirty="0"/>
          </a:p>
          <a:p>
            <a:endParaRPr lang="en-US" sz="4000" dirty="0"/>
          </a:p>
          <a:p>
            <a:r>
              <a:rPr lang="en-US" dirty="0"/>
              <a:t>If </a:t>
            </a:r>
            <a:r>
              <a:rPr lang="en-US" i="1" dirty="0" err="1"/>
              <a:t>V</a:t>
            </a:r>
            <a:r>
              <a:rPr lang="en-US" i="1" baseline="-25000" dirty="0" err="1"/>
              <a:t>min</a:t>
            </a:r>
            <a:r>
              <a:rPr lang="en-US" dirty="0"/>
              <a:t>=</a:t>
            </a:r>
            <a:r>
              <a:rPr lang="en-US" i="1" dirty="0"/>
              <a:t>-V</a:t>
            </a:r>
            <a:r>
              <a:rPr lang="en-US" i="1" baseline="-25000" dirty="0"/>
              <a:t>0</a:t>
            </a:r>
            <a:r>
              <a:rPr lang="en-US" i="1" dirty="0"/>
              <a:t> </a:t>
            </a:r>
            <a:r>
              <a:rPr lang="en-US" dirty="0"/>
              <a:t>and </a:t>
            </a:r>
            <a:r>
              <a:rPr lang="en-US" i="1" dirty="0" err="1"/>
              <a:t>V</a:t>
            </a:r>
            <a:r>
              <a:rPr lang="en-US" i="1" baseline="-25000" dirty="0" err="1"/>
              <a:t>max</a:t>
            </a:r>
            <a:r>
              <a:rPr lang="en-US" dirty="0"/>
              <a:t> = +</a:t>
            </a:r>
            <a:r>
              <a:rPr lang="en-US" i="1" dirty="0"/>
              <a:t>V</a:t>
            </a:r>
            <a:r>
              <a:rPr lang="en-US" i="1" baseline="-25000" dirty="0"/>
              <a:t>0</a:t>
            </a:r>
          </a:p>
          <a:p>
            <a:endParaRPr lang="en-US" i="1" baseline="-25000" dirty="0"/>
          </a:p>
          <a:p>
            <a:endParaRPr lang="en-US" sz="1050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endParaRPr lang="en-US" i="1" baseline="-25000" dirty="0"/>
          </a:p>
          <a:p>
            <a:r>
              <a:rPr lang="en-US" dirty="0"/>
              <a:t>The natural encoding is “offset binary”</a:t>
            </a:r>
          </a:p>
          <a:p>
            <a:pPr lvl="1"/>
            <a:r>
              <a:rPr lang="en-US" dirty="0"/>
              <a:t>Some chips accept different encodings and convert them internally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8301556"/>
              </p:ext>
            </p:extLst>
          </p:nvPr>
        </p:nvGraphicFramePr>
        <p:xfrm>
          <a:off x="1959471" y="2269628"/>
          <a:ext cx="5390562" cy="10836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6300" imgH="431800" progId="Equation.DSMT4">
                  <p:embed/>
                </p:oleObj>
              </mc:Choice>
              <mc:Fallback>
                <p:oleObj name="Equation" r:id="rId2" imgW="21463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59471" y="2269628"/>
                        <a:ext cx="5390562" cy="10836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1613586"/>
              </p:ext>
            </p:extLst>
          </p:nvPr>
        </p:nvGraphicFramePr>
        <p:xfrm>
          <a:off x="1926907" y="4183400"/>
          <a:ext cx="5646738" cy="1084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900" imgH="431800" progId="Equation.DSMT4">
                  <p:embed/>
                </p:oleObj>
              </mc:Choice>
              <mc:Fallback>
                <p:oleObj name="Equation" r:id="rId4" imgW="2247900" imgH="431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26907" y="4183400"/>
                        <a:ext cx="5646738" cy="1084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DD7798-A0A4-2E4C-9DAF-7AD952A4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D6EF18-C896-ECF9-81B0-F09DF850CF33}"/>
              </a:ext>
            </a:extLst>
          </p:cNvPr>
          <p:cNvSpPr txBox="1"/>
          <p:nvPr/>
        </p:nvSpPr>
        <p:spPr>
          <a:xfrm>
            <a:off x="3160059" y="6279776"/>
            <a:ext cx="3818965" cy="3439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n-lt"/>
              </a:rPr>
              <a:t>(go to demo)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57513038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DACs range from...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Microchip MCP4921-E/P</a:t>
            </a:r>
          </a:p>
          <a:p>
            <a:pPr lvl="1"/>
            <a:r>
              <a:rPr lang="en-US" dirty="0"/>
              <a:t>Resolution: 12 bit</a:t>
            </a:r>
          </a:p>
          <a:p>
            <a:pPr lvl="1"/>
            <a:r>
              <a:rPr lang="en-US" dirty="0"/>
              <a:t>Data Input: serial</a:t>
            </a:r>
          </a:p>
          <a:p>
            <a:pPr lvl="1"/>
            <a:r>
              <a:rPr lang="en-US" dirty="0"/>
              <a:t>Settling time: 4.5 </a:t>
            </a:r>
            <a:r>
              <a:rPr lang="en-US" dirty="0" err="1">
                <a:latin typeface="Symbol" charset="2"/>
                <a:cs typeface="Symbol" charset="2"/>
              </a:rPr>
              <a:t>m</a:t>
            </a:r>
            <a:r>
              <a:rPr lang="en-US" dirty="0" err="1"/>
              <a:t>s</a:t>
            </a:r>
            <a:endParaRPr lang="en-US" dirty="0"/>
          </a:p>
          <a:p>
            <a:pPr lvl="1"/>
            <a:r>
              <a:rPr lang="en-US" dirty="0"/>
              <a:t>Max rate: ~100 KHz</a:t>
            </a:r>
          </a:p>
          <a:p>
            <a:pPr lvl="1"/>
            <a:r>
              <a:rPr lang="en-US" dirty="0"/>
              <a:t>Price: 1@$2.08/each, 100@$1.49/each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513" y="1726909"/>
            <a:ext cx="2309772" cy="230977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9DEFD4-2176-5D46-8B9A-A1774605C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82875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to...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TI DAC39J82</a:t>
            </a:r>
          </a:p>
          <a:p>
            <a:pPr lvl="1"/>
            <a:r>
              <a:rPr lang="en-US" dirty="0"/>
              <a:t>Channels: 2</a:t>
            </a:r>
          </a:p>
          <a:p>
            <a:pPr lvl="1"/>
            <a:r>
              <a:rPr lang="en-US" dirty="0"/>
              <a:t>Input: parallel</a:t>
            </a:r>
          </a:p>
          <a:p>
            <a:pPr lvl="1"/>
            <a:r>
              <a:rPr lang="en-US" dirty="0"/>
              <a:t>Resolution: 16-bit</a:t>
            </a:r>
          </a:p>
          <a:p>
            <a:pPr lvl="1"/>
            <a:r>
              <a:rPr lang="en-US" dirty="0"/>
              <a:t>Rate: 2 </a:t>
            </a:r>
            <a:r>
              <a:rPr lang="en-US" dirty="0" err="1"/>
              <a:t>Gs</a:t>
            </a:r>
            <a:r>
              <a:rPr lang="en-US" dirty="0"/>
              <a:t>/second</a:t>
            </a:r>
          </a:p>
          <a:p>
            <a:pPr lvl="1"/>
            <a:r>
              <a:rPr lang="en-US" dirty="0"/>
              <a:t>Price: 1000@$87.50/each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942" y="1821085"/>
            <a:ext cx="4619058" cy="304181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2A470-98F0-1E41-A5BD-68F86F25D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50307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Sampling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DAC produces an approximation of a waveform by </a:t>
            </a:r>
            <a:r>
              <a:rPr lang="en-US" dirty="0" err="1"/>
              <a:t>outputing</a:t>
            </a:r>
            <a:r>
              <a:rPr lang="en-US" dirty="0"/>
              <a:t> samples at discreet intervals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There are limits to this approximation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260" y="3093835"/>
            <a:ext cx="1846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endParaRPr lang="en-US" sz="1600" dirty="0">
              <a:latin typeface="+mn-lt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2090811"/>
            <a:ext cx="5123141" cy="2932438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32F63F-5FDE-9A40-A1E1-5C8C73E8E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32695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Nyquist’s</a:t>
            </a:r>
            <a:r>
              <a:rPr lang="en-US" dirty="0"/>
              <a:t> Theorem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need a sampling frequency of </a:t>
            </a:r>
            <a:r>
              <a:rPr lang="en-US" i="1" dirty="0"/>
              <a:t>2f</a:t>
            </a:r>
            <a:r>
              <a:rPr lang="en-US" dirty="0"/>
              <a:t> to reproduce a frequency of </a:t>
            </a:r>
            <a:r>
              <a:rPr lang="en-US" i="1" dirty="0"/>
              <a:t>f</a:t>
            </a:r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endParaRPr lang="en-US" i="1" dirty="0"/>
          </a:p>
          <a:p>
            <a:r>
              <a:rPr lang="en-US" dirty="0"/>
              <a:t>If this the digital output is rendered perfectly, lots of high frequency harmonics are introduced.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32690" r="59637" b="33372"/>
          <a:stretch/>
        </p:blipFill>
        <p:spPr>
          <a:xfrm>
            <a:off x="817313" y="2334632"/>
            <a:ext cx="3389612" cy="17812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r="53864" b="-4868"/>
          <a:stretch/>
        </p:blipFill>
        <p:spPr>
          <a:xfrm>
            <a:off x="5514763" y="2478010"/>
            <a:ext cx="3124116" cy="163792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4359295" y="3000683"/>
            <a:ext cx="991157" cy="51115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640181-45FC-0D4B-8E6D-28D778E24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145401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Spurious Frequency Components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0200"/>
            <a:ext cx="9144000" cy="36576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740907-012E-D846-A49E-5DFC692BB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FF1F4C7-2229-3742-9ACF-71FDBAD31BC3}"/>
                  </a:ext>
                </a:extLst>
              </p14:cNvPr>
              <p14:cNvContentPartPr/>
              <p14:nvPr/>
            </p14:nvContentPartPr>
            <p14:xfrm>
              <a:off x="5699160" y="4015080"/>
              <a:ext cx="3341880" cy="1371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FF1F4C7-2229-3742-9ACF-71FDBAD31BC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689800" y="4005720"/>
                <a:ext cx="3360600" cy="1390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2139248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Solution: Filtering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41713" y="1182022"/>
            <a:ext cx="8229600" cy="956524"/>
          </a:xfrm>
        </p:spPr>
        <p:txBody>
          <a:bodyPr/>
          <a:lstStyle/>
          <a:p>
            <a:r>
              <a:rPr lang="en-US" dirty="0"/>
              <a:t>In general, the output of a DAC should be filtered with a cutoff frequency of half the sampling frequency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73300"/>
            <a:ext cx="9144000" cy="229164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5A82B-7244-B242-BB1A-4CA61B992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505728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Range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dynamic range of the encoding is the largest value over the the least value.  If we assume that noise is less than the LSB</a:t>
            </a:r>
          </a:p>
          <a:p>
            <a:pPr lvl="1"/>
            <a:r>
              <a:rPr lang="en-US" dirty="0"/>
              <a:t>For unipolar signals </a:t>
            </a:r>
            <a:r>
              <a:rPr lang="en-US" i="1" dirty="0"/>
              <a:t>n</a:t>
            </a:r>
            <a:r>
              <a:rPr lang="en-US" dirty="0"/>
              <a:t>-bits has a DR of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For bi-polar signals, we lose one bit for sign, so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This is often expressed in decibels</a:t>
            </a:r>
          </a:p>
          <a:p>
            <a:pPr lvl="1"/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0085370"/>
              </p:ext>
            </p:extLst>
          </p:nvPr>
        </p:nvGraphicFramePr>
        <p:xfrm>
          <a:off x="3847376" y="2783982"/>
          <a:ext cx="1328167" cy="559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600" imgH="203200" progId="Equation.DSMT4">
                  <p:embed/>
                </p:oleObj>
              </mc:Choice>
              <mc:Fallback>
                <p:oleObj name="Equation" r:id="rId2" imgW="4826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47376" y="2783982"/>
                        <a:ext cx="1328167" cy="5592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880721"/>
              </p:ext>
            </p:extLst>
          </p:nvPr>
        </p:nvGraphicFramePr>
        <p:xfrm>
          <a:off x="3715397" y="3895678"/>
          <a:ext cx="1571625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500" imgH="203200" progId="Equation.DSMT4">
                  <p:embed/>
                </p:oleObj>
              </mc:Choice>
              <mc:Fallback>
                <p:oleObj name="Equation" r:id="rId4" imgW="571500" imgH="203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15397" y="3895678"/>
                        <a:ext cx="1571625" cy="55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881777"/>
              </p:ext>
            </p:extLst>
          </p:nvPr>
        </p:nvGraphicFramePr>
        <p:xfrm>
          <a:off x="2353708" y="5169376"/>
          <a:ext cx="5374181" cy="8956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200400" imgH="533400" progId="Equation.DSMT4">
                  <p:embed/>
                </p:oleObj>
              </mc:Choice>
              <mc:Fallback>
                <p:oleObj name="Equation" r:id="rId6" imgW="3200400" imgH="533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353708" y="5169376"/>
                        <a:ext cx="5374181" cy="8956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346502-4EEC-A347-AE39-3EBCC897D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642556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Audio Encoding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human ear is an amazing device</a:t>
            </a:r>
          </a:p>
          <a:p>
            <a:pPr lvl="1"/>
            <a:r>
              <a:rPr lang="en-US" dirty="0"/>
              <a:t>Bandwidth 20Hz-20kHz = 3 orders of magnitude</a:t>
            </a:r>
          </a:p>
          <a:p>
            <a:pPr lvl="2"/>
            <a:r>
              <a:rPr lang="en-US" dirty="0"/>
              <a:t>Required at least 40 kHz sampling frequency</a:t>
            </a:r>
          </a:p>
          <a:p>
            <a:pPr lvl="1"/>
            <a:r>
              <a:rPr lang="en-US" dirty="0"/>
              <a:t>Dynamic Range: 0dB (threshold of hearing) to 120 dB (threshold of pain)</a:t>
            </a:r>
          </a:p>
          <a:p>
            <a:pPr lvl="2"/>
            <a:r>
              <a:rPr lang="en-US" dirty="0"/>
              <a:t>12 orders of magnitude in power</a:t>
            </a:r>
          </a:p>
          <a:p>
            <a:pPr lvl="2"/>
            <a:r>
              <a:rPr lang="en-US" dirty="0"/>
              <a:t>6 orders of magnitude in amplitude</a:t>
            </a:r>
          </a:p>
          <a:p>
            <a:pPr lvl="3"/>
            <a:r>
              <a:rPr lang="en-US" dirty="0"/>
              <a:t>1,000,000 ~ 2</a:t>
            </a:r>
            <a:r>
              <a:rPr lang="en-US" baseline="30000" dirty="0"/>
              <a:t>20</a:t>
            </a:r>
          </a:p>
          <a:p>
            <a:pPr lvl="3"/>
            <a:r>
              <a:rPr lang="en-US" dirty="0"/>
              <a:t>At least 21-bit encoding (20 bit bipolar)</a:t>
            </a:r>
          </a:p>
          <a:p>
            <a:r>
              <a:rPr lang="en-US" dirty="0"/>
              <a:t>“CD Quality”</a:t>
            </a:r>
          </a:p>
          <a:p>
            <a:pPr lvl="1"/>
            <a:r>
              <a:rPr lang="en-US" sz="1800" dirty="0"/>
              <a:t>44.1 kHz rate </a:t>
            </a:r>
          </a:p>
          <a:p>
            <a:pPr lvl="2"/>
            <a:r>
              <a:rPr lang="en-US" sz="1600" dirty="0"/>
              <a:t>22.05 kHz bandwidth (&gt; human ear)*</a:t>
            </a:r>
          </a:p>
          <a:p>
            <a:pPr lvl="1"/>
            <a:r>
              <a:rPr lang="en-US" sz="1800" dirty="0"/>
              <a:t>16-bit linear encoding</a:t>
            </a:r>
          </a:p>
          <a:p>
            <a:pPr lvl="1"/>
            <a:r>
              <a:rPr lang="en-US" sz="1800" dirty="0"/>
              <a:t>No compression!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406730"/>
              </p:ext>
            </p:extLst>
          </p:nvPr>
        </p:nvGraphicFramePr>
        <p:xfrm>
          <a:off x="6682756" y="3359326"/>
          <a:ext cx="2320927" cy="8480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20800" imgH="482600" progId="Equation.DSMT4">
                  <p:embed/>
                </p:oleObj>
              </mc:Choice>
              <mc:Fallback>
                <p:oleObj name="Equation" r:id="rId2" imgW="1320800" imgH="482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82756" y="3359326"/>
                        <a:ext cx="2320927" cy="8480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04373" y="2989994"/>
            <a:ext cx="1938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For sound: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59CF4B-EC30-A548-BA9D-5020C42F5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997672-660B-3E2E-FC55-35067B8F9A00}"/>
              </a:ext>
            </a:extLst>
          </p:cNvPr>
          <p:cNvSpPr txBox="1"/>
          <p:nvPr/>
        </p:nvSpPr>
        <p:spPr>
          <a:xfrm>
            <a:off x="7231518" y="2794923"/>
            <a:ext cx="184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Threshold of hearing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4BF3C06-34E7-01B0-F30E-1625D39E1AE2}"/>
              </a:ext>
            </a:extLst>
          </p:cNvPr>
          <p:cNvCxnSpPr>
            <a:cxnSpLocks/>
          </p:cNvCxnSpPr>
          <p:nvPr/>
        </p:nvCxnSpPr>
        <p:spPr>
          <a:xfrm flipH="1">
            <a:off x="7508453" y="3097497"/>
            <a:ext cx="144204" cy="34419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AFD8751-BFD8-9EBE-7836-D9E36A3D0962}"/>
              </a:ext>
            </a:extLst>
          </p:cNvPr>
          <p:cNvSpPr txBox="1"/>
          <p:nvPr/>
        </p:nvSpPr>
        <p:spPr>
          <a:xfrm>
            <a:off x="6732215" y="4407825"/>
            <a:ext cx="18408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Threshold of pain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85A8B4-2562-BCEC-A29C-79FFEC6849D9}"/>
              </a:ext>
            </a:extLst>
          </p:cNvPr>
          <p:cNvCxnSpPr>
            <a:cxnSpLocks/>
          </p:cNvCxnSpPr>
          <p:nvPr/>
        </p:nvCxnSpPr>
        <p:spPr>
          <a:xfrm flipH="1" flipV="1">
            <a:off x="7130143" y="4207357"/>
            <a:ext cx="101375" cy="20046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A6CF9E1-E5FD-11B4-2639-C26D4E94F09D}"/>
              </a:ext>
            </a:extLst>
          </p:cNvPr>
          <p:cNvSpPr txBox="1"/>
          <p:nvPr/>
        </p:nvSpPr>
        <p:spPr>
          <a:xfrm>
            <a:off x="5812971" y="6358547"/>
            <a:ext cx="31907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rgbClr val="FF0000"/>
                </a:solidFill>
                <a:latin typeface="+mn-lt"/>
              </a:rPr>
              <a:t>*There’s a little more to the story</a:t>
            </a:r>
          </a:p>
        </p:txBody>
      </p:sp>
    </p:spTree>
    <p:extLst>
      <p:ext uri="{BB962C8B-B14F-4D97-AF65-F5344CB8AC3E}">
        <p14:creationId xmlns:p14="http://schemas.microsoft.com/office/powerpoint/2010/main" val="1346494330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16-bit Dynamic Range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16 bits can encode -2</a:t>
            </a:r>
            <a:r>
              <a:rPr lang="en-US" sz="2000" baseline="30000" dirty="0"/>
              <a:t>15</a:t>
            </a:r>
            <a:r>
              <a:rPr lang="en-US" sz="2000" dirty="0"/>
              <a:t>-&gt;2</a:t>
            </a:r>
            <a:r>
              <a:rPr lang="en-US" sz="2000" baseline="30000" dirty="0"/>
              <a:t>15</a:t>
            </a:r>
            <a:r>
              <a:rPr lang="en-US" sz="2000" dirty="0"/>
              <a:t>-1 = -32768-&gt;32767</a:t>
            </a:r>
          </a:p>
          <a:p>
            <a:r>
              <a:rPr lang="en-US" sz="2000" dirty="0"/>
              <a:t>dB range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Examples of 90 dB</a:t>
            </a:r>
          </a:p>
          <a:p>
            <a:pPr lvl="1"/>
            <a:r>
              <a:rPr lang="en-US" sz="1800" dirty="0"/>
              <a:t>Motorcycle at 25 feet</a:t>
            </a:r>
          </a:p>
          <a:p>
            <a:pPr lvl="1"/>
            <a:r>
              <a:rPr lang="en-US" sz="1800" dirty="0"/>
              <a:t>Lawnmower up close</a:t>
            </a:r>
          </a:p>
          <a:p>
            <a:r>
              <a:rPr lang="en-US" sz="2000" dirty="0"/>
              <a:t>If your music is that loud, the LSB is at the limit of human hearing</a:t>
            </a:r>
          </a:p>
          <a:p>
            <a:r>
              <a:rPr lang="en-US" sz="2000" dirty="0"/>
              <a:t>90 dB Signal-to-noise ratio (SNR) is about the limit of top end audio gear</a:t>
            </a:r>
          </a:p>
          <a:p>
            <a:pPr lvl="1"/>
            <a:r>
              <a:rPr lang="en-US" sz="1800" dirty="0"/>
              <a:t>i.e. if you buy a $3K power amp and turn it all the way up, you might hit the limit of 16-bit audio</a:t>
            </a:r>
          </a:p>
          <a:p>
            <a:r>
              <a:rPr lang="en-US" sz="2000" dirty="0"/>
              <a:t>For comparison, the best vinyl DR is about 70 </a:t>
            </a:r>
            <a:r>
              <a:rPr lang="en-US" sz="2000" dirty="0" err="1"/>
              <a:t>dB.</a:t>
            </a:r>
            <a:endParaRPr lang="en-US" sz="2000" dirty="0"/>
          </a:p>
          <a:p>
            <a:r>
              <a:rPr lang="en-US" sz="2000" dirty="0"/>
              <a:t>We’ll discuss audio recording more shortly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2361794"/>
              </p:ext>
            </p:extLst>
          </p:nvPr>
        </p:nvGraphicFramePr>
        <p:xfrm>
          <a:off x="2344900" y="1844107"/>
          <a:ext cx="3552842" cy="1212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33500" imgH="457200" progId="Equation.DSMT4">
                  <p:embed/>
                </p:oleObj>
              </mc:Choice>
              <mc:Fallback>
                <p:oleObj name="Equation" r:id="rId2" imgW="13335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44900" y="1844107"/>
                        <a:ext cx="3552842" cy="1212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67BDE6-24F6-5249-A4F1-3ADAF6562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71802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D9B1F-AEF8-A044-9FF6-602023B9E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Conversion from Analog to Digital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0FDA4-3E6B-C74E-A539-8E389EC81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 to digital conversion is just Digital to analog conversion in reverse.</a:t>
            </a:r>
          </a:p>
          <a:p>
            <a:pPr lvl="1"/>
            <a:r>
              <a:rPr lang="en-US" dirty="0"/>
              <a:t>Map an analog input to a digital (binary) number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For a linear ADC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And for a unipolar ADC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44F37-9D8B-EB46-BB47-60BD8DE95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B2F939-65BF-5A4F-9642-DA48E7BAB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67324A2B-D6B2-6249-9C6C-E34DE202C2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11809" y="2463231"/>
          <a:ext cx="3710168" cy="4975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11300" imgH="203200" progId="Equation.DSMT4">
                  <p:embed/>
                </p:oleObj>
              </mc:Choice>
              <mc:Fallback>
                <p:oleObj name="Equation" r:id="rId2" imgW="1511300" imgH="2032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67324A2B-D6B2-6249-9C6C-E34DE202C2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11809" y="2463231"/>
                        <a:ext cx="3710168" cy="4975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5800AA5F-6E00-0A48-AA17-1B2FB7A6E5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6013" y="3543391"/>
          <a:ext cx="6782427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997200" imgH="508000" progId="Equation.DSMT4">
                  <p:embed/>
                </p:oleObj>
              </mc:Choice>
              <mc:Fallback>
                <p:oleObj name="Equation" r:id="rId4" imgW="2997200" imgH="50800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5800AA5F-6E00-0A48-AA17-1B2FB7A6E5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56013" y="3543391"/>
                        <a:ext cx="6782427" cy="1146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436F3A76-A698-E741-84D0-152C358FC2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3967" y="5404549"/>
          <a:ext cx="3338512" cy="103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400" imgH="482600" progId="Equation.DSMT4">
                  <p:embed/>
                </p:oleObj>
              </mc:Choice>
              <mc:Fallback>
                <p:oleObj name="Equation" r:id="rId6" imgW="1549400" imgH="482600" progId="Equation.DSMT4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436F3A76-A698-E741-84D0-152C358FC2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783967" y="5404549"/>
                        <a:ext cx="3338512" cy="1038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11970770"/>
      </p:ext>
    </p:extLst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1F5C-03C1-778B-3B15-17665DCAA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ADCs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EF6F5-2135-080E-CBF1-49AA0077F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Low price example: Texas Instruments PCM1808PWR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Designed for audio encoding</a:t>
            </a:r>
          </a:p>
          <a:p>
            <a:pPr lvl="2"/>
            <a:r>
              <a:rPr lang="en-US" dirty="0"/>
              <a:t>2-channel (i.e. stereo)</a:t>
            </a:r>
          </a:p>
          <a:p>
            <a:pPr lvl="2"/>
            <a:r>
              <a:rPr lang="en-US" dirty="0"/>
              <a:t>24-bit resolution</a:t>
            </a:r>
          </a:p>
          <a:p>
            <a:pPr lvl="2"/>
            <a:r>
              <a:rPr lang="en-US" dirty="0"/>
              <a:t>96 kHz sample rate</a:t>
            </a:r>
          </a:p>
          <a:p>
            <a:pPr lvl="2"/>
            <a:r>
              <a:rPr lang="en-US" dirty="0"/>
              <a:t>Serial interface</a:t>
            </a:r>
          </a:p>
          <a:p>
            <a:r>
              <a:rPr lang="en-US" dirty="0"/>
              <a:t>$1.47/</a:t>
            </a:r>
            <a:r>
              <a:rPr lang="en-US" dirty="0" err="1"/>
              <a:t>ea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5EBDF-1422-35E8-E478-6498F2896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DC6B9-E8D3-1DB1-17B9-1CD34222A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F78FDF-E7E6-56D1-CD2E-657362B1AE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715" y="1707275"/>
            <a:ext cx="2762250" cy="198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52554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BB4F-1E4B-23AF-B815-2BD3D72A3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of the Art ADC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3A25-03B1-F784-63C5-10B9DE675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Analog Devices AD9217BBPZ-10G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Optimized for high speed data acquisition</a:t>
            </a:r>
          </a:p>
          <a:p>
            <a:pPr lvl="2"/>
            <a:r>
              <a:rPr lang="en-US" sz="2000" dirty="0"/>
              <a:t>Single channel</a:t>
            </a:r>
          </a:p>
          <a:p>
            <a:pPr lvl="2"/>
            <a:r>
              <a:rPr lang="en-US" sz="2000" dirty="0"/>
              <a:t>12-bit</a:t>
            </a:r>
          </a:p>
          <a:p>
            <a:pPr lvl="2"/>
            <a:r>
              <a:rPr lang="en-US" sz="2000" dirty="0"/>
              <a:t>10.25 GHz digitization rate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84E94-6BF0-3D31-019E-CA4236130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83370-BE37-95D0-21D1-DF9A65EF7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720A13-A9BB-4DC7-78AF-FCC6F962CA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644" y="1677894"/>
            <a:ext cx="2239308" cy="216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124150"/>
      </p:ext>
    </p:extLst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0D3CD-B061-DBFA-3707-4727ACFD9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Commercial DAC/ADC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AE7EC-859C-43FE-3F29-90546B94B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LabJack</a:t>
            </a:r>
            <a:r>
              <a:rPr lang="en-US" dirty="0"/>
              <a:t> T7-Pro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2 12-bit ADC inputs (0-5V)</a:t>
            </a:r>
          </a:p>
          <a:p>
            <a:pPr lvl="1"/>
            <a:r>
              <a:rPr lang="en-US" dirty="0"/>
              <a:t>2 12-bit DAC outputs (0-5V)</a:t>
            </a:r>
          </a:p>
          <a:p>
            <a:pPr lvl="1"/>
            <a:r>
              <a:rPr lang="en-US" dirty="0"/>
              <a:t>23 digital I/O</a:t>
            </a:r>
          </a:p>
          <a:p>
            <a:pPr lvl="1"/>
            <a:r>
              <a:rPr lang="en-US" dirty="0"/>
              <a:t>Up to 10 internal counters/timers</a:t>
            </a:r>
          </a:p>
          <a:p>
            <a:pPr lvl="1"/>
            <a:r>
              <a:rPr lang="en-US" dirty="0"/>
              <a:t>Wi/fi capable</a:t>
            </a:r>
          </a:p>
          <a:p>
            <a:pPr lvl="1"/>
            <a:r>
              <a:rPr lang="en-US" dirty="0"/>
              <a:t>$850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52BB5-B72E-0CE6-70DB-B9800419E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D687D-EAEC-5041-35C3-EC132C6A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pic>
        <p:nvPicPr>
          <p:cNvPr id="1026" name="Picture 2" descr="LabJack T7-Pro - LabJack">
            <a:extLst>
              <a:ext uri="{FF2B5EF4-FFF2-40B4-BE49-F238E27FC236}">
                <a16:creationId xmlns:a16="http://schemas.microsoft.com/office/drawing/2014/main" id="{A94A6662-BE8D-25BC-F15E-25C2B7B4F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0004" y="1182021"/>
            <a:ext cx="4212242" cy="316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45F0B-6D72-3CE5-C165-7FC612ADC3FC}"/>
              </a:ext>
            </a:extLst>
          </p:cNvPr>
          <p:cNvSpPr txBox="1"/>
          <p:nvPr/>
        </p:nvSpPr>
        <p:spPr>
          <a:xfrm>
            <a:off x="3352800" y="6389783"/>
            <a:ext cx="21666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72068951"/>
      </p:ext>
    </p:extLst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8DA02-CD3C-0BFF-E2DE-0BD02EFF1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Accessing the ADC and DAC in the </a:t>
            </a:r>
            <a:r>
              <a:rPr lang="en-US" dirty="0" err="1"/>
              <a:t>SoundCard</a:t>
            </a:r>
            <a:r>
              <a:rPr lang="en-US" dirty="0"/>
              <a:t>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7734C-F7E6-D9EE-FF7F-BE89B10A1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access the soundcard on your device by using the </a:t>
            </a:r>
            <a:r>
              <a:rPr lang="en-US" dirty="0" err="1"/>
              <a:t>Ipython.display.Audio</a:t>
            </a:r>
            <a:r>
              <a:rPr lang="en-US" dirty="0"/>
              <a:t> method and the </a:t>
            </a:r>
            <a:r>
              <a:rPr lang="en-US" dirty="0" err="1"/>
              <a:t>sounddevice</a:t>
            </a:r>
            <a:r>
              <a:rPr lang="en-US" dirty="0"/>
              <a:t> package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F8E26-2D74-7DF1-7EC3-F9594FE91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F1A5C8-E37D-262E-CDAE-307B3804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hr-HR"/>
              <a:t>DACs and ADCs</a:t>
            </a:r>
            <a:endParaRPr lang="en-US">
              <a:latin typeface="+mn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55DDE4-F77F-D350-F0DC-97D573010A35}"/>
              </a:ext>
            </a:extLst>
          </p:cNvPr>
          <p:cNvSpPr txBox="1"/>
          <p:nvPr/>
        </p:nvSpPr>
        <p:spPr>
          <a:xfrm>
            <a:off x="2756647" y="3630706"/>
            <a:ext cx="27835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n-lt"/>
              </a:rPr>
              <a:t>(Go to Demo)</a:t>
            </a:r>
          </a:p>
        </p:txBody>
      </p:sp>
    </p:spTree>
    <p:extLst>
      <p:ext uri="{BB962C8B-B14F-4D97-AF65-F5344CB8AC3E}">
        <p14:creationId xmlns:p14="http://schemas.microsoft.com/office/powerpoint/2010/main" val="2190597431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r">
          <a:defRPr sz="16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23570</TotalTime>
  <Words>839</Words>
  <Application>Microsoft Macintosh PowerPoint</Application>
  <PresentationFormat>On-screen Show (4:3)</PresentationFormat>
  <Paragraphs>189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Times New Roman</vt:lpstr>
      <vt:lpstr>Symbol</vt:lpstr>
      <vt:lpstr>Arial</vt:lpstr>
      <vt:lpstr>Clarity</vt:lpstr>
      <vt:lpstr>Equation</vt:lpstr>
      <vt:lpstr>Digital to Analog Converters (DACs)</vt:lpstr>
      <vt:lpstr>Digital to Analog Converter (DAC)</vt:lpstr>
      <vt:lpstr>Bipolar DACs</vt:lpstr>
      <vt:lpstr>Commercial DACs range from...</vt:lpstr>
      <vt:lpstr>to...</vt:lpstr>
      <vt:lpstr>Finite Sampling</vt:lpstr>
      <vt:lpstr>Nyquist’s Theorem</vt:lpstr>
      <vt:lpstr>Spurious Frequency Components</vt:lpstr>
      <vt:lpstr>Solution: Filtering</vt:lpstr>
      <vt:lpstr>Dynamic Range</vt:lpstr>
      <vt:lpstr>Example: Audio Encoding</vt:lpstr>
      <vt:lpstr>16-bit Dynamic Range</vt:lpstr>
      <vt:lpstr>Conversion from Analog to Digital</vt:lpstr>
      <vt:lpstr>Commercial ADCs</vt:lpstr>
      <vt:lpstr>State of the Art ADC Example</vt:lpstr>
      <vt:lpstr>Commercial DAC/ADC Example</vt:lpstr>
      <vt:lpstr>Accessing the ADC and DAC in the SoundCard 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740</cp:revision>
  <cp:lastPrinted>2025-01-29T19:22:46Z</cp:lastPrinted>
  <dcterms:created xsi:type="dcterms:W3CDTF">2003-06-24T14:15:57Z</dcterms:created>
  <dcterms:modified xsi:type="dcterms:W3CDTF">2025-12-01T22:48:49Z</dcterms:modified>
</cp:coreProperties>
</file>