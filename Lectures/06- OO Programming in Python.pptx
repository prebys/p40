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4624" r:id="rId1"/>
  </p:sldMasterIdLst>
  <p:notesMasterIdLst>
    <p:notesMasterId r:id="rId9"/>
  </p:notesMasterIdLst>
  <p:handoutMasterIdLst>
    <p:handoutMasterId r:id="rId10"/>
  </p:handoutMasterIdLst>
  <p:sldIdLst>
    <p:sldId id="271" r:id="rId2"/>
    <p:sldId id="272" r:id="rId3"/>
    <p:sldId id="273" r:id="rId4"/>
    <p:sldId id="274" r:id="rId5"/>
    <p:sldId id="275" r:id="rId6"/>
    <p:sldId id="276" r:id="rId7"/>
    <p:sldId id="277" r:id="rId8"/>
  </p:sldIdLst>
  <p:sldSz cx="9144000" cy="6858000" type="screen4x3"/>
  <p:notesSz cx="6858000" cy="9144000"/>
  <p:custDataLst>
    <p:tags r:id="rId1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>
          <p15:clr>
            <a:srgbClr val="A4A3A4"/>
          </p15:clr>
        </p15:guide>
        <p15:guide id="3" orient="horz" pos="429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FD6F7D"/>
    <a:srgbClr val="008000"/>
    <a:srgbClr val="CC3399"/>
    <a:srgbClr val="FF9933"/>
    <a:srgbClr val="FF9966"/>
    <a:srgbClr val="33CC33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54FF14-B721-3C4D-8B8E-EBB2B5962329}" v="5" dt="2025-10-08T15:06:46.7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01"/>
    <p:restoredTop sz="94626"/>
  </p:normalViewPr>
  <p:slideViewPr>
    <p:cSldViewPr snapToGrid="0">
      <p:cViewPr varScale="1">
        <p:scale>
          <a:sx n="116" d="100"/>
          <a:sy n="116" d="100"/>
        </p:scale>
        <p:origin x="472" y="192"/>
      </p:cViewPr>
      <p:guideLst>
        <p:guide/>
        <p:guide orient="horz" pos="429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 J Prebys" userId="2423660181_tp_box_2" providerId="OAuth2" clId="{7A5D5A21-A55B-52FD-95D2-896217ECBE7C}"/>
    <pc:docChg chg="custSel addSld modSld">
      <pc:chgData name="Eric J Prebys" userId="2423660181_tp_box_2" providerId="OAuth2" clId="{7A5D5A21-A55B-52FD-95D2-896217ECBE7C}" dt="2025-10-08T15:07:06.275" v="98" actId="14100"/>
      <pc:docMkLst>
        <pc:docMk/>
      </pc:docMkLst>
      <pc:sldChg chg="addSp delSp modSp mod">
        <pc:chgData name="Eric J Prebys" userId="2423660181_tp_box_2" providerId="OAuth2" clId="{7A5D5A21-A55B-52FD-95D2-896217ECBE7C}" dt="2025-10-08T15:03:10.622" v="5" actId="1076"/>
        <pc:sldMkLst>
          <pc:docMk/>
          <pc:sldMk cId="1104148226" sldId="277"/>
        </pc:sldMkLst>
        <pc:spChg chg="mod">
          <ac:chgData name="Eric J Prebys" userId="2423660181_tp_box_2" providerId="OAuth2" clId="{7A5D5A21-A55B-52FD-95D2-896217ECBE7C}" dt="2025-10-08T15:02:44.594" v="1"/>
          <ac:spMkLst>
            <pc:docMk/>
            <pc:sldMk cId="1104148226" sldId="277"/>
            <ac:spMk id="3" creationId="{A361866C-AB34-8BC3-C532-3AE47D064667}"/>
          </ac:spMkLst>
        </pc:spChg>
        <pc:picChg chg="add del mod">
          <ac:chgData name="Eric J Prebys" userId="2423660181_tp_box_2" providerId="OAuth2" clId="{7A5D5A21-A55B-52FD-95D2-896217ECBE7C}" dt="2025-10-08T15:02:51.151" v="3" actId="478"/>
          <ac:picMkLst>
            <pc:docMk/>
            <pc:sldMk cId="1104148226" sldId="277"/>
            <ac:picMk id="7" creationId="{FCEFDDCB-4442-55EB-DE05-17B004C6DB42}"/>
          </ac:picMkLst>
        </pc:picChg>
        <pc:picChg chg="del">
          <ac:chgData name="Eric J Prebys" userId="2423660181_tp_box_2" providerId="OAuth2" clId="{7A5D5A21-A55B-52FD-95D2-896217ECBE7C}" dt="2025-10-08T15:02:35.236" v="0" actId="478"/>
          <ac:picMkLst>
            <pc:docMk/>
            <pc:sldMk cId="1104148226" sldId="277"/>
            <ac:picMk id="8" creationId="{A70F3C83-8C3A-89BE-EB2B-25044F3AFC6D}"/>
          </ac:picMkLst>
        </pc:picChg>
        <pc:picChg chg="add mod">
          <ac:chgData name="Eric J Prebys" userId="2423660181_tp_box_2" providerId="OAuth2" clId="{7A5D5A21-A55B-52FD-95D2-896217ECBE7C}" dt="2025-10-08T15:03:10.622" v="5" actId="1076"/>
          <ac:picMkLst>
            <pc:docMk/>
            <pc:sldMk cId="1104148226" sldId="277"/>
            <ac:picMk id="9" creationId="{CDE73955-BBB8-AED8-5F2D-C6EE65774989}"/>
          </ac:picMkLst>
        </pc:picChg>
      </pc:sldChg>
      <pc:sldChg chg="addSp modSp mod">
        <pc:chgData name="Eric J Prebys" userId="2423660181_tp_box_2" providerId="OAuth2" clId="{7A5D5A21-A55B-52FD-95D2-896217ECBE7C}" dt="2025-10-08T15:05:51.424" v="66" actId="14100"/>
        <pc:sldMkLst>
          <pc:docMk/>
          <pc:sldMk cId="4091048123" sldId="289"/>
        </pc:sldMkLst>
        <pc:spChg chg="add mod">
          <ac:chgData name="Eric J Prebys" userId="2423660181_tp_box_2" providerId="OAuth2" clId="{7A5D5A21-A55B-52FD-95D2-896217ECBE7C}" dt="2025-10-08T15:05:43.487" v="64" actId="1076"/>
          <ac:spMkLst>
            <pc:docMk/>
            <pc:sldMk cId="4091048123" sldId="289"/>
            <ac:spMk id="2" creationId="{E8918B7E-26A0-4A7F-DF81-6DAA92C1FB0E}"/>
          </ac:spMkLst>
        </pc:spChg>
        <pc:spChg chg="mod">
          <ac:chgData name="Eric J Prebys" userId="2423660181_tp_box_2" providerId="OAuth2" clId="{7A5D5A21-A55B-52FD-95D2-896217ECBE7C}" dt="2025-10-08T15:03:40.938" v="10" actId="20577"/>
          <ac:spMkLst>
            <pc:docMk/>
            <pc:sldMk cId="4091048123" sldId="289"/>
            <ac:spMk id="7" creationId="{A53270F9-FBE9-EB5D-A967-6E632BEA3965}"/>
          </ac:spMkLst>
        </pc:spChg>
        <pc:picChg chg="mod">
          <ac:chgData name="Eric J Prebys" userId="2423660181_tp_box_2" providerId="OAuth2" clId="{7A5D5A21-A55B-52FD-95D2-896217ECBE7C}" dt="2025-10-08T15:05:14.521" v="35" actId="1076"/>
          <ac:picMkLst>
            <pc:docMk/>
            <pc:sldMk cId="4091048123" sldId="289"/>
            <ac:picMk id="8" creationId="{496617C3-C8A2-6CBB-D3D2-8C8FD823EBDE}"/>
          </ac:picMkLst>
        </pc:picChg>
        <pc:cxnChg chg="add mod">
          <ac:chgData name="Eric J Prebys" userId="2423660181_tp_box_2" providerId="OAuth2" clId="{7A5D5A21-A55B-52FD-95D2-896217ECBE7C}" dt="2025-10-08T15:05:51.424" v="66" actId="14100"/>
          <ac:cxnSpMkLst>
            <pc:docMk/>
            <pc:sldMk cId="4091048123" sldId="289"/>
            <ac:cxnSpMk id="9" creationId="{75C70CF6-02CB-6927-438C-E9E6F5BA1775}"/>
          </ac:cxnSpMkLst>
        </pc:cxnChg>
      </pc:sldChg>
      <pc:sldChg chg="addSp delSp modSp new mod">
        <pc:chgData name="Eric J Prebys" userId="2423660181_tp_box_2" providerId="OAuth2" clId="{7A5D5A21-A55B-52FD-95D2-896217ECBE7C}" dt="2025-10-08T15:07:06.275" v="98" actId="14100"/>
        <pc:sldMkLst>
          <pc:docMk/>
          <pc:sldMk cId="1085116855" sldId="292"/>
        </pc:sldMkLst>
        <pc:spChg chg="mod">
          <ac:chgData name="Eric J Prebys" userId="2423660181_tp_box_2" providerId="OAuth2" clId="{7A5D5A21-A55B-52FD-95D2-896217ECBE7C}" dt="2025-10-08T15:04:12.303" v="26" actId="20577"/>
          <ac:spMkLst>
            <pc:docMk/>
            <pc:sldMk cId="1085116855" sldId="292"/>
            <ac:spMk id="2" creationId="{09CA2E8C-8C27-9A40-5647-C8FF280B94FA}"/>
          </ac:spMkLst>
        </pc:spChg>
        <pc:spChg chg="del">
          <ac:chgData name="Eric J Prebys" userId="2423660181_tp_box_2" providerId="OAuth2" clId="{7A5D5A21-A55B-52FD-95D2-896217ECBE7C}" dt="2025-10-08T15:04:20.536" v="27" actId="478"/>
          <ac:spMkLst>
            <pc:docMk/>
            <pc:sldMk cId="1085116855" sldId="292"/>
            <ac:spMk id="3" creationId="{450F51B6-3F2A-3B00-4AE7-56F7D3A14013}"/>
          </ac:spMkLst>
        </pc:spChg>
        <pc:spChg chg="add mod">
          <ac:chgData name="Eric J Prebys" userId="2423660181_tp_box_2" providerId="OAuth2" clId="{7A5D5A21-A55B-52FD-95D2-896217ECBE7C}" dt="2025-10-08T15:06:57.982" v="96" actId="20577"/>
          <ac:spMkLst>
            <pc:docMk/>
            <pc:sldMk cId="1085116855" sldId="292"/>
            <ac:spMk id="8" creationId="{00DFA497-9311-0C5A-F897-BB458405BD04}"/>
          </ac:spMkLst>
        </pc:spChg>
        <pc:picChg chg="add mod">
          <ac:chgData name="Eric J Prebys" userId="2423660181_tp_box_2" providerId="OAuth2" clId="{7A5D5A21-A55B-52FD-95D2-896217ECBE7C}" dt="2025-10-08T15:06:33.311" v="67" actId="1076"/>
          <ac:picMkLst>
            <pc:docMk/>
            <pc:sldMk cId="1085116855" sldId="292"/>
            <ac:picMk id="7" creationId="{23583D2D-DE0B-B7CD-6D8A-BBCF2DD7B52A}"/>
          </ac:picMkLst>
        </pc:picChg>
        <pc:cxnChg chg="add mod">
          <ac:chgData name="Eric J Prebys" userId="2423660181_tp_box_2" providerId="OAuth2" clId="{7A5D5A21-A55B-52FD-95D2-896217ECBE7C}" dt="2025-10-08T15:07:06.275" v="98" actId="14100"/>
          <ac:cxnSpMkLst>
            <pc:docMk/>
            <pc:sldMk cId="1085116855" sldId="292"/>
            <ac:cxnSpMk id="9" creationId="{8B51FC08-6215-E4D7-3532-A6C28E3517CB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641E0-C0FB-FB45-BE20-B5E285E46BDA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D667F-4C0A-F045-9861-4468224AE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5965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40E8FAF-0EB9-4F3C-9D18-30F5214B3A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1687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40E8FAF-0EB9-4F3C-9D18-30F5214B3A3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036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448882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5582482"/>
            <a:ext cx="6400800" cy="554404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Phy 40, Fall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 Programming in Python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C4FB-7D33-419B-8833-D1372BFD11C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294106" y="5472156"/>
            <a:ext cx="8643661" cy="364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 Programming in Python</a:t>
            </a:r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Phy 40, Fall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 Programming in Python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52486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52486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 Programming in Python</a:t>
            </a:r>
            <a:endParaRPr lang="en-US">
              <a:latin typeface="+mn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914655-DFE5-45AD-AEB7-B6324F535D8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 Programming in Python</a:t>
            </a:r>
            <a:endParaRPr lang="en-US">
              <a:latin typeface="+mn-lt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013A5A-BD10-4E42-8EDD-42C4A14A64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 Programming in Python</a:t>
            </a:r>
            <a:endParaRPr lang="en-US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B536C3-BB10-4165-8E74-99838CB517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 Programming in Python</a:t>
            </a:r>
            <a:endParaRPr lang="en-US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871096-0617-41A5-9758-D8016564092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 Programming in Python</a:t>
            </a:r>
            <a:endParaRPr lang="en-US">
              <a:latin typeface="+mn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 Programming in Python</a:t>
            </a:r>
            <a:endParaRPr lang="en-US">
              <a:latin typeface="+mn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A0D8F-9A19-4D03-8318-653C6FCD8B9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 Programming in Python</a:t>
            </a:r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09CFA1-B09C-442F-85C3-919131D33D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 Programming in Python</a:t>
            </a:r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B137E2-35D0-4667-9362-8260FF57AB0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1713" y="471448"/>
            <a:ext cx="8229600" cy="628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713" y="1182021"/>
            <a:ext cx="8229600" cy="5441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40944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OO Programming in Python</a:t>
            </a:r>
            <a:endParaRPr lang="en-US" dirty="0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09560" y="18288"/>
            <a:ext cx="77724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210FB4-E372-466D-A3EB-21FD966A10F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Text Box 11"/>
          <p:cNvSpPr txBox="1">
            <a:spLocks noChangeArrowheads="1"/>
          </p:cNvSpPr>
          <p:nvPr userDrawn="1"/>
        </p:nvSpPr>
        <p:spPr bwMode="auto">
          <a:xfrm>
            <a:off x="381000" y="65532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781336" y="1"/>
            <a:ext cx="362663" cy="3708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25" r:id="rId1"/>
    <p:sldLayoutId id="2147484626" r:id="rId2"/>
    <p:sldLayoutId id="2147484627" r:id="rId3"/>
    <p:sldLayoutId id="2147484628" r:id="rId4"/>
    <p:sldLayoutId id="2147484629" r:id="rId5"/>
    <p:sldLayoutId id="2147484630" r:id="rId6"/>
    <p:sldLayoutId id="2147484631" r:id="rId7"/>
    <p:sldLayoutId id="2147484632" r:id="rId8"/>
    <p:sldLayoutId id="2147484633" r:id="rId9"/>
    <p:sldLayoutId id="2147484634" r:id="rId10"/>
    <p:sldLayoutId id="2147484635" r:id="rId11"/>
  </p:sldLayoutIdLst>
  <p:transition>
    <p:fade thruBlk="1"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32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69575" y="2192572"/>
            <a:ext cx="8465346" cy="90060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Object Oriented Programming in Python</a:t>
            </a:r>
          </a:p>
        </p:txBody>
      </p:sp>
      <p:sp>
        <p:nvSpPr>
          <p:cNvPr id="819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66816" y="5547869"/>
            <a:ext cx="6400800" cy="527762"/>
          </a:xfrm>
        </p:spPr>
        <p:txBody>
          <a:bodyPr/>
          <a:lstStyle/>
          <a:p>
            <a:pPr eaLnBrk="1" hangingPunct="1"/>
            <a:r>
              <a:rPr lang="en-US" dirty="0"/>
              <a:t>Eric Prebys</a:t>
            </a: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0502B-9D41-8C54-EF19-AB4711FF3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Object-Oriented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7C765-C122-43EB-3D0E-189D3459C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the web:</a:t>
            </a:r>
          </a:p>
          <a:p>
            <a:pPr lvl="1"/>
            <a:r>
              <a:rPr lang="en-US" dirty="0"/>
              <a:t>Object-oriented programming (OOP) is a method of programming in which programs are structured as collections of interacting objects, each representing an instance of a class that defines its </a:t>
            </a:r>
            <a:r>
              <a:rPr lang="en-US" b="1" dirty="0"/>
              <a:t>data</a:t>
            </a:r>
            <a:r>
              <a:rPr lang="en-US" dirty="0"/>
              <a:t> and the </a:t>
            </a:r>
            <a:r>
              <a:rPr lang="en-US" b="1" dirty="0"/>
              <a:t>operations</a:t>
            </a:r>
            <a:r>
              <a:rPr lang="en-US" dirty="0"/>
              <a:t> that can be performed on that data.</a:t>
            </a:r>
          </a:p>
          <a:p>
            <a:r>
              <a:rPr lang="en-US" dirty="0"/>
              <a:t>Lexicon:</a:t>
            </a:r>
          </a:p>
          <a:p>
            <a:pPr lvl="1"/>
            <a:r>
              <a:rPr lang="en-US" dirty="0"/>
              <a:t>“class”:  This is a template for the object we want to create</a:t>
            </a:r>
          </a:p>
          <a:p>
            <a:pPr lvl="1"/>
            <a:r>
              <a:rPr lang="en-US" dirty="0"/>
              <a:t>“data”:  Data associated with the class</a:t>
            </a:r>
          </a:p>
          <a:p>
            <a:pPr lvl="1"/>
            <a:r>
              <a:rPr lang="en-US" dirty="0"/>
              <a:t>“method”:  This is a routine defined within the class</a:t>
            </a:r>
          </a:p>
          <a:p>
            <a:pPr lvl="1"/>
            <a:r>
              <a:rPr lang="en-US" dirty="0"/>
              <a:t>“instance”:  This is an object that is created based on a defined class.  I can create many objects from one class definition and organize them in any way I like, including as part of other classes.</a:t>
            </a:r>
          </a:p>
          <a:p>
            <a:pPr lvl="1"/>
            <a:r>
              <a:rPr lang="en-US" dirty="0"/>
              <a:t>”inheritance”:  Creating a new class based on one or more existing classes, generally to increase its functionality.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23418-F75E-81D0-6A2C-0D5404050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6CDCB-BCA9-7AAA-FBD0-85E401F14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 Programming in Python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9AF90-B6AE-8859-3D20-ED6442C70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348702"/>
      </p:ext>
    </p:extLst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177E3-571C-F53D-510B-6192D12D1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Example: 2D Point class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1ADA1-91B5-12C7-FC49-A269114E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EE8EC-3E63-4FA4-D8B1-AF122757D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 Programming in Python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43F0B-76A5-E1E9-1F3B-D9FFEB97E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F13AD2-0A82-EFD7-8F69-258F8917E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01305"/>
            <a:ext cx="7772400" cy="4385247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6FF3FEB6-986B-C673-AE8F-3A8D364E4DAE}"/>
              </a:ext>
            </a:extLst>
          </p:cNvPr>
          <p:cNvSpPr/>
          <p:nvPr/>
        </p:nvSpPr>
        <p:spPr>
          <a:xfrm>
            <a:off x="2082187" y="3525398"/>
            <a:ext cx="462709" cy="245126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61D24B-163F-1C93-3758-DBB4D5032B08}"/>
              </a:ext>
            </a:extLst>
          </p:cNvPr>
          <p:cNvSpPr txBox="1"/>
          <p:nvPr/>
        </p:nvSpPr>
        <p:spPr>
          <a:xfrm>
            <a:off x="4728715" y="1099655"/>
            <a:ext cx="3611054" cy="11695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19063" indent="-119063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“self” is a pointer to the current instance.</a:t>
            </a:r>
          </a:p>
          <a:p>
            <a:pPr marL="119063" indent="-119063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It’s automatically added at the beginning when you call a method.</a:t>
            </a:r>
          </a:p>
          <a:p>
            <a:pPr marL="119063" indent="-119063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You use it to point to the data associate with the current instance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AF765FF-345C-ADBA-37BA-4C3D71E88F14}"/>
              </a:ext>
            </a:extLst>
          </p:cNvPr>
          <p:cNvCxnSpPr>
            <a:cxnSpLocks/>
          </p:cNvCxnSpPr>
          <p:nvPr/>
        </p:nvCxnSpPr>
        <p:spPr>
          <a:xfrm flipH="1">
            <a:off x="2544896" y="2269206"/>
            <a:ext cx="2183819" cy="1256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E276B92-5F6A-0019-F536-91D3958AC00D}"/>
              </a:ext>
            </a:extLst>
          </p:cNvPr>
          <p:cNvSpPr txBox="1"/>
          <p:nvPr/>
        </p:nvSpPr>
        <p:spPr>
          <a:xfrm>
            <a:off x="2313541" y="6386552"/>
            <a:ext cx="3690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(go to ”Lecture 6 – </a:t>
            </a:r>
            <a:r>
              <a:rPr lang="en-US" sz="1800" dirty="0" err="1">
                <a:latin typeface="+mn-lt"/>
              </a:rPr>
              <a:t>OO.ipynb</a:t>
            </a:r>
            <a:r>
              <a:rPr lang="en-US" sz="1800" dirty="0">
                <a:latin typeface="+mn-lt"/>
              </a:rPr>
              <a:t>”)</a:t>
            </a:r>
          </a:p>
        </p:txBody>
      </p:sp>
    </p:spTree>
    <p:extLst>
      <p:ext uri="{BB962C8B-B14F-4D97-AF65-F5344CB8AC3E}">
        <p14:creationId xmlns:p14="http://schemas.microsoft.com/office/powerpoint/2010/main" val="3555110186"/>
      </p:ext>
    </p:extLst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FD763-7199-C79C-1BE2-4348F6619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03A4A-4D70-AD5E-6764-08457FC31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create a new class based on an old class. In this case, we create a Point3D class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AD165-4A76-3A32-AB30-1879637DA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400AF-65B6-B7B7-F6D0-F0333295A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 Programming in Python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5192A-2852-5447-38E4-0499EAEBB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115675-C0D0-D3EC-55D4-5BB26D9ED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313" y="2047351"/>
            <a:ext cx="7772400" cy="4658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336441"/>
      </p:ext>
    </p:extLst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7A015-FBA6-7A7D-1E6D-E399268AA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Digression: Photomultiplier Tubes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FD3A2-A513-5C3F-B80F-BE97E4B3E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Photomultiplier tubes are one of the oldest types of particle detectors.</a:t>
            </a:r>
          </a:p>
          <a:p>
            <a:r>
              <a:rPr lang="en-US" sz="2000" dirty="0"/>
              <a:t>They use a series of “dynodes” to amplify the photoelectron ejected by a single photon until it’s a measurable signal.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If I want precision, I need to calibrate each PMT and correct the ”raw” data as </a:t>
            </a:r>
          </a:p>
          <a:p>
            <a:pPr marL="0" indent="0">
              <a:buNone/>
            </a:pPr>
            <a:r>
              <a:rPr lang="en-US" sz="2000" dirty="0"/>
              <a:t>		</a:t>
            </a:r>
            <a:r>
              <a:rPr lang="en-US" sz="2000" dirty="0" err="1"/>
              <a:t>calibrated_value</a:t>
            </a:r>
            <a:r>
              <a:rPr lang="en-US" sz="2000" dirty="0"/>
              <a:t> = </a:t>
            </a:r>
            <a:r>
              <a:rPr lang="en-US" sz="2000" dirty="0" err="1"/>
              <a:t>offset+gain</a:t>
            </a:r>
            <a:r>
              <a:rPr lang="en-US" sz="2000" dirty="0"/>
              <a:t>*</a:t>
            </a:r>
            <a:r>
              <a:rPr lang="en-US" sz="2000" dirty="0" err="1"/>
              <a:t>raw_value</a:t>
            </a: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7AEE0-1BC4-1AC5-5A38-2EB6D025B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0A3AC-6A58-F011-7320-D976A71D0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 Programming in Python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7C146-D0A4-C79B-2E69-6F0CCC050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5205CB-C2E6-E7C8-E6D2-18BE6F2E6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4101" y="2375120"/>
            <a:ext cx="3607212" cy="30555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D14777-4219-8614-D97C-8D045F75ADD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2687" y="2723920"/>
            <a:ext cx="3906982" cy="219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523536"/>
      </p:ext>
    </p:extLst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E83F1-0806-50BC-4551-E2C42B9A6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Example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DB5DD-CB3B-B7A7-D893-C08671111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We’re going to define a “PMT” class, which stores the following for each PMT</a:t>
            </a:r>
          </a:p>
          <a:p>
            <a:pPr lvl="1"/>
            <a:r>
              <a:rPr lang="en-US" dirty="0"/>
              <a:t>Unique ID number</a:t>
            </a:r>
          </a:p>
          <a:p>
            <a:pPr lvl="1"/>
            <a:r>
              <a:rPr lang="en-US" dirty="0"/>
              <a:t>Location:</a:t>
            </a:r>
          </a:p>
          <a:p>
            <a:pPr lvl="1"/>
            <a:r>
              <a:rPr lang="en-US" dirty="0"/>
              <a:t>Offset and Gain</a:t>
            </a:r>
          </a:p>
          <a:p>
            <a:r>
              <a:rPr lang="en-US" dirty="0"/>
              <a:t>It will include methods to</a:t>
            </a:r>
          </a:p>
          <a:p>
            <a:pPr lvl="1"/>
            <a:r>
              <a:rPr lang="en-US" dirty="0"/>
              <a:t>Load raw readout data</a:t>
            </a:r>
          </a:p>
          <a:p>
            <a:pPr lvl="1"/>
            <a:r>
              <a:rPr lang="en-US" dirty="0"/>
              <a:t>Check to see of readout data is there</a:t>
            </a:r>
          </a:p>
          <a:p>
            <a:pPr lvl="1"/>
            <a:r>
              <a:rPr lang="en-US" dirty="0"/>
              <a:t>Convert raw data to calibrated data</a:t>
            </a:r>
          </a:p>
          <a:p>
            <a:pPr lvl="1"/>
            <a:r>
              <a:rPr lang="en-US" dirty="0"/>
              <a:t>Clear the readout data once I’m done.</a:t>
            </a:r>
          </a:p>
          <a:p>
            <a:r>
              <a:rPr lang="en-US" dirty="0"/>
              <a:t>We’re then going to use the class to generate a 10x10 array of PMTs and do a simulated readout.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557B9-4D9A-267B-096D-176DC9007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01741-876C-E170-4277-E270CF5D1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 Programming in Python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A9B3A-46B4-CE50-2CB2-D02EE2FD8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78684"/>
      </p:ext>
    </p:extLst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243F0-D809-2B67-5ACB-4296CAC8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Phy</a:t>
            </a:r>
            <a:r>
              <a:rPr lang="en-US" dirty="0"/>
              <a:t> 40, Fall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99F5C-B32A-57D9-7846-BED8EC1D3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OO Programming in Python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F3354-B578-BEB6-03FF-60B8D3C90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4FA785-E486-75BC-9084-FFA67E6C6B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810"/>
          <a:stretch>
            <a:fillRect/>
          </a:stretch>
        </p:blipFill>
        <p:spPr>
          <a:xfrm>
            <a:off x="98261" y="490210"/>
            <a:ext cx="8874639" cy="58775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AC4853-419C-95E9-FBBF-53C2D79CC2CC}"/>
              </a:ext>
            </a:extLst>
          </p:cNvPr>
          <p:cNvSpPr txBox="1"/>
          <p:nvPr/>
        </p:nvSpPr>
        <p:spPr>
          <a:xfrm>
            <a:off x="2115239" y="6367789"/>
            <a:ext cx="4638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(go to ”Lecture 6 – PMT </a:t>
            </a:r>
            <a:r>
              <a:rPr lang="en-US" sz="1800" dirty="0" err="1">
                <a:latin typeface="+mn-lt"/>
              </a:rPr>
              <a:t>Example.ipynb</a:t>
            </a:r>
            <a:r>
              <a:rPr lang="en-US" sz="1800" dirty="0">
                <a:latin typeface="+mn-lt"/>
              </a:rPr>
              <a:t>”)</a:t>
            </a:r>
          </a:p>
        </p:txBody>
      </p:sp>
    </p:spTree>
    <p:extLst>
      <p:ext uri="{BB962C8B-B14F-4D97-AF65-F5344CB8AC3E}">
        <p14:creationId xmlns:p14="http://schemas.microsoft.com/office/powerpoint/2010/main" val="246824915"/>
      </p:ext>
    </p:extLst>
  </p:cSld>
  <p:clrMapOvr>
    <a:masterClrMapping/>
  </p:clrMapOvr>
  <p:transition>
    <p:fade thruBlk="1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PREBYS@7EJIGINFUVWYY57I" val="435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>
    <a:spDef>
      <a:spPr>
        <a:noFill/>
        <a:ln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F0000"/>
          </a:solidFill>
          <a:tailEnd type="arrow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sz="1800" dirty="0" smtClean="0"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32794</TotalTime>
  <Words>453</Words>
  <Application>Microsoft Macintosh PowerPoint</Application>
  <PresentationFormat>On-screen Show (4:3)</PresentationFormat>
  <Paragraphs>63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Times New Roman</vt:lpstr>
      <vt:lpstr>Clarity</vt:lpstr>
      <vt:lpstr>Object Oriented Programming in Python</vt:lpstr>
      <vt:lpstr>Definition of Object-Oriented Programming</vt:lpstr>
      <vt:lpstr>Simple Example: 2D Point class</vt:lpstr>
      <vt:lpstr>Inheritance</vt:lpstr>
      <vt:lpstr>Digression: Photomultiplier Tubes</vt:lpstr>
      <vt:lpstr>Our Example Project</vt:lpstr>
      <vt:lpstr>PowerPoint Presentation</vt:lpstr>
    </vt:vector>
  </TitlesOfParts>
  <Company>Fermilab Beams Division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Antiproton Stacking and Cooling</dc:title>
  <dc:creator>localadmin</dc:creator>
  <cp:lastModifiedBy>Eric J Prebys</cp:lastModifiedBy>
  <cp:revision>728</cp:revision>
  <cp:lastPrinted>2025-01-10T20:21:22Z</cp:lastPrinted>
  <dcterms:created xsi:type="dcterms:W3CDTF">2003-06-24T14:15:57Z</dcterms:created>
  <dcterms:modified xsi:type="dcterms:W3CDTF">2025-10-10T20:26:36Z</dcterms:modified>
</cp:coreProperties>
</file>