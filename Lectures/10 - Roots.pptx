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>
  <p:sldMasterIdLst>
    <p:sldMasterId id="2147484624" r:id="rId1"/>
  </p:sldMasterIdLst>
  <p:notesMasterIdLst>
    <p:notesMasterId r:id="rId8"/>
  </p:notesMasterIdLst>
  <p:handoutMasterIdLst>
    <p:handoutMasterId r:id="rId9"/>
  </p:handoutMasterIdLst>
  <p:sldIdLst>
    <p:sldId id="271" r:id="rId2"/>
    <p:sldId id="272" r:id="rId3"/>
    <p:sldId id="273" r:id="rId4"/>
    <p:sldId id="274" r:id="rId5"/>
    <p:sldId id="275" r:id="rId6"/>
    <p:sldId id="276" r:id="rId7"/>
  </p:sldIdLst>
  <p:sldSz cx="9144000" cy="6858000" type="screen4x3"/>
  <p:notesSz cx="6858000" cy="9144000"/>
  <p:custDataLst>
    <p:tags r:id="rId10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32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32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32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32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userDrawn="1">
          <p15:clr>
            <a:srgbClr val="A4A3A4"/>
          </p15:clr>
        </p15:guide>
        <p15:guide id="3" orient="horz" pos="429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2" frameSlides="1"/>
  <p:clrMru>
    <a:srgbClr val="FD6F7D"/>
    <a:srgbClr val="008000"/>
    <a:srgbClr val="CC3399"/>
    <a:srgbClr val="FF9933"/>
    <a:srgbClr val="FF9966"/>
    <a:srgbClr val="33CC33"/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0721"/>
    <p:restoredTop sz="94694"/>
  </p:normalViewPr>
  <p:slideViewPr>
    <p:cSldViewPr snapToGrid="0">
      <p:cViewPr varScale="1">
        <p:scale>
          <a:sx n="117" d="100"/>
          <a:sy n="117" d="100"/>
        </p:scale>
        <p:origin x="960" y="168"/>
      </p:cViewPr>
      <p:guideLst>
        <p:guide/>
        <p:guide orient="horz" pos="429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D641E0-C0FB-FB45-BE20-B5E285E46BDA}" type="datetimeFigureOut">
              <a:rPr lang="en-US" smtClean="0"/>
              <a:t>11/5/25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CD667F-4C0A-F045-9861-4468224AED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59655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76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840E8FAF-0EB9-4F3C-9D18-30F5214B3A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16878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448882"/>
            <a:ext cx="7848600" cy="1927225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5582482"/>
            <a:ext cx="6400800" cy="554404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Phy 40, Fall 2025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Roots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9C4FB-7D33-419B-8833-D1372BFD11C8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294106" y="5472156"/>
            <a:ext cx="8643661" cy="3646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 thruBlk="1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Phy 40, Fall 2025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Roots</a:t>
            </a:r>
            <a:endParaRPr lang="en-US">
              <a:latin typeface="+mn-lt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CA26155-0DCC-45D2-90B6-32F65F3F6C0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fade thruBlk="1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362200"/>
            <a:ext cx="7772400" cy="2200275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626864"/>
            <a:ext cx="77724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Phy 40, Fall 2025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Roots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3A33-8271-4DD0-9C48-789913D7C115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731520" y="4599432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 thruBlk="1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143000"/>
            <a:ext cx="4038600" cy="52486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143000"/>
            <a:ext cx="4038600" cy="52486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Phy 40, Fall 2025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Roots</a:t>
            </a:r>
            <a:endParaRPr lang="en-US">
              <a:latin typeface="+mn-lt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D914655-DFE5-45AD-AEB7-B6324F535D8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fade thruBlk="1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Phy 40, Fall 2025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Roots</a:t>
            </a:r>
            <a:endParaRPr lang="en-US">
              <a:latin typeface="+mn-lt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1013A5A-BD10-4E42-8EDD-42C4A14A642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2217817" y="4045823"/>
            <a:ext cx="4709160" cy="794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 thruBlk="1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Phy 40, Fall 2025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Roots</a:t>
            </a:r>
            <a:endParaRPr lang="en-US">
              <a:latin typeface="+mn-lt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AB536C3-BB10-4165-8E74-99838CB517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fade thruBlk="1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Phy 40, Fall 2025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Roots</a:t>
            </a:r>
            <a:endParaRPr lang="en-US">
              <a:latin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A871096-0617-41A5-9758-D80165640925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fade thruBlk="1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080"/>
            <a:ext cx="2139696" cy="1261872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0" y="792080"/>
            <a:ext cx="5715000" cy="55778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0552"/>
            <a:ext cx="2139696" cy="42436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Phy 40, Fall 2025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Roots</a:t>
            </a:r>
            <a:endParaRPr lang="en-US">
              <a:latin typeface="+mn-lt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-13116" y="3580206"/>
            <a:ext cx="557784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 thruBlk="1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480"/>
            <a:ext cx="2142680" cy="126492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58610" y="838201"/>
            <a:ext cx="5904390" cy="5500456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133600"/>
            <a:ext cx="2139696" cy="42428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Phy 40, Fall 2025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Roots</a:t>
            </a:r>
            <a:endParaRPr lang="en-US">
              <a:latin typeface="+mn-lt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58A0D8F-9A19-4D03-8318-653C6FCD8B95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fade thruBlk="1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Phy 40, Fall 2025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Roots</a:t>
            </a:r>
            <a:endParaRPr lang="en-US">
              <a:latin typeface="+mn-lt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309CFA1-B09C-442F-85C3-919131D33D2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fade thruBlk="1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09600"/>
            <a:ext cx="2057400" cy="5867400"/>
          </a:xfrm>
        </p:spPr>
        <p:txBody>
          <a:bodyPr vert="eaVert"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601980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Phy 40, Fall 2025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Roots</a:t>
            </a:r>
            <a:endParaRPr lang="en-US">
              <a:latin typeface="+mn-lt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5B137E2-35D0-4667-9362-8260FF57AB0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fade thruBlk="1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20786"/>
            <a:ext cx="9144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41713" y="471448"/>
            <a:ext cx="8229600" cy="6282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1713" y="1182021"/>
            <a:ext cx="8229600" cy="54417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18288"/>
            <a:ext cx="28956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en-US"/>
              <a:t>Phy 40, Fall 2025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29000" y="18288"/>
            <a:ext cx="440944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en-US"/>
              <a:t>Roots</a:t>
            </a:r>
            <a:endParaRPr lang="en-US" dirty="0">
              <a:latin typeface="+mn-lt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909560" y="18288"/>
            <a:ext cx="77724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61210FB4-E372-466D-A3EB-21FD966A10F2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9" name="Text Box 11"/>
          <p:cNvSpPr txBox="1">
            <a:spLocks noChangeArrowheads="1"/>
          </p:cNvSpPr>
          <p:nvPr userDrawn="1"/>
        </p:nvSpPr>
        <p:spPr bwMode="auto">
          <a:xfrm>
            <a:off x="381000" y="6553200"/>
            <a:ext cx="16764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endParaRPr lang="en-US"/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8781336" y="1"/>
            <a:ext cx="362663" cy="37083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625" r:id="rId1"/>
    <p:sldLayoutId id="2147484626" r:id="rId2"/>
    <p:sldLayoutId id="2147484627" r:id="rId3"/>
    <p:sldLayoutId id="2147484628" r:id="rId4"/>
    <p:sldLayoutId id="2147484629" r:id="rId5"/>
    <p:sldLayoutId id="2147484630" r:id="rId6"/>
    <p:sldLayoutId id="2147484631" r:id="rId7"/>
    <p:sldLayoutId id="2147484632" r:id="rId8"/>
    <p:sldLayoutId id="2147484633" r:id="rId9"/>
    <p:sldLayoutId id="2147484634" r:id="rId10"/>
    <p:sldLayoutId id="2147484635" r:id="rId11"/>
  </p:sldLayoutIdLst>
  <p:transition>
    <p:fade thruBlk="1"/>
  </p:transition>
  <p:hf hdr="0"/>
  <p:txStyles>
    <p:titleStyle>
      <a:lvl1pPr algn="l" defTabSz="914400" rtl="0" eaLnBrk="1" latinLnBrk="0" hangingPunct="1">
        <a:spcBef>
          <a:spcPct val="0"/>
        </a:spcBef>
        <a:buNone/>
        <a:defRPr sz="32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00" name="Rectangle 4"/>
          <p:cNvSpPr>
            <a:spLocks noGrp="1" noChangeArrowheads="1"/>
          </p:cNvSpPr>
          <p:nvPr>
            <p:ph type="ctrTitle"/>
          </p:nvPr>
        </p:nvSpPr>
        <p:spPr>
          <a:xfrm>
            <a:off x="269575" y="2192572"/>
            <a:ext cx="8465346" cy="900608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/>
              <a:t>Roots</a:t>
            </a:r>
          </a:p>
        </p:txBody>
      </p:sp>
      <p:sp>
        <p:nvSpPr>
          <p:cNvPr id="8195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266816" y="5547869"/>
            <a:ext cx="6400800" cy="527762"/>
          </a:xfrm>
        </p:spPr>
        <p:txBody>
          <a:bodyPr/>
          <a:lstStyle/>
          <a:p>
            <a:pPr eaLnBrk="1" hangingPunct="1"/>
            <a:r>
              <a:rPr lang="en-US" dirty="0"/>
              <a:t>Eric Prebys</a:t>
            </a:r>
          </a:p>
        </p:txBody>
      </p:sp>
    </p:spTree>
  </p:cSld>
  <p:clrMapOvr>
    <a:masterClrMapping/>
  </p:clrMapOvr>
  <p:transition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501335-F138-4529-D047-A3864D0585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 Roots of an Equation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856F04-BDDB-0C1B-3EE5-CE51518299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The roots of a function </a:t>
            </a:r>
            <a:r>
              <a:rPr lang="en-US" sz="2000" i="1" dirty="0"/>
              <a:t>f(x)</a:t>
            </a:r>
            <a:r>
              <a:rPr lang="en-US" sz="2000" dirty="0"/>
              <a:t> are all points (if any) for which</a:t>
            </a:r>
          </a:p>
          <a:p>
            <a:endParaRPr lang="en-US" sz="2000" dirty="0"/>
          </a:p>
          <a:p>
            <a:r>
              <a:rPr lang="en-US" sz="2000" dirty="0"/>
              <a:t>I can express any explicit or non-explicit function as a root problem. For example,  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   has no explicit solution for </a:t>
            </a:r>
            <a:r>
              <a:rPr lang="en-US" sz="2000" i="1" dirty="0"/>
              <a:t>x</a:t>
            </a:r>
            <a:r>
              <a:rPr lang="en-US" sz="2000" dirty="0"/>
              <a:t>, but it will be satisfied by the root of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AD1A5-A02A-4459-1926-25ADBF086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Phy 40, Fall 2025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535885-2E1D-E38E-2109-29896B93D7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Roots</a:t>
            </a:r>
            <a:endParaRPr lang="en-US">
              <a:latin typeface="+mn-lt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0E3E63-67B8-A4F9-C912-6339E0154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CA26155-0DCC-45D2-90B6-32F65F3F6C0F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0EC0632-351A-B68A-19AF-280F5BB759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3821" y="1659165"/>
            <a:ext cx="1130300" cy="3175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FD798C0-4651-9734-68EB-F0E345C673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5500" y="2551990"/>
            <a:ext cx="1591561" cy="20317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3B798B3-64F5-BF0C-FD8C-4B9D3AAA02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6103" y="4371955"/>
            <a:ext cx="2146300" cy="3175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368E77B-D895-350D-6EAB-7BE2745C4C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59003" y="3429000"/>
            <a:ext cx="4237158" cy="319474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AD56DDB-CDA7-E864-9566-4C32CB8E8BD2}"/>
              </a:ext>
            </a:extLst>
          </p:cNvPr>
          <p:cNvSpPr txBox="1"/>
          <p:nvPr/>
        </p:nvSpPr>
        <p:spPr>
          <a:xfrm>
            <a:off x="5236029" y="4005943"/>
            <a:ext cx="1186542" cy="369332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800" dirty="0">
                <a:solidFill>
                  <a:srgbClr val="FF0000"/>
                </a:solidFill>
                <a:latin typeface="+mn-lt"/>
              </a:rPr>
              <a:t>Solution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4EAE901-3FB7-AC2A-2200-4A5173E68681}"/>
              </a:ext>
            </a:extLst>
          </p:cNvPr>
          <p:cNvCxnSpPr/>
          <p:nvPr/>
        </p:nvCxnSpPr>
        <p:spPr>
          <a:xfrm>
            <a:off x="6266985" y="4371955"/>
            <a:ext cx="535259" cy="84681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9842557"/>
      </p:ext>
    </p:extLst>
  </p:cSld>
  <p:clrMapOvr>
    <a:masterClrMapping/>
  </p:clrMapOvr>
  <p:transition>
    <p:fade thruBlk="1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BB0889-FCCB-C799-A94B-B3BC6690E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Iterations and Convergence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B88CED-0460-B045-12C1-3B04F2418C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In general, we will iterate multiple times, each time finding a new value of </a:t>
            </a:r>
            <a:r>
              <a:rPr lang="en-US" sz="2000" i="1" dirty="0"/>
              <a:t>x</a:t>
            </a:r>
            <a:r>
              <a:rPr lang="en-US" sz="2000" i="1" baseline="30000" dirty="0"/>
              <a:t>(</a:t>
            </a:r>
            <a:r>
              <a:rPr lang="en-US" sz="2000" i="1" baseline="30000" dirty="0" err="1"/>
              <a:t>i</a:t>
            </a:r>
            <a:r>
              <a:rPr lang="en-US" sz="2000" i="1" baseline="30000" dirty="0"/>
              <a:t>)</a:t>
            </a:r>
            <a:r>
              <a:rPr lang="en-US" sz="2000" dirty="0"/>
              <a:t>, presumably getting closer to the true root </a:t>
            </a:r>
            <a:r>
              <a:rPr lang="en-US" sz="2000" i="1" dirty="0"/>
              <a:t>x*</a:t>
            </a:r>
          </a:p>
          <a:p>
            <a:r>
              <a:rPr lang="en-US" sz="2000" dirty="0"/>
              <a:t>There’s a lot of formalism for evaluating convergence, but we’ll focus on simple tests such as </a:t>
            </a:r>
          </a:p>
          <a:p>
            <a:pPr marL="0" indent="0">
              <a:buNone/>
            </a:pPr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Since many functions will have multiple roots,</a:t>
            </a:r>
            <a:br>
              <a:rPr lang="en-US" sz="2000" dirty="0"/>
            </a:br>
            <a:r>
              <a:rPr lang="en-US" sz="2000" dirty="0"/>
              <a:t>we will usually need to start with a bracket or </a:t>
            </a:r>
            <a:br>
              <a:rPr lang="en-US" sz="2000" dirty="0"/>
            </a:br>
            <a:r>
              <a:rPr lang="en-US" sz="2000" dirty="0"/>
              <a:t>at least an initial guess.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405954-3B36-75A8-C72C-A4A1C2A5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Phy 40, Fall 2025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31A142-7026-051F-78DB-D8391751F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Roots</a:t>
            </a:r>
            <a:endParaRPr lang="en-US">
              <a:latin typeface="+mn-lt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1C7AFC-4DAF-84A3-AA73-D9A905D26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CA26155-0DCC-45D2-90B6-32F65F3F6C0F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FA3C7C2-27C1-7D13-9C7B-8D4C42B9EE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6247" y="2655007"/>
            <a:ext cx="4826000" cy="381000"/>
          </a:xfrm>
          <a:prstGeom prst="rect">
            <a:avLst/>
          </a:prstGeom>
        </p:spPr>
      </p:pic>
      <p:pic>
        <p:nvPicPr>
          <p:cNvPr id="1026" name="Picture 2" descr="Roots of Polynomials">
            <a:extLst>
              <a:ext uri="{FF2B5EF4-FFF2-40B4-BE49-F238E27FC236}">
                <a16:creationId xmlns:a16="http://schemas.microsoft.com/office/drawing/2014/main" id="{BB0A2FE7-DA71-57DF-6C23-BC9D9E4BF6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1035" y="3289992"/>
            <a:ext cx="3122424" cy="3122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08127728"/>
      </p:ext>
    </p:extLst>
  </p:cSld>
  <p:clrMapOvr>
    <a:masterClrMapping/>
  </p:clrMapOvr>
  <p:transition>
    <p:fade thruBlk="1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323AFB-781E-D44C-EF34-41928D6A21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Bisection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4B126F-D8C1-F71B-E427-43D4DDB41B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1098" y="2489438"/>
            <a:ext cx="8229600" cy="5441721"/>
          </a:xfrm>
        </p:spPr>
        <p:txBody>
          <a:bodyPr>
            <a:normAutofit/>
          </a:bodyPr>
          <a:lstStyle/>
          <a:p>
            <a:r>
              <a:rPr lang="en-US" sz="2000" dirty="0"/>
              <a:t>We start with two points </a:t>
            </a:r>
            <a:r>
              <a:rPr lang="en-US" sz="2000" i="1" dirty="0"/>
              <a:t>a</a:t>
            </a:r>
            <a:r>
              <a:rPr lang="en-US" sz="2000" i="1" baseline="-25000" dirty="0"/>
              <a:t>0</a:t>
            </a:r>
            <a:r>
              <a:rPr lang="en-US" sz="2000" dirty="0"/>
              <a:t> and </a:t>
            </a:r>
            <a:r>
              <a:rPr lang="en-US" sz="2000" i="1" dirty="0"/>
              <a:t>b</a:t>
            </a:r>
            <a:r>
              <a:rPr lang="en-US" sz="2000" i="1" baseline="-25000" dirty="0"/>
              <a:t>0</a:t>
            </a:r>
            <a:r>
              <a:rPr lang="en-US" sz="2000" dirty="0"/>
              <a:t> </a:t>
            </a:r>
            <a:br>
              <a:rPr lang="en-US" sz="2000" dirty="0"/>
            </a:br>
            <a:r>
              <a:rPr lang="en-US" sz="2000" dirty="0"/>
              <a:t>that bracket the root; </a:t>
            </a:r>
            <a:r>
              <a:rPr lang="en-US" sz="2000" dirty="0" err="1"/>
              <a:t>ie</a:t>
            </a:r>
            <a:r>
              <a:rPr lang="en-US" sz="2000" dirty="0"/>
              <a:t> </a:t>
            </a:r>
          </a:p>
          <a:p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r>
              <a:rPr lang="en-US" sz="2000" dirty="0"/>
              <a:t>Now calculate the midpoint and see which side of the root it’s on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Repeat until convergence criterion is met.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3B5F43-AC2A-05DE-7E4A-4AF8336CC6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Phy 40, Fall 2025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C5FD9D-33B5-8909-F1F7-199700E04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Roots</a:t>
            </a:r>
            <a:endParaRPr lang="en-US">
              <a:latin typeface="+mn-lt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B44268-D5C6-87C5-48E7-7A7443746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CA26155-0DCC-45D2-90B6-32F65F3F6C0F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9F41F0B-671B-52E4-3B60-746FAF63ED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2563" y="3361678"/>
            <a:ext cx="1960447" cy="28830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A2AD0A2-8916-15CF-460F-3DC12D16D4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2800" y="4300189"/>
            <a:ext cx="2032000" cy="635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78396C4-8E4D-721E-267E-0CC05E11DB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62563" y="5098821"/>
            <a:ext cx="4787900" cy="7747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460E117-B992-6FEA-AF57-14562F0A85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05987" y="511104"/>
            <a:ext cx="3534711" cy="3371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4581107"/>
      </p:ext>
    </p:extLst>
  </p:cSld>
  <p:clrMapOvr>
    <a:masterClrMapping/>
  </p:clrMapOvr>
  <p:transition>
    <p:fade thruBlk="1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A421E7-0D58-8667-2C71-BD4405DF2C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Newton’s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926751-306D-23CC-E14B-DBB9B48E1F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Newton’s method requires that we know the derivative of the function </a:t>
            </a:r>
            <a:r>
              <a:rPr lang="en-US" i="1" dirty="0"/>
              <a:t>f’(x)</a:t>
            </a:r>
          </a:p>
          <a:p>
            <a:endParaRPr lang="en-US" dirty="0"/>
          </a:p>
          <a:p>
            <a:r>
              <a:rPr lang="en-US" dirty="0"/>
              <a:t>Each iteration uses the local</a:t>
            </a:r>
            <a:br>
              <a:rPr lang="en-US" dirty="0"/>
            </a:br>
            <a:r>
              <a:rPr lang="en-US" dirty="0"/>
              <a:t>slope to project to the next</a:t>
            </a:r>
            <a:br>
              <a:rPr lang="en-US" dirty="0"/>
            </a:br>
            <a:r>
              <a:rPr lang="en-US" dirty="0"/>
              <a:t>iteration.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478CCA-9942-8A5C-9C93-6B83AE605C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Phy 40, Fall 2025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6B3D6D-0A47-A603-DE05-BFECB56D95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Roots</a:t>
            </a:r>
            <a:endParaRPr lang="en-US">
              <a:latin typeface="+mn-lt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B181BC-41A7-5F95-B637-34D29A9A1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CA26155-0DCC-45D2-90B6-32F65F3F6C0F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F15CD73-6401-2091-14D5-D8D4CB9A66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8293" y="1984916"/>
            <a:ext cx="3805751" cy="382854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68EBA6D-F157-F65F-9F9B-521DCA7C30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3703" y="4067562"/>
            <a:ext cx="3022600" cy="774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185677"/>
      </p:ext>
    </p:extLst>
  </p:cSld>
  <p:clrMapOvr>
    <a:masterClrMapping/>
  </p:clrMapOvr>
  <p:transition>
    <p:fade thruBlk="1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32D0A5-82AC-FB6A-EFE0-1CC138445B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Secant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24A8AA-B0E9-6534-F65F-B505A48CC1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Similar to the Newton Method, but use</a:t>
            </a:r>
            <a:br>
              <a:rPr lang="en-US" sz="2000" dirty="0"/>
            </a:br>
            <a:r>
              <a:rPr lang="en-US" sz="2000" dirty="0"/>
              <a:t>two initial guesses to approximate the</a:t>
            </a:r>
            <a:br>
              <a:rPr lang="en-US" sz="2000" dirty="0"/>
            </a:br>
            <a:r>
              <a:rPr lang="en-US" sz="2000" dirty="0"/>
              <a:t>derivative 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You’ll do algorithmic examples of these three </a:t>
            </a:r>
            <a:r>
              <a:rPr lang="en-US" sz="2000"/>
              <a:t>methods in lab next week.</a:t>
            </a:r>
            <a:endParaRPr lang="en-US" sz="20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6B6A89-9650-0A8F-7038-1CA2316021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Phy 40, Fall 2025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635B2B-0340-E07D-D72C-DBE81C5959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Roots</a:t>
            </a:r>
            <a:endParaRPr lang="en-US">
              <a:latin typeface="+mn-lt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0E9E13-18C3-C5ED-6869-D2142D41B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CA26155-0DCC-45D2-90B6-32F65F3F6C0F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D11DDBB-E4DE-DC19-2594-648147794B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5298" y="429838"/>
            <a:ext cx="3395786" cy="334750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F0839CC-0903-31E5-9488-D9AD83BE00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103" y="3012076"/>
            <a:ext cx="7061200" cy="161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6489161"/>
      </p:ext>
    </p:extLst>
  </p:cSld>
  <p:clrMapOvr>
    <a:masterClrMapping/>
  </p:clrMapOvr>
  <p:transition>
    <p:fade thruBlk="1"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RSTPREBYS@7EJIGINFUVWYY57I" val="4350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larity">
  <a:themeElements>
    <a:clrScheme name="Clarity">
      <a:dk1>
        <a:srgbClr val="292934"/>
      </a:dk1>
      <a:lt1>
        <a:srgbClr val="FFFFFF"/>
      </a:lt1>
      <a:dk2>
        <a:srgbClr val="D2533C"/>
      </a:dk2>
      <a:lt2>
        <a:srgbClr val="F3F2DC"/>
      </a:lt2>
      <a:accent1>
        <a:srgbClr val="93A299"/>
      </a:accent1>
      <a:accent2>
        <a:srgbClr val="AD8F67"/>
      </a:accent2>
      <a:accent3>
        <a:srgbClr val="726056"/>
      </a:accent3>
      <a:accent4>
        <a:srgbClr val="4C5A6A"/>
      </a:accent4>
      <a:accent5>
        <a:srgbClr val="808DA0"/>
      </a:accent5>
      <a:accent6>
        <a:srgbClr val="79463D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华文新魏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华文新魏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>
    <a:spDef>
      <a:spPr>
        <a:noFill/>
        <a:ln>
          <a:solidFill>
            <a:srgbClr val="FF0000"/>
          </a:solidFill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>
          <a:solidFill>
            <a:srgbClr val="FF0000"/>
          </a:solidFill>
          <a:tailEnd type="arrow"/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ctr">
          <a:defRPr sz="1800" dirty="0" smtClean="0">
            <a:latin typeface="+mn-lt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Clarity.thmx</Template>
  <TotalTime>42381</TotalTime>
  <Words>271</Words>
  <Application>Microsoft Macintosh PowerPoint</Application>
  <PresentationFormat>On-screen Show (4:3)</PresentationFormat>
  <Paragraphs>58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Times New Roman</vt:lpstr>
      <vt:lpstr>Clarity</vt:lpstr>
      <vt:lpstr>Roots</vt:lpstr>
      <vt:lpstr>Finding Roots of an Equation</vt:lpstr>
      <vt:lpstr>Iterations and Convergence</vt:lpstr>
      <vt:lpstr>Bisection Method</vt:lpstr>
      <vt:lpstr>Newton’s Method</vt:lpstr>
      <vt:lpstr>Secant Method</vt:lpstr>
    </vt:vector>
  </TitlesOfParts>
  <Company>Fermilab Beams Division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Antiproton Stacking and Cooling</dc:title>
  <dc:creator>localadmin</dc:creator>
  <cp:lastModifiedBy>Eric J Prebys</cp:lastModifiedBy>
  <cp:revision>782</cp:revision>
  <cp:lastPrinted>2025-01-10T20:21:22Z</cp:lastPrinted>
  <dcterms:created xsi:type="dcterms:W3CDTF">2003-06-24T14:15:57Z</dcterms:created>
  <dcterms:modified xsi:type="dcterms:W3CDTF">2025-11-05T21:50:45Z</dcterms:modified>
</cp:coreProperties>
</file>