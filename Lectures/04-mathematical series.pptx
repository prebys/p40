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4624" r:id="rId1"/>
  </p:sldMasterIdLst>
  <p:notesMasterIdLst>
    <p:notesMasterId r:id="rId24"/>
  </p:notesMasterIdLst>
  <p:handoutMasterIdLst>
    <p:handoutMasterId r:id="rId25"/>
  </p:handoutMasterIdLst>
  <p:sldIdLst>
    <p:sldId id="271" r:id="rId2"/>
    <p:sldId id="293" r:id="rId3"/>
    <p:sldId id="276" r:id="rId4"/>
    <p:sldId id="277" r:id="rId5"/>
    <p:sldId id="282" r:id="rId6"/>
    <p:sldId id="283" r:id="rId7"/>
    <p:sldId id="278" r:id="rId8"/>
    <p:sldId id="279" r:id="rId9"/>
    <p:sldId id="280" r:id="rId10"/>
    <p:sldId id="281" r:id="rId11"/>
    <p:sldId id="290" r:id="rId12"/>
    <p:sldId id="291" r:id="rId13"/>
    <p:sldId id="284" r:id="rId14"/>
    <p:sldId id="272" r:id="rId15"/>
    <p:sldId id="285" r:id="rId16"/>
    <p:sldId id="286" r:id="rId17"/>
    <p:sldId id="287" r:id="rId18"/>
    <p:sldId id="288" r:id="rId19"/>
    <p:sldId id="274" r:id="rId20"/>
    <p:sldId id="289" r:id="rId21"/>
    <p:sldId id="275" r:id="rId22"/>
    <p:sldId id="292" r:id="rId23"/>
  </p:sldIdLst>
  <p:sldSz cx="9144000" cy="6858000" type="screen4x3"/>
  <p:notesSz cx="6858000" cy="9144000"/>
  <p:custDataLst>
    <p:tags r:id="rId26"/>
  </p:custDataLst>
  <p:defaultTextStyle>
    <a:defPPr>
      <a:defRPr lang="en-US"/>
    </a:defPPr>
    <a:lvl1pPr algn="l" rtl="0" fontAlgn="base">
      <a:spcBef>
        <a:spcPct val="0"/>
      </a:spcBef>
      <a:spcAft>
        <a:spcPct val="0"/>
      </a:spcAft>
      <a:defRPr sz="3200" kern="1200">
        <a:solidFill>
          <a:schemeClr val="tx1"/>
        </a:solidFill>
        <a:latin typeface="Times New Roman" pitchFamily="18" charset="0"/>
        <a:ea typeface="+mn-ea"/>
        <a:cs typeface="+mn-cs"/>
      </a:defRPr>
    </a:lvl1pPr>
    <a:lvl2pPr marL="457200" algn="l" rtl="0" fontAlgn="base">
      <a:spcBef>
        <a:spcPct val="0"/>
      </a:spcBef>
      <a:spcAft>
        <a:spcPct val="0"/>
      </a:spcAft>
      <a:defRPr sz="3200" kern="1200">
        <a:solidFill>
          <a:schemeClr val="tx1"/>
        </a:solidFill>
        <a:latin typeface="Times New Roman" pitchFamily="18" charset="0"/>
        <a:ea typeface="+mn-ea"/>
        <a:cs typeface="+mn-cs"/>
      </a:defRPr>
    </a:lvl2pPr>
    <a:lvl3pPr marL="914400" algn="l" rtl="0" fontAlgn="base">
      <a:spcBef>
        <a:spcPct val="0"/>
      </a:spcBef>
      <a:spcAft>
        <a:spcPct val="0"/>
      </a:spcAft>
      <a:defRPr sz="3200" kern="1200">
        <a:solidFill>
          <a:schemeClr val="tx1"/>
        </a:solidFill>
        <a:latin typeface="Times New Roman" pitchFamily="18" charset="0"/>
        <a:ea typeface="+mn-ea"/>
        <a:cs typeface="+mn-cs"/>
      </a:defRPr>
    </a:lvl3pPr>
    <a:lvl4pPr marL="1371600" algn="l" rtl="0" fontAlgn="base">
      <a:spcBef>
        <a:spcPct val="0"/>
      </a:spcBef>
      <a:spcAft>
        <a:spcPct val="0"/>
      </a:spcAft>
      <a:defRPr sz="3200" kern="1200">
        <a:solidFill>
          <a:schemeClr val="tx1"/>
        </a:solidFill>
        <a:latin typeface="Times New Roman" pitchFamily="18" charset="0"/>
        <a:ea typeface="+mn-ea"/>
        <a:cs typeface="+mn-cs"/>
      </a:defRPr>
    </a:lvl4pPr>
    <a:lvl5pPr marL="1828800" algn="l" rtl="0" fontAlgn="base">
      <a:spcBef>
        <a:spcPct val="0"/>
      </a:spcBef>
      <a:spcAft>
        <a:spcPct val="0"/>
      </a:spcAft>
      <a:defRPr sz="3200" kern="1200">
        <a:solidFill>
          <a:schemeClr val="tx1"/>
        </a:solidFill>
        <a:latin typeface="Times New Roman" pitchFamily="18" charset="0"/>
        <a:ea typeface="+mn-ea"/>
        <a:cs typeface="+mn-cs"/>
      </a:defRPr>
    </a:lvl5pPr>
    <a:lvl6pPr marL="2286000" algn="l" defTabSz="914400" rtl="0" eaLnBrk="1" latinLnBrk="0" hangingPunct="1">
      <a:defRPr sz="3200" kern="1200">
        <a:solidFill>
          <a:schemeClr val="tx1"/>
        </a:solidFill>
        <a:latin typeface="Times New Roman" pitchFamily="18" charset="0"/>
        <a:ea typeface="+mn-ea"/>
        <a:cs typeface="+mn-cs"/>
      </a:defRPr>
    </a:lvl6pPr>
    <a:lvl7pPr marL="2743200" algn="l" defTabSz="914400" rtl="0" eaLnBrk="1" latinLnBrk="0" hangingPunct="1">
      <a:defRPr sz="3200" kern="1200">
        <a:solidFill>
          <a:schemeClr val="tx1"/>
        </a:solidFill>
        <a:latin typeface="Times New Roman" pitchFamily="18" charset="0"/>
        <a:ea typeface="+mn-ea"/>
        <a:cs typeface="+mn-cs"/>
      </a:defRPr>
    </a:lvl7pPr>
    <a:lvl8pPr marL="3200400" algn="l" defTabSz="914400" rtl="0" eaLnBrk="1" latinLnBrk="0" hangingPunct="1">
      <a:defRPr sz="3200" kern="1200">
        <a:solidFill>
          <a:schemeClr val="tx1"/>
        </a:solidFill>
        <a:latin typeface="Times New Roman" pitchFamily="18" charset="0"/>
        <a:ea typeface="+mn-ea"/>
        <a:cs typeface="+mn-cs"/>
      </a:defRPr>
    </a:lvl8pPr>
    <a:lvl9pPr marL="3657600" algn="l" defTabSz="914400" rtl="0" eaLnBrk="1" latinLnBrk="0" hangingPunct="1">
      <a:defRPr sz="3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2">
          <p15:clr>
            <a:srgbClr val="A4A3A4"/>
          </p15:clr>
        </p15:guide>
        <p15:guide id="3" orient="horz" pos="429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FD6F7D"/>
    <a:srgbClr val="008000"/>
    <a:srgbClr val="CC3399"/>
    <a:srgbClr val="FF9933"/>
    <a:srgbClr val="FF9966"/>
    <a:srgbClr val="33CC33"/>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54FF14-B721-3C4D-8B8E-EBB2B5962329}" v="5" dt="2025-10-08T15:06:46.7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88"/>
    <p:restoredTop sz="94643"/>
  </p:normalViewPr>
  <p:slideViewPr>
    <p:cSldViewPr snapToGrid="0">
      <p:cViewPr varScale="1">
        <p:scale>
          <a:sx n="86" d="100"/>
          <a:sy n="86" d="100"/>
        </p:scale>
        <p:origin x="2312" y="192"/>
      </p:cViewPr>
      <p:guideLst>
        <p:guide/>
        <p:guide orient="horz" pos="429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J Prebys" userId="2423660181_tp_box_2" providerId="OAuth2" clId="{7A5D5A21-A55B-52FD-95D2-896217ECBE7C}"/>
    <pc:docChg chg="custSel addSld modSld">
      <pc:chgData name="Eric J Prebys" userId="2423660181_tp_box_2" providerId="OAuth2" clId="{7A5D5A21-A55B-52FD-95D2-896217ECBE7C}" dt="2025-10-08T15:07:06.275" v="98" actId="14100"/>
      <pc:docMkLst>
        <pc:docMk/>
      </pc:docMkLst>
      <pc:sldChg chg="addSp delSp modSp mod">
        <pc:chgData name="Eric J Prebys" userId="2423660181_tp_box_2" providerId="OAuth2" clId="{7A5D5A21-A55B-52FD-95D2-896217ECBE7C}" dt="2025-10-08T15:03:10.622" v="5" actId="1076"/>
        <pc:sldMkLst>
          <pc:docMk/>
          <pc:sldMk cId="1104148226" sldId="277"/>
        </pc:sldMkLst>
        <pc:spChg chg="mod">
          <ac:chgData name="Eric J Prebys" userId="2423660181_tp_box_2" providerId="OAuth2" clId="{7A5D5A21-A55B-52FD-95D2-896217ECBE7C}" dt="2025-10-08T15:02:44.594" v="1"/>
          <ac:spMkLst>
            <pc:docMk/>
            <pc:sldMk cId="1104148226" sldId="277"/>
            <ac:spMk id="3" creationId="{A361866C-AB34-8BC3-C532-3AE47D064667}"/>
          </ac:spMkLst>
        </pc:spChg>
        <pc:picChg chg="add del mod">
          <ac:chgData name="Eric J Prebys" userId="2423660181_tp_box_2" providerId="OAuth2" clId="{7A5D5A21-A55B-52FD-95D2-896217ECBE7C}" dt="2025-10-08T15:02:51.151" v="3" actId="478"/>
          <ac:picMkLst>
            <pc:docMk/>
            <pc:sldMk cId="1104148226" sldId="277"/>
            <ac:picMk id="7" creationId="{FCEFDDCB-4442-55EB-DE05-17B004C6DB42}"/>
          </ac:picMkLst>
        </pc:picChg>
        <pc:picChg chg="del">
          <ac:chgData name="Eric J Prebys" userId="2423660181_tp_box_2" providerId="OAuth2" clId="{7A5D5A21-A55B-52FD-95D2-896217ECBE7C}" dt="2025-10-08T15:02:35.236" v="0" actId="478"/>
          <ac:picMkLst>
            <pc:docMk/>
            <pc:sldMk cId="1104148226" sldId="277"/>
            <ac:picMk id="8" creationId="{A70F3C83-8C3A-89BE-EB2B-25044F3AFC6D}"/>
          </ac:picMkLst>
        </pc:picChg>
        <pc:picChg chg="add mod">
          <ac:chgData name="Eric J Prebys" userId="2423660181_tp_box_2" providerId="OAuth2" clId="{7A5D5A21-A55B-52FD-95D2-896217ECBE7C}" dt="2025-10-08T15:03:10.622" v="5" actId="1076"/>
          <ac:picMkLst>
            <pc:docMk/>
            <pc:sldMk cId="1104148226" sldId="277"/>
            <ac:picMk id="9" creationId="{CDE73955-BBB8-AED8-5F2D-C6EE65774989}"/>
          </ac:picMkLst>
        </pc:picChg>
      </pc:sldChg>
      <pc:sldChg chg="addSp modSp mod">
        <pc:chgData name="Eric J Prebys" userId="2423660181_tp_box_2" providerId="OAuth2" clId="{7A5D5A21-A55B-52FD-95D2-896217ECBE7C}" dt="2025-10-08T15:05:51.424" v="66" actId="14100"/>
        <pc:sldMkLst>
          <pc:docMk/>
          <pc:sldMk cId="4091048123" sldId="289"/>
        </pc:sldMkLst>
        <pc:spChg chg="add mod">
          <ac:chgData name="Eric J Prebys" userId="2423660181_tp_box_2" providerId="OAuth2" clId="{7A5D5A21-A55B-52FD-95D2-896217ECBE7C}" dt="2025-10-08T15:05:43.487" v="64" actId="1076"/>
          <ac:spMkLst>
            <pc:docMk/>
            <pc:sldMk cId="4091048123" sldId="289"/>
            <ac:spMk id="2" creationId="{E8918B7E-26A0-4A7F-DF81-6DAA92C1FB0E}"/>
          </ac:spMkLst>
        </pc:spChg>
        <pc:spChg chg="mod">
          <ac:chgData name="Eric J Prebys" userId="2423660181_tp_box_2" providerId="OAuth2" clId="{7A5D5A21-A55B-52FD-95D2-896217ECBE7C}" dt="2025-10-08T15:03:40.938" v="10" actId="20577"/>
          <ac:spMkLst>
            <pc:docMk/>
            <pc:sldMk cId="4091048123" sldId="289"/>
            <ac:spMk id="7" creationId="{A53270F9-FBE9-EB5D-A967-6E632BEA3965}"/>
          </ac:spMkLst>
        </pc:spChg>
        <pc:picChg chg="mod">
          <ac:chgData name="Eric J Prebys" userId="2423660181_tp_box_2" providerId="OAuth2" clId="{7A5D5A21-A55B-52FD-95D2-896217ECBE7C}" dt="2025-10-08T15:05:14.521" v="35" actId="1076"/>
          <ac:picMkLst>
            <pc:docMk/>
            <pc:sldMk cId="4091048123" sldId="289"/>
            <ac:picMk id="8" creationId="{496617C3-C8A2-6CBB-D3D2-8C8FD823EBDE}"/>
          </ac:picMkLst>
        </pc:picChg>
        <pc:cxnChg chg="add mod">
          <ac:chgData name="Eric J Prebys" userId="2423660181_tp_box_2" providerId="OAuth2" clId="{7A5D5A21-A55B-52FD-95D2-896217ECBE7C}" dt="2025-10-08T15:05:51.424" v="66" actId="14100"/>
          <ac:cxnSpMkLst>
            <pc:docMk/>
            <pc:sldMk cId="4091048123" sldId="289"/>
            <ac:cxnSpMk id="9" creationId="{75C70CF6-02CB-6927-438C-E9E6F5BA1775}"/>
          </ac:cxnSpMkLst>
        </pc:cxnChg>
      </pc:sldChg>
      <pc:sldChg chg="addSp delSp modSp new mod">
        <pc:chgData name="Eric J Prebys" userId="2423660181_tp_box_2" providerId="OAuth2" clId="{7A5D5A21-A55B-52FD-95D2-896217ECBE7C}" dt="2025-10-08T15:07:06.275" v="98" actId="14100"/>
        <pc:sldMkLst>
          <pc:docMk/>
          <pc:sldMk cId="1085116855" sldId="292"/>
        </pc:sldMkLst>
        <pc:spChg chg="mod">
          <ac:chgData name="Eric J Prebys" userId="2423660181_tp_box_2" providerId="OAuth2" clId="{7A5D5A21-A55B-52FD-95D2-896217ECBE7C}" dt="2025-10-08T15:04:12.303" v="26" actId="20577"/>
          <ac:spMkLst>
            <pc:docMk/>
            <pc:sldMk cId="1085116855" sldId="292"/>
            <ac:spMk id="2" creationId="{09CA2E8C-8C27-9A40-5647-C8FF280B94FA}"/>
          </ac:spMkLst>
        </pc:spChg>
        <pc:spChg chg="del">
          <ac:chgData name="Eric J Prebys" userId="2423660181_tp_box_2" providerId="OAuth2" clId="{7A5D5A21-A55B-52FD-95D2-896217ECBE7C}" dt="2025-10-08T15:04:20.536" v="27" actId="478"/>
          <ac:spMkLst>
            <pc:docMk/>
            <pc:sldMk cId="1085116855" sldId="292"/>
            <ac:spMk id="3" creationId="{450F51B6-3F2A-3B00-4AE7-56F7D3A14013}"/>
          </ac:spMkLst>
        </pc:spChg>
        <pc:spChg chg="add mod">
          <ac:chgData name="Eric J Prebys" userId="2423660181_tp_box_2" providerId="OAuth2" clId="{7A5D5A21-A55B-52FD-95D2-896217ECBE7C}" dt="2025-10-08T15:06:57.982" v="96" actId="20577"/>
          <ac:spMkLst>
            <pc:docMk/>
            <pc:sldMk cId="1085116855" sldId="292"/>
            <ac:spMk id="8" creationId="{00DFA497-9311-0C5A-F897-BB458405BD04}"/>
          </ac:spMkLst>
        </pc:spChg>
        <pc:picChg chg="add mod">
          <ac:chgData name="Eric J Prebys" userId="2423660181_tp_box_2" providerId="OAuth2" clId="{7A5D5A21-A55B-52FD-95D2-896217ECBE7C}" dt="2025-10-08T15:06:33.311" v="67" actId="1076"/>
          <ac:picMkLst>
            <pc:docMk/>
            <pc:sldMk cId="1085116855" sldId="292"/>
            <ac:picMk id="7" creationId="{23583D2D-DE0B-B7CD-6D8A-BBCF2DD7B52A}"/>
          </ac:picMkLst>
        </pc:picChg>
        <pc:cxnChg chg="add mod">
          <ac:chgData name="Eric J Prebys" userId="2423660181_tp_box_2" providerId="OAuth2" clId="{7A5D5A21-A55B-52FD-95D2-896217ECBE7C}" dt="2025-10-08T15:07:06.275" v="98" actId="14100"/>
          <ac:cxnSpMkLst>
            <pc:docMk/>
            <pc:sldMk cId="1085116855" sldId="292"/>
            <ac:cxnSpMk id="9" creationId="{8B51FC08-6215-E4D7-3532-A6C28E3517CB}"/>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5D641E0-C0FB-FB45-BE20-B5E285E46BDA}" type="datetimeFigureOut">
              <a:rPr lang="en-US" smtClean="0"/>
              <a:t>10/8/25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2CD667F-4C0A-F045-9861-4468224AED64}" type="slidenum">
              <a:rPr lang="en-US" smtClean="0"/>
              <a:t>‹#›</a:t>
            </a:fld>
            <a:endParaRPr lang="en-US"/>
          </a:p>
        </p:txBody>
      </p:sp>
    </p:spTree>
    <p:extLst>
      <p:ext uri="{BB962C8B-B14F-4D97-AF65-F5344CB8AC3E}">
        <p14:creationId xmlns:p14="http://schemas.microsoft.com/office/powerpoint/2010/main" val="36435965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40E8FAF-0EB9-4F3C-9D18-30F5214B3A3C}" type="slidenum">
              <a:rPr lang="en-US"/>
              <a:pPr>
                <a:defRPr/>
              </a:pPr>
              <a:t>‹#›</a:t>
            </a:fld>
            <a:endParaRPr lang="en-US"/>
          </a:p>
        </p:txBody>
      </p:sp>
    </p:spTree>
    <p:extLst>
      <p:ext uri="{BB962C8B-B14F-4D97-AF65-F5344CB8AC3E}">
        <p14:creationId xmlns:p14="http://schemas.microsoft.com/office/powerpoint/2010/main" val="142916878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7D00-7A66-657F-BC1C-C0A63AD43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6927C-1362-1E53-654C-A151159A6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FD14E-682D-53D5-959C-79C8A6DC6F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23F2FB-2C98-178A-29C9-018ECECDD52D}"/>
              </a:ext>
            </a:extLst>
          </p:cNvPr>
          <p:cNvSpPr>
            <a:spLocks noGrp="1"/>
          </p:cNvSpPr>
          <p:nvPr>
            <p:ph type="sldNum" sz="quarter" idx="5"/>
          </p:nvPr>
        </p:nvSpPr>
        <p:spPr/>
        <p:txBody>
          <a:bodyPr/>
          <a:lstStyle/>
          <a:p>
            <a:pPr>
              <a:defRPr/>
            </a:pPr>
            <a:fld id="{840E8FAF-0EB9-4F3C-9D18-30F5214B3A3C}" type="slidenum">
              <a:rPr lang="en-US" smtClean="0"/>
              <a:pPr>
                <a:defRPr/>
              </a:pPr>
              <a:t>15</a:t>
            </a:fld>
            <a:endParaRPr lang="en-US"/>
          </a:p>
        </p:txBody>
      </p:sp>
    </p:spTree>
    <p:extLst>
      <p:ext uri="{BB962C8B-B14F-4D97-AF65-F5344CB8AC3E}">
        <p14:creationId xmlns:p14="http://schemas.microsoft.com/office/powerpoint/2010/main" val="3721973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48882"/>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5582482"/>
            <a:ext cx="6400800" cy="554404"/>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Phy 40, Fall 2025</a:t>
            </a:r>
          </a:p>
        </p:txBody>
      </p:sp>
      <p:sp>
        <p:nvSpPr>
          <p:cNvPr id="5" name="Footer Placeholder 4"/>
          <p:cNvSpPr>
            <a:spLocks noGrp="1"/>
          </p:cNvSpPr>
          <p:nvPr>
            <p:ph type="ftr" sz="quarter" idx="11"/>
          </p:nvPr>
        </p:nvSpPr>
        <p:spPr/>
        <p:txBody>
          <a:bodyPr/>
          <a:lstStyle/>
          <a:p>
            <a:r>
              <a:rPr lang="en-US"/>
              <a:t>Sequences and Sums</a:t>
            </a:r>
          </a:p>
        </p:txBody>
      </p:sp>
      <p:sp>
        <p:nvSpPr>
          <p:cNvPr id="6" name="Slide Number Placeholder 5"/>
          <p:cNvSpPr>
            <a:spLocks noGrp="1"/>
          </p:cNvSpPr>
          <p:nvPr>
            <p:ph type="sldNum" sz="quarter" idx="12"/>
          </p:nvPr>
        </p:nvSpPr>
        <p:spPr/>
        <p:txBody>
          <a:bodyPr/>
          <a:lstStyle/>
          <a:p>
            <a:fld id="{D739C4FB-7D33-419B-8833-D1372BFD11C8}" type="slidenum">
              <a:rPr lang="en-US" smtClean="0"/>
              <a:t>‹#›</a:t>
            </a:fld>
            <a:endParaRPr lang="en-US"/>
          </a:p>
        </p:txBody>
      </p:sp>
      <p:cxnSp>
        <p:nvCxnSpPr>
          <p:cNvPr id="8" name="Straight Connector 7"/>
          <p:cNvCxnSpPr/>
          <p:nvPr/>
        </p:nvCxnSpPr>
        <p:spPr>
          <a:xfrm flipV="1">
            <a:off x="294106" y="5472156"/>
            <a:ext cx="8643661" cy="364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p:cNvSpPr>
            <a:spLocks noGrp="1"/>
          </p:cNvSpPr>
          <p:nvPr>
            <p:ph type="sldNum" sz="quarter" idx="12"/>
          </p:nvPr>
        </p:nvSpPr>
        <p:spPr/>
        <p:txBody>
          <a:bodyPr/>
          <a:lstStyle/>
          <a:p>
            <a:pPr>
              <a:defRPr/>
            </a:pPr>
            <a:fld id="{BCA26155-0DCC-45D2-90B6-32F65F3F6C0F}" type="slidenum">
              <a:rPr lang="en-US" smtClean="0"/>
              <a:pPr>
                <a:defRPr/>
              </a:pPr>
              <a:t>‹#›</a:t>
            </a:fld>
            <a:endParaRPr lang="en-US"/>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Phy 40, Fall 2025</a:t>
            </a:r>
          </a:p>
        </p:txBody>
      </p:sp>
      <p:sp>
        <p:nvSpPr>
          <p:cNvPr id="5" name="Footer Placeholder 4"/>
          <p:cNvSpPr>
            <a:spLocks noGrp="1"/>
          </p:cNvSpPr>
          <p:nvPr>
            <p:ph type="ftr" sz="quarter" idx="11"/>
          </p:nvPr>
        </p:nvSpPr>
        <p:spPr/>
        <p:txBody>
          <a:bodyPr/>
          <a:lstStyle/>
          <a:p>
            <a:r>
              <a:rPr lang="en-US"/>
              <a:t>Sequences and Sums</a:t>
            </a:r>
          </a:p>
        </p:txBody>
      </p:sp>
      <p:sp>
        <p:nvSpPr>
          <p:cNvPr id="6" name="Slide Number Placeholder 5"/>
          <p:cNvSpPr>
            <a:spLocks noGrp="1"/>
          </p:cNvSpPr>
          <p:nvPr>
            <p:ph type="sldNum" sz="quarter" idx="12"/>
          </p:nvPr>
        </p:nvSpPr>
        <p:spPr/>
        <p:txBody>
          <a:bodyPr/>
          <a:lstStyle/>
          <a:p>
            <a:fld id="{D7E63A33-8271-4DD0-9C48-789913D7C115}"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43000"/>
            <a:ext cx="4038600" cy="52486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143000"/>
            <a:ext cx="4038600" cy="52486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Phy 40, Fall 2025</a:t>
            </a:r>
            <a:endParaRPr lang="en-US" dirty="0"/>
          </a:p>
        </p:txBody>
      </p:sp>
      <p:sp>
        <p:nvSpPr>
          <p:cNvPr id="6" name="Footer Placeholder 5"/>
          <p:cNvSpPr>
            <a:spLocks noGrp="1"/>
          </p:cNvSpPr>
          <p:nvPr>
            <p:ph type="ftr" sz="quarter" idx="11"/>
          </p:nvPr>
        </p:nvSpPr>
        <p:spPr/>
        <p:txBody>
          <a:bodyPr/>
          <a:lstStyle/>
          <a:p>
            <a:pPr>
              <a:defRPr/>
            </a:pPr>
            <a:r>
              <a:rPr lang="en-US"/>
              <a:t>Sequences and Sums</a:t>
            </a:r>
            <a:endParaRPr lang="en-US">
              <a:latin typeface="+mn-lt"/>
            </a:endParaRPr>
          </a:p>
        </p:txBody>
      </p:sp>
      <p:sp>
        <p:nvSpPr>
          <p:cNvPr id="7" name="Slide Number Placeholder 6"/>
          <p:cNvSpPr>
            <a:spLocks noGrp="1"/>
          </p:cNvSpPr>
          <p:nvPr>
            <p:ph type="sldNum" sz="quarter" idx="12"/>
          </p:nvPr>
        </p:nvSpPr>
        <p:spPr/>
        <p:txBody>
          <a:bodyPr/>
          <a:lstStyle/>
          <a:p>
            <a:pPr>
              <a:defRPr/>
            </a:pPr>
            <a:fld id="{8D914655-DFE5-45AD-AEB7-B6324F535D89}" type="slidenum">
              <a:rPr lang="en-US" smtClean="0"/>
              <a:pPr>
                <a:defRPr/>
              </a:pPr>
              <a:t>‹#›</a:t>
            </a:fld>
            <a:endParaRPr lang="en-US"/>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Phy 40, Fall 2025</a:t>
            </a:r>
            <a:endParaRPr lang="en-US" dirty="0"/>
          </a:p>
        </p:txBody>
      </p:sp>
      <p:sp>
        <p:nvSpPr>
          <p:cNvPr id="8" name="Footer Placeholder 7"/>
          <p:cNvSpPr>
            <a:spLocks noGrp="1"/>
          </p:cNvSpPr>
          <p:nvPr>
            <p:ph type="ftr" sz="quarter" idx="11"/>
          </p:nvPr>
        </p:nvSpPr>
        <p:spPr/>
        <p:txBody>
          <a:bodyPr/>
          <a:lstStyle/>
          <a:p>
            <a:pPr>
              <a:defRPr/>
            </a:pPr>
            <a:r>
              <a:rPr lang="en-US"/>
              <a:t>Sequences and Sums</a:t>
            </a:r>
            <a:endParaRPr lang="en-US">
              <a:latin typeface="+mn-lt"/>
            </a:endParaRPr>
          </a:p>
        </p:txBody>
      </p:sp>
      <p:sp>
        <p:nvSpPr>
          <p:cNvPr id="9" name="Slide Number Placeholder 8"/>
          <p:cNvSpPr>
            <a:spLocks noGrp="1"/>
          </p:cNvSpPr>
          <p:nvPr>
            <p:ph type="sldNum" sz="quarter" idx="12"/>
          </p:nvPr>
        </p:nvSpPr>
        <p:spPr/>
        <p:txBody>
          <a:bodyPr/>
          <a:lstStyle/>
          <a:p>
            <a:pPr>
              <a:defRPr/>
            </a:pPr>
            <a:fld id="{71013A5A-BD10-4E42-8EDD-42C4A14A642B}" type="slidenum">
              <a:rPr lang="en-US" smtClean="0"/>
              <a:pPr>
                <a:defRPr/>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Phy 40, Fall 2025</a:t>
            </a:r>
            <a:endParaRPr lang="en-US" dirty="0"/>
          </a:p>
        </p:txBody>
      </p:sp>
      <p:sp>
        <p:nvSpPr>
          <p:cNvPr id="4" name="Footer Placeholder 3"/>
          <p:cNvSpPr>
            <a:spLocks noGrp="1"/>
          </p:cNvSpPr>
          <p:nvPr>
            <p:ph type="ftr" sz="quarter" idx="11"/>
          </p:nvPr>
        </p:nvSpPr>
        <p:spPr/>
        <p:txBody>
          <a:bodyPr/>
          <a:lstStyle/>
          <a:p>
            <a:pPr>
              <a:defRPr/>
            </a:pPr>
            <a:r>
              <a:rPr lang="en-US"/>
              <a:t>Sequences and Sums</a:t>
            </a:r>
            <a:endParaRPr lang="en-US">
              <a:latin typeface="+mn-lt"/>
            </a:endParaRPr>
          </a:p>
        </p:txBody>
      </p:sp>
      <p:sp>
        <p:nvSpPr>
          <p:cNvPr id="5" name="Slide Number Placeholder 4"/>
          <p:cNvSpPr>
            <a:spLocks noGrp="1"/>
          </p:cNvSpPr>
          <p:nvPr>
            <p:ph type="sldNum" sz="quarter" idx="12"/>
          </p:nvPr>
        </p:nvSpPr>
        <p:spPr/>
        <p:txBody>
          <a:bodyPr/>
          <a:lstStyle/>
          <a:p>
            <a:pPr>
              <a:defRPr/>
            </a:pPr>
            <a:fld id="{BAB536C3-BB10-4165-8E74-99838CB51702}" type="slidenum">
              <a:rPr lang="en-US" smtClean="0"/>
              <a:pPr>
                <a:defRPr/>
              </a:pPr>
              <a:t>‹#›</a:t>
            </a:fld>
            <a:endParaRPr lang="en-US"/>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Phy 40, Fall 2025</a:t>
            </a:r>
            <a:endParaRPr lang="en-US" dirty="0"/>
          </a:p>
        </p:txBody>
      </p:sp>
      <p:sp>
        <p:nvSpPr>
          <p:cNvPr id="3" name="Footer Placeholder 2"/>
          <p:cNvSpPr>
            <a:spLocks noGrp="1"/>
          </p:cNvSpPr>
          <p:nvPr>
            <p:ph type="ftr" sz="quarter" idx="11"/>
          </p:nvPr>
        </p:nvSpPr>
        <p:spPr/>
        <p:txBody>
          <a:bodyPr/>
          <a:lstStyle/>
          <a:p>
            <a:pPr>
              <a:defRPr/>
            </a:pPr>
            <a:r>
              <a:rPr lang="en-US"/>
              <a:t>Sequences and Sums</a:t>
            </a:r>
            <a:endParaRPr lang="en-US">
              <a:latin typeface="+mn-lt"/>
            </a:endParaRPr>
          </a:p>
        </p:txBody>
      </p:sp>
      <p:sp>
        <p:nvSpPr>
          <p:cNvPr id="4" name="Slide Number Placeholder 3"/>
          <p:cNvSpPr>
            <a:spLocks noGrp="1"/>
          </p:cNvSpPr>
          <p:nvPr>
            <p:ph type="sldNum" sz="quarter" idx="12"/>
          </p:nvPr>
        </p:nvSpPr>
        <p:spPr/>
        <p:txBody>
          <a:bodyPr/>
          <a:lstStyle/>
          <a:p>
            <a:pPr>
              <a:defRPr/>
            </a:pPr>
            <a:fld id="{7A871096-0617-41A5-9758-D80165640925}" type="slidenum">
              <a:rPr lang="en-US" smtClean="0"/>
              <a:pPr>
                <a:defRPr/>
              </a:pPr>
              <a:t>‹#›</a:t>
            </a:fld>
            <a:endParaRPr lang="en-US"/>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Phy 40, Fall 2025</a:t>
            </a:r>
            <a:endParaRPr lang="en-US" dirty="0"/>
          </a:p>
        </p:txBody>
      </p:sp>
      <p:sp>
        <p:nvSpPr>
          <p:cNvPr id="6" name="Footer Placeholder 5"/>
          <p:cNvSpPr>
            <a:spLocks noGrp="1"/>
          </p:cNvSpPr>
          <p:nvPr>
            <p:ph type="ftr" sz="quarter" idx="11"/>
          </p:nvPr>
        </p:nvSpPr>
        <p:spPr/>
        <p:txBody>
          <a:bodyPr/>
          <a:lstStyle/>
          <a:p>
            <a:pPr>
              <a:defRPr/>
            </a:pPr>
            <a:r>
              <a:rPr lang="en-US"/>
              <a:t>Sequences and Sums</a:t>
            </a:r>
            <a:endParaRPr lang="en-US">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Phy 40, Fall 2025</a:t>
            </a:r>
          </a:p>
        </p:txBody>
      </p:sp>
      <p:sp>
        <p:nvSpPr>
          <p:cNvPr id="6" name="Footer Placeholder 5"/>
          <p:cNvSpPr>
            <a:spLocks noGrp="1"/>
          </p:cNvSpPr>
          <p:nvPr>
            <p:ph type="ftr" sz="quarter" idx="11"/>
          </p:nvPr>
        </p:nvSpPr>
        <p:spPr/>
        <p:txBody>
          <a:bodyPr/>
          <a:lstStyle/>
          <a:p>
            <a:pPr>
              <a:defRPr/>
            </a:pPr>
            <a:r>
              <a:rPr lang="en-US"/>
              <a:t>Sequences and Sums</a:t>
            </a:r>
            <a:endParaRPr lang="en-US">
              <a:latin typeface="+mn-lt"/>
            </a:endParaRPr>
          </a:p>
        </p:txBody>
      </p:sp>
      <p:sp>
        <p:nvSpPr>
          <p:cNvPr id="7" name="Slide Number Placeholder 6"/>
          <p:cNvSpPr>
            <a:spLocks noGrp="1"/>
          </p:cNvSpPr>
          <p:nvPr>
            <p:ph type="sldNum" sz="quarter" idx="12"/>
          </p:nvPr>
        </p:nvSpPr>
        <p:spPr/>
        <p:txBody>
          <a:bodyPr/>
          <a:lstStyle/>
          <a:p>
            <a:pPr>
              <a:defRPr/>
            </a:pPr>
            <a:fld id="{F58A0D8F-9A19-4D03-8318-653C6FCD8B95}" type="slidenum">
              <a:rPr lang="en-US" smtClean="0"/>
              <a:pPr>
                <a:defRPr/>
              </a:pPr>
              <a:t>‹#›</a:t>
            </a:fld>
            <a:endParaRPr lang="en-US"/>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p:cNvSpPr>
            <a:spLocks noGrp="1"/>
          </p:cNvSpPr>
          <p:nvPr>
            <p:ph type="sldNum" sz="quarter" idx="12"/>
          </p:nvPr>
        </p:nvSpPr>
        <p:spPr/>
        <p:txBody>
          <a:bodyPr/>
          <a:lstStyle/>
          <a:p>
            <a:pPr>
              <a:defRPr/>
            </a:pPr>
            <a:fld id="{8309CFA1-B09C-442F-85C3-919131D33D24}" type="slidenum">
              <a:rPr lang="en-US" smtClean="0"/>
              <a:pPr>
                <a:defRPr/>
              </a:pPr>
              <a:t>‹#›</a:t>
            </a:fld>
            <a:endParaRPr lang="en-US"/>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Phy 40, Fall 2025</a:t>
            </a:r>
          </a:p>
        </p:txBody>
      </p:sp>
      <p:sp>
        <p:nvSpPr>
          <p:cNvPr id="5" name="Footer Placeholder 4"/>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p:cNvSpPr>
            <a:spLocks noGrp="1"/>
          </p:cNvSpPr>
          <p:nvPr>
            <p:ph type="sldNum" sz="quarter" idx="12"/>
          </p:nvPr>
        </p:nvSpPr>
        <p:spPr/>
        <p:txBody>
          <a:bodyPr/>
          <a:lstStyle/>
          <a:p>
            <a:pPr>
              <a:defRPr/>
            </a:pPr>
            <a:fld id="{05B137E2-35D0-4667-9362-8260FF57AB09}" type="slidenum">
              <a:rPr lang="en-US" smtClean="0"/>
              <a:pPr>
                <a:defRPr/>
              </a:pPr>
              <a:t>‹#›</a:t>
            </a:fld>
            <a:endParaRPr lang="en-US"/>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41713" y="471448"/>
            <a:ext cx="8229600" cy="6282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41713" y="1182021"/>
            <a:ext cx="8229600" cy="54417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r>
              <a:rPr lang="en-US"/>
              <a:t>Phy 40, Fall 2025</a:t>
            </a:r>
            <a:endParaRPr lang="en-US" dirty="0"/>
          </a:p>
        </p:txBody>
      </p:sp>
      <p:sp>
        <p:nvSpPr>
          <p:cNvPr id="5" name="Footer Placeholder 4"/>
          <p:cNvSpPr>
            <a:spLocks noGrp="1"/>
          </p:cNvSpPr>
          <p:nvPr>
            <p:ph type="ftr" sz="quarter" idx="3"/>
          </p:nvPr>
        </p:nvSpPr>
        <p:spPr>
          <a:xfrm>
            <a:off x="3429000" y="18288"/>
            <a:ext cx="440944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a:t>Sequences and Sums</a:t>
            </a:r>
            <a:endParaRPr lang="en-US" dirty="0">
              <a:latin typeface="+mn-lt"/>
            </a:endParaRPr>
          </a:p>
        </p:txBody>
      </p:sp>
      <p:sp>
        <p:nvSpPr>
          <p:cNvPr id="6" name="Slide Number Placeholder 5"/>
          <p:cNvSpPr>
            <a:spLocks noGrp="1"/>
          </p:cNvSpPr>
          <p:nvPr>
            <p:ph type="sldNum" sz="quarter" idx="4"/>
          </p:nvPr>
        </p:nvSpPr>
        <p:spPr>
          <a:xfrm>
            <a:off x="7909560" y="18288"/>
            <a:ext cx="77724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61210FB4-E372-466D-A3EB-21FD966A10F2}" type="slidenum">
              <a:rPr lang="en-US" smtClean="0"/>
              <a:pPr>
                <a:defRPr/>
              </a:pPr>
              <a:t>‹#›</a:t>
            </a:fld>
            <a:endParaRPr lang="en-US" dirty="0"/>
          </a:p>
        </p:txBody>
      </p:sp>
      <p:sp>
        <p:nvSpPr>
          <p:cNvPr id="9" name="Text Box 11"/>
          <p:cNvSpPr txBox="1">
            <a:spLocks noChangeArrowheads="1"/>
          </p:cNvSpPr>
          <p:nvPr userDrawn="1"/>
        </p:nvSpPr>
        <p:spPr bwMode="auto">
          <a:xfrm>
            <a:off x="381000" y="6553200"/>
            <a:ext cx="1676400" cy="579438"/>
          </a:xfrm>
          <a:prstGeom prst="rect">
            <a:avLst/>
          </a:prstGeom>
          <a:noFill/>
          <a:ln w="9525">
            <a:noFill/>
            <a:miter lim="800000"/>
            <a:headEnd/>
            <a:tailEnd/>
          </a:ln>
          <a:effectLst/>
        </p:spPr>
        <p:txBody>
          <a:bodyPr>
            <a:spAutoFit/>
          </a:bodyPr>
          <a:lstStyle/>
          <a:p>
            <a:pPr>
              <a:spcBef>
                <a:spcPct val="50000"/>
              </a:spcBef>
              <a:defRPr/>
            </a:pPr>
            <a:endParaRPr lang="en-US"/>
          </a:p>
        </p:txBody>
      </p:sp>
      <p:pic>
        <p:nvPicPr>
          <p:cNvPr id="13" name="Picture 12"/>
          <p:cNvPicPr>
            <a:picLocks noChangeAspect="1"/>
          </p:cNvPicPr>
          <p:nvPr userDrawn="1"/>
        </p:nvPicPr>
        <p:blipFill>
          <a:blip r:embed="rId13"/>
          <a:stretch>
            <a:fillRect/>
          </a:stretch>
        </p:blipFill>
        <p:spPr>
          <a:xfrm>
            <a:off x="8781336" y="1"/>
            <a:ext cx="362663" cy="370830"/>
          </a:xfrm>
          <a:prstGeom prst="rect">
            <a:avLst/>
          </a:prstGeom>
        </p:spPr>
      </p:pic>
    </p:spTree>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Lst>
  <p:transition>
    <p:fade thruBlk="1"/>
  </p:transition>
  <p:hf hdr="0"/>
  <p:txStyles>
    <p:titleStyle>
      <a:lvl1pPr algn="l" defTabSz="914400" rtl="0" eaLnBrk="1" latinLnBrk="0" hangingPunct="1">
        <a:spcBef>
          <a:spcPct val="0"/>
        </a:spcBef>
        <a:buNone/>
        <a:defRPr sz="32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ctrTitle"/>
          </p:nvPr>
        </p:nvSpPr>
        <p:spPr>
          <a:xfrm>
            <a:off x="269575" y="2192572"/>
            <a:ext cx="8465346" cy="900608"/>
          </a:xfrm>
        </p:spPr>
        <p:txBody>
          <a:bodyPr/>
          <a:lstStyle/>
          <a:p>
            <a:pPr eaLnBrk="1" hangingPunct="1">
              <a:defRPr/>
            </a:pPr>
            <a:r>
              <a:rPr lang="en-US" dirty="0"/>
              <a:t>Mathematical series and sums</a:t>
            </a:r>
          </a:p>
        </p:txBody>
      </p:sp>
      <p:sp>
        <p:nvSpPr>
          <p:cNvPr id="8195" name="Rectangle 5"/>
          <p:cNvSpPr>
            <a:spLocks noGrp="1" noChangeArrowheads="1"/>
          </p:cNvSpPr>
          <p:nvPr>
            <p:ph type="subTitle" idx="1"/>
          </p:nvPr>
        </p:nvSpPr>
        <p:spPr>
          <a:xfrm>
            <a:off x="266816" y="5547869"/>
            <a:ext cx="6400800" cy="527762"/>
          </a:xfrm>
        </p:spPr>
        <p:txBody>
          <a:bodyPr/>
          <a:lstStyle/>
          <a:p>
            <a:pPr eaLnBrk="1" hangingPunct="1"/>
            <a:r>
              <a:rPr lang="en-US" dirty="0"/>
              <a:t>Eric Prebys</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D982C-8E00-BC65-ADA6-422853F71F5D}"/>
              </a:ext>
            </a:extLst>
          </p:cNvPr>
          <p:cNvSpPr>
            <a:spLocks noGrp="1"/>
          </p:cNvSpPr>
          <p:nvPr>
            <p:ph type="title"/>
          </p:nvPr>
        </p:nvSpPr>
        <p:spPr/>
        <p:txBody>
          <a:bodyPr/>
          <a:lstStyle/>
          <a:p>
            <a:r>
              <a:rPr lang="en-US" dirty="0"/>
              <a:t>Digression: Euler Relations</a:t>
            </a:r>
          </a:p>
        </p:txBody>
      </p:sp>
      <p:sp>
        <p:nvSpPr>
          <p:cNvPr id="3" name="Content Placeholder 2">
            <a:extLst>
              <a:ext uri="{FF2B5EF4-FFF2-40B4-BE49-F238E27FC236}">
                <a16:creationId xmlns:a16="http://schemas.microsoft.com/office/drawing/2014/main" id="{3EFD7845-1B0B-7EDB-2DD6-06D8D7494642}"/>
              </a:ext>
            </a:extLst>
          </p:cNvPr>
          <p:cNvSpPr>
            <a:spLocks noGrp="1"/>
          </p:cNvSpPr>
          <p:nvPr>
            <p:ph idx="1"/>
          </p:nvPr>
        </p:nvSpPr>
        <p:spPr/>
        <p:txBody>
          <a:bodyPr/>
          <a:lstStyle/>
          <a:p>
            <a:r>
              <a:rPr lang="en-US" dirty="0"/>
              <a:t>If we put an imaginary argument into the exponential expansion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You’ll use these relationships a lot!</a:t>
            </a:r>
          </a:p>
        </p:txBody>
      </p:sp>
      <p:sp>
        <p:nvSpPr>
          <p:cNvPr id="4" name="Date Placeholder 3">
            <a:extLst>
              <a:ext uri="{FF2B5EF4-FFF2-40B4-BE49-F238E27FC236}">
                <a16:creationId xmlns:a16="http://schemas.microsoft.com/office/drawing/2014/main" id="{E362C8F6-83F1-085A-4854-BE87904F8A0A}"/>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A9F310EB-CFA3-6125-32D0-2BB5A2EB5A55}"/>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FD5B712D-51B6-05E1-CFDC-DD404D5CBF9F}"/>
              </a:ext>
            </a:extLst>
          </p:cNvPr>
          <p:cNvSpPr>
            <a:spLocks noGrp="1"/>
          </p:cNvSpPr>
          <p:nvPr>
            <p:ph type="sldNum" sz="quarter" idx="12"/>
          </p:nvPr>
        </p:nvSpPr>
        <p:spPr/>
        <p:txBody>
          <a:bodyPr/>
          <a:lstStyle/>
          <a:p>
            <a:pPr>
              <a:defRPr/>
            </a:pPr>
            <a:fld id="{BCA26155-0DCC-45D2-90B6-32F65F3F6C0F}" type="slidenum">
              <a:rPr lang="en-US" smtClean="0"/>
              <a:pPr>
                <a:defRPr/>
              </a:pPr>
              <a:t>2</a:t>
            </a:fld>
            <a:endParaRPr lang="en-US"/>
          </a:p>
        </p:txBody>
      </p:sp>
      <p:pic>
        <p:nvPicPr>
          <p:cNvPr id="7" name="Picture 6">
            <a:extLst>
              <a:ext uri="{FF2B5EF4-FFF2-40B4-BE49-F238E27FC236}">
                <a16:creationId xmlns:a16="http://schemas.microsoft.com/office/drawing/2014/main" id="{A6D3E75F-2909-8DC7-7FDA-B1D8BAB8F078}"/>
              </a:ext>
            </a:extLst>
          </p:cNvPr>
          <p:cNvPicPr>
            <a:picLocks noChangeAspect="1"/>
          </p:cNvPicPr>
          <p:nvPr/>
        </p:nvPicPr>
        <p:blipFill>
          <a:blip r:embed="rId2"/>
          <a:stretch>
            <a:fillRect/>
          </a:stretch>
        </p:blipFill>
        <p:spPr>
          <a:xfrm>
            <a:off x="914400" y="1974891"/>
            <a:ext cx="7772400" cy="3855980"/>
          </a:xfrm>
          <a:prstGeom prst="rect">
            <a:avLst/>
          </a:prstGeom>
        </p:spPr>
      </p:pic>
    </p:spTree>
    <p:extLst>
      <p:ext uri="{BB962C8B-B14F-4D97-AF65-F5344CB8AC3E}">
        <p14:creationId xmlns:p14="http://schemas.microsoft.com/office/powerpoint/2010/main" val="2172867078"/>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23F3-3546-24F8-3F47-7FB2196CEC02}"/>
              </a:ext>
            </a:extLst>
          </p:cNvPr>
          <p:cNvSpPr>
            <a:spLocks noGrp="1"/>
          </p:cNvSpPr>
          <p:nvPr>
            <p:ph type="title"/>
          </p:nvPr>
        </p:nvSpPr>
        <p:spPr/>
        <p:txBody>
          <a:bodyPr/>
          <a:lstStyle/>
          <a:p>
            <a:r>
              <a:rPr lang="en-US" dirty="0"/>
              <a:t>Mathematical Sequence</a:t>
            </a:r>
          </a:p>
        </p:txBody>
      </p:sp>
      <p:sp>
        <p:nvSpPr>
          <p:cNvPr id="3" name="Content Placeholder 2">
            <a:extLst>
              <a:ext uri="{FF2B5EF4-FFF2-40B4-BE49-F238E27FC236}">
                <a16:creationId xmlns:a16="http://schemas.microsoft.com/office/drawing/2014/main" id="{20AD90B9-8D94-4EF2-262B-22F3865B9F9F}"/>
              </a:ext>
            </a:extLst>
          </p:cNvPr>
          <p:cNvSpPr>
            <a:spLocks noGrp="1"/>
          </p:cNvSpPr>
          <p:nvPr>
            <p:ph idx="1"/>
          </p:nvPr>
        </p:nvSpPr>
        <p:spPr/>
        <p:txBody>
          <a:bodyPr/>
          <a:lstStyle/>
          <a:p>
            <a:r>
              <a:rPr lang="en-US" dirty="0"/>
              <a:t>In mathematics, a sequence is an enumerated collection of objects in which repetitions are allowed and order matters</a:t>
            </a:r>
          </a:p>
          <a:p>
            <a:pPr lvl="1"/>
            <a:r>
              <a:rPr lang="en-US" dirty="0"/>
              <a:t>May be finite or infinite</a:t>
            </a:r>
          </a:p>
          <a:p>
            <a:r>
              <a:rPr lang="en-US" dirty="0"/>
              <a:t>Example: Prime numbers</a:t>
            </a:r>
          </a:p>
          <a:p>
            <a:pPr lvl="1"/>
            <a:r>
              <a:rPr lang="en-US" dirty="0"/>
              <a:t>1,3,5,7,11,13,17,19</a:t>
            </a:r>
          </a:p>
          <a:p>
            <a:pPr lvl="1"/>
            <a:r>
              <a:rPr lang="en-US" dirty="0"/>
              <a:t>No known generation or recursion algorithm for ALL prime numbers.</a:t>
            </a:r>
          </a:p>
          <a:p>
            <a:r>
              <a:rPr lang="en-US" dirty="0"/>
              <a:t>Generation algorithms</a:t>
            </a:r>
          </a:p>
          <a:p>
            <a:pPr lvl="1"/>
            <a:r>
              <a:rPr lang="en-US" dirty="0"/>
              <a:t>Index-based:  Each element is determined by some function of the index, independently from the other terms</a:t>
            </a:r>
          </a:p>
          <a:p>
            <a:pPr lvl="1"/>
            <a:r>
              <a:rPr lang="en-US" dirty="0"/>
              <a:t>Recursive: Each element is determined from some combination of the previous terms</a:t>
            </a:r>
          </a:p>
        </p:txBody>
      </p:sp>
      <p:sp>
        <p:nvSpPr>
          <p:cNvPr id="4" name="Date Placeholder 3">
            <a:extLst>
              <a:ext uri="{FF2B5EF4-FFF2-40B4-BE49-F238E27FC236}">
                <a16:creationId xmlns:a16="http://schemas.microsoft.com/office/drawing/2014/main" id="{F28F1970-823D-303F-C50A-09DA9E9666E5}"/>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42D49147-5EF9-C649-98F9-B714AC4BAEEA}"/>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4E743194-1116-8016-A829-A2CDE0F7D1FF}"/>
              </a:ext>
            </a:extLst>
          </p:cNvPr>
          <p:cNvSpPr>
            <a:spLocks noGrp="1"/>
          </p:cNvSpPr>
          <p:nvPr>
            <p:ph type="sldNum" sz="quarter" idx="12"/>
          </p:nvPr>
        </p:nvSpPr>
        <p:spPr/>
        <p:txBody>
          <a:bodyPr/>
          <a:lstStyle/>
          <a:p>
            <a:pPr>
              <a:defRPr/>
            </a:pPr>
            <a:fld id="{BCA26155-0DCC-45D2-90B6-32F65F3F6C0F}" type="slidenum">
              <a:rPr lang="en-US" smtClean="0"/>
              <a:pPr>
                <a:defRPr/>
              </a:pPr>
              <a:t>3</a:t>
            </a:fld>
            <a:endParaRPr lang="en-US"/>
          </a:p>
        </p:txBody>
      </p:sp>
    </p:spTree>
    <p:extLst>
      <p:ext uri="{BB962C8B-B14F-4D97-AF65-F5344CB8AC3E}">
        <p14:creationId xmlns:p14="http://schemas.microsoft.com/office/powerpoint/2010/main" val="2166227997"/>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4DC54-F269-DA5A-627A-B659067957D8}"/>
              </a:ext>
            </a:extLst>
          </p:cNvPr>
          <p:cNvSpPr>
            <a:spLocks noGrp="1"/>
          </p:cNvSpPr>
          <p:nvPr>
            <p:ph type="title"/>
          </p:nvPr>
        </p:nvSpPr>
        <p:spPr/>
        <p:txBody>
          <a:bodyPr/>
          <a:lstStyle/>
          <a:p>
            <a:r>
              <a:rPr lang="en-US" dirty="0"/>
              <a:t>Recursive Example: Fibonacci Series</a:t>
            </a:r>
          </a:p>
        </p:txBody>
      </p:sp>
      <p:sp>
        <p:nvSpPr>
          <p:cNvPr id="3" name="Content Placeholder 2">
            <a:extLst>
              <a:ext uri="{FF2B5EF4-FFF2-40B4-BE49-F238E27FC236}">
                <a16:creationId xmlns:a16="http://schemas.microsoft.com/office/drawing/2014/main" id="{A361866C-AB34-8BC3-C532-3AE47D064667}"/>
              </a:ext>
            </a:extLst>
          </p:cNvPr>
          <p:cNvSpPr>
            <a:spLocks noGrp="1"/>
          </p:cNvSpPr>
          <p:nvPr>
            <p:ph idx="1"/>
          </p:nvPr>
        </p:nvSpPr>
        <p:spPr/>
        <p:txBody>
          <a:bodyPr/>
          <a:lstStyle/>
          <a:p>
            <a:r>
              <a:rPr lang="en-US" dirty="0"/>
              <a:t>From Wikipedia:</a:t>
            </a:r>
          </a:p>
          <a:p>
            <a:pPr lvl="1"/>
            <a:r>
              <a:rPr lang="en-US" dirty="0"/>
              <a:t>“The Fibonacci numbers were first described in Indian mathematics as early as 200 BC in work by Pingala on enumerating possible patterns of Sanskrit poetry formed from syllables of two lengths. They are named after the Italian mathematician Leonardo of Pisa, also known as Fibonacci, who introduced the sequence to Western European mathematics in his 1202 book Liber Abaci.”</a:t>
            </a:r>
          </a:p>
          <a:p>
            <a:r>
              <a:rPr lang="en-US" dirty="0"/>
              <a:t>The Fibonacci Series begins with 0 and 1, and after that, each term is the sum of the previous two terms:</a:t>
            </a:r>
          </a:p>
          <a:p>
            <a:pPr lvl="1"/>
            <a:endParaRPr lang="en-US" dirty="0"/>
          </a:p>
          <a:p>
            <a:pPr lvl="1"/>
            <a:endParaRPr lang="en-US" dirty="0"/>
          </a:p>
          <a:p>
            <a:pPr lvl="1"/>
            <a:endParaRPr lang="en-US" dirty="0"/>
          </a:p>
        </p:txBody>
      </p:sp>
      <p:sp>
        <p:nvSpPr>
          <p:cNvPr id="4" name="Date Placeholder 3">
            <a:extLst>
              <a:ext uri="{FF2B5EF4-FFF2-40B4-BE49-F238E27FC236}">
                <a16:creationId xmlns:a16="http://schemas.microsoft.com/office/drawing/2014/main" id="{8C3CC078-A75A-EE3F-0CE4-B802E05C3E3B}"/>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BCD65416-5D41-6B71-0433-60F58D4A90BE}"/>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78C2FE3A-9601-F03F-3EB3-8921502D12DD}"/>
              </a:ext>
            </a:extLst>
          </p:cNvPr>
          <p:cNvSpPr>
            <a:spLocks noGrp="1"/>
          </p:cNvSpPr>
          <p:nvPr>
            <p:ph type="sldNum" sz="quarter" idx="12"/>
          </p:nvPr>
        </p:nvSpPr>
        <p:spPr/>
        <p:txBody>
          <a:bodyPr/>
          <a:lstStyle/>
          <a:p>
            <a:pPr>
              <a:defRPr/>
            </a:pPr>
            <a:fld id="{BCA26155-0DCC-45D2-90B6-32F65F3F6C0F}" type="slidenum">
              <a:rPr lang="en-US" smtClean="0"/>
              <a:pPr>
                <a:defRPr/>
              </a:pPr>
              <a:t>4</a:t>
            </a:fld>
            <a:endParaRPr lang="en-US"/>
          </a:p>
        </p:txBody>
      </p:sp>
      <p:pic>
        <p:nvPicPr>
          <p:cNvPr id="9" name="Picture 8">
            <a:extLst>
              <a:ext uri="{FF2B5EF4-FFF2-40B4-BE49-F238E27FC236}">
                <a16:creationId xmlns:a16="http://schemas.microsoft.com/office/drawing/2014/main" id="{CDE73955-BBB8-AED8-5F2D-C6EE65774989}"/>
              </a:ext>
            </a:extLst>
          </p:cNvPr>
          <p:cNvPicPr>
            <a:picLocks noChangeAspect="1"/>
          </p:cNvPicPr>
          <p:nvPr/>
        </p:nvPicPr>
        <p:blipFill>
          <a:blip r:embed="rId2"/>
          <a:stretch>
            <a:fillRect/>
          </a:stretch>
        </p:blipFill>
        <p:spPr>
          <a:xfrm>
            <a:off x="2594363" y="4603903"/>
            <a:ext cx="3924300" cy="1638300"/>
          </a:xfrm>
          <a:prstGeom prst="rect">
            <a:avLst/>
          </a:prstGeom>
        </p:spPr>
      </p:pic>
    </p:spTree>
    <p:extLst>
      <p:ext uri="{BB962C8B-B14F-4D97-AF65-F5344CB8AC3E}">
        <p14:creationId xmlns:p14="http://schemas.microsoft.com/office/powerpoint/2010/main" val="1104148226"/>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38E87-98BD-D9DA-2255-34221047C474}"/>
              </a:ext>
            </a:extLst>
          </p:cNvPr>
          <p:cNvSpPr>
            <a:spLocks noGrp="1"/>
          </p:cNvSpPr>
          <p:nvPr>
            <p:ph type="title"/>
          </p:nvPr>
        </p:nvSpPr>
        <p:spPr/>
        <p:txBody>
          <a:bodyPr>
            <a:normAutofit fontScale="90000"/>
          </a:bodyPr>
          <a:lstStyle/>
          <a:p>
            <a:r>
              <a:rPr lang="en-US" dirty="0"/>
              <a:t>Programming hints to generate Fibonacci Sequence</a:t>
            </a:r>
          </a:p>
        </p:txBody>
      </p:sp>
      <p:sp>
        <p:nvSpPr>
          <p:cNvPr id="3" name="Content Placeholder 2">
            <a:extLst>
              <a:ext uri="{FF2B5EF4-FFF2-40B4-BE49-F238E27FC236}">
                <a16:creationId xmlns:a16="http://schemas.microsoft.com/office/drawing/2014/main" id="{284EC6F5-3FCE-F54B-C983-C4E070708E30}"/>
              </a:ext>
            </a:extLst>
          </p:cNvPr>
          <p:cNvSpPr>
            <a:spLocks noGrp="1"/>
          </p:cNvSpPr>
          <p:nvPr>
            <p:ph idx="1"/>
          </p:nvPr>
        </p:nvSpPr>
        <p:spPr/>
        <p:txBody>
          <a:bodyPr/>
          <a:lstStyle/>
          <a:p>
            <a:r>
              <a:rPr lang="en-US" dirty="0"/>
              <a:t>The first two elements are special</a:t>
            </a:r>
          </a:p>
          <a:p>
            <a:endParaRPr lang="en-US" dirty="0"/>
          </a:p>
          <a:p>
            <a:endParaRPr lang="en-US" dirty="0"/>
          </a:p>
          <a:p>
            <a:endParaRPr lang="en-US" dirty="0"/>
          </a:p>
          <a:p>
            <a:r>
              <a:rPr lang="en-US" dirty="0"/>
              <a:t>If you want values beyond the 2</a:t>
            </a:r>
            <a:r>
              <a:rPr lang="en-US" baseline="30000" dirty="0"/>
              <a:t>nd</a:t>
            </a:r>
            <a:r>
              <a:rPr lang="en-US" dirty="0"/>
              <a:t>, you will need to repeat a recursive algorithm </a:t>
            </a:r>
            <a:r>
              <a:rPr lang="en-US" i="1" dirty="0"/>
              <a:t>n-2</a:t>
            </a:r>
            <a:r>
              <a:rPr lang="en-US" dirty="0"/>
              <a:t> times </a:t>
            </a:r>
          </a:p>
          <a:p>
            <a:endParaRPr lang="en-US" dirty="0"/>
          </a:p>
          <a:p>
            <a:endParaRPr lang="en-US" dirty="0"/>
          </a:p>
          <a:p>
            <a:endParaRPr lang="en-US" dirty="0"/>
          </a:p>
          <a:p>
            <a:endParaRPr lang="en-US" dirty="0"/>
          </a:p>
          <a:p>
            <a:r>
              <a:rPr lang="en-US" dirty="0"/>
              <a:t>Then return the final value of </a:t>
            </a:r>
            <a:r>
              <a:rPr lang="en-US" i="1" dirty="0"/>
              <a:t>F</a:t>
            </a:r>
            <a:r>
              <a:rPr lang="en-US" i="1" baseline="-25000" dirty="0"/>
              <a:t>c</a:t>
            </a:r>
          </a:p>
        </p:txBody>
      </p:sp>
      <p:sp>
        <p:nvSpPr>
          <p:cNvPr id="4" name="Date Placeholder 3">
            <a:extLst>
              <a:ext uri="{FF2B5EF4-FFF2-40B4-BE49-F238E27FC236}">
                <a16:creationId xmlns:a16="http://schemas.microsoft.com/office/drawing/2014/main" id="{EA7D37FB-738A-532F-CCA3-C73A2D541C3C}"/>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6B4D2236-7CA3-E81F-5674-EF4D067BFA22}"/>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ACB4220E-53F5-4BD8-3B95-2B319D9A1042}"/>
              </a:ext>
            </a:extLst>
          </p:cNvPr>
          <p:cNvSpPr>
            <a:spLocks noGrp="1"/>
          </p:cNvSpPr>
          <p:nvPr>
            <p:ph type="sldNum" sz="quarter" idx="12"/>
          </p:nvPr>
        </p:nvSpPr>
        <p:spPr/>
        <p:txBody>
          <a:bodyPr/>
          <a:lstStyle/>
          <a:p>
            <a:pPr>
              <a:defRPr/>
            </a:pPr>
            <a:fld id="{BCA26155-0DCC-45D2-90B6-32F65F3F6C0F}" type="slidenum">
              <a:rPr lang="en-US" smtClean="0"/>
              <a:pPr>
                <a:defRPr/>
              </a:pPr>
              <a:t>5</a:t>
            </a:fld>
            <a:endParaRPr lang="en-US"/>
          </a:p>
        </p:txBody>
      </p:sp>
      <p:pic>
        <p:nvPicPr>
          <p:cNvPr id="7" name="Picture 6">
            <a:extLst>
              <a:ext uri="{FF2B5EF4-FFF2-40B4-BE49-F238E27FC236}">
                <a16:creationId xmlns:a16="http://schemas.microsoft.com/office/drawing/2014/main" id="{795C890B-3DCA-DAC8-E9FE-BD082D355BDF}"/>
              </a:ext>
            </a:extLst>
          </p:cNvPr>
          <p:cNvPicPr>
            <a:picLocks noChangeAspect="1"/>
          </p:cNvPicPr>
          <p:nvPr/>
        </p:nvPicPr>
        <p:blipFill>
          <a:blip r:embed="rId2"/>
          <a:stretch>
            <a:fillRect/>
          </a:stretch>
        </p:blipFill>
        <p:spPr>
          <a:xfrm>
            <a:off x="2972136" y="1837856"/>
            <a:ext cx="1824716" cy="812569"/>
          </a:xfrm>
          <a:prstGeom prst="rect">
            <a:avLst/>
          </a:prstGeom>
        </p:spPr>
      </p:pic>
      <p:pic>
        <p:nvPicPr>
          <p:cNvPr id="8" name="Picture 7">
            <a:extLst>
              <a:ext uri="{FF2B5EF4-FFF2-40B4-BE49-F238E27FC236}">
                <a16:creationId xmlns:a16="http://schemas.microsoft.com/office/drawing/2014/main" id="{96E1FE09-6A48-2CC9-D295-A80F42B40227}"/>
              </a:ext>
            </a:extLst>
          </p:cNvPr>
          <p:cNvPicPr>
            <a:picLocks noChangeAspect="1"/>
          </p:cNvPicPr>
          <p:nvPr/>
        </p:nvPicPr>
        <p:blipFill>
          <a:blip r:embed="rId3"/>
          <a:stretch>
            <a:fillRect/>
          </a:stretch>
        </p:blipFill>
        <p:spPr>
          <a:xfrm>
            <a:off x="2972136" y="3998495"/>
            <a:ext cx="1929647" cy="1277176"/>
          </a:xfrm>
          <a:prstGeom prst="rect">
            <a:avLst/>
          </a:prstGeom>
        </p:spPr>
      </p:pic>
      <p:sp>
        <p:nvSpPr>
          <p:cNvPr id="9" name="TextBox 8">
            <a:extLst>
              <a:ext uri="{FF2B5EF4-FFF2-40B4-BE49-F238E27FC236}">
                <a16:creationId xmlns:a16="http://schemas.microsoft.com/office/drawing/2014/main" id="{C8FBD2B8-FBF2-CC2C-CBDC-B9A1E871A5FD}"/>
              </a:ext>
            </a:extLst>
          </p:cNvPr>
          <p:cNvSpPr txBox="1"/>
          <p:nvPr/>
        </p:nvSpPr>
        <p:spPr>
          <a:xfrm>
            <a:off x="5633720" y="4175418"/>
            <a:ext cx="2430988" cy="923330"/>
          </a:xfrm>
          <a:prstGeom prst="rect">
            <a:avLst/>
          </a:prstGeom>
          <a:noFill/>
        </p:spPr>
        <p:txBody>
          <a:bodyPr wrap="square" rtlCol="0">
            <a:spAutoFit/>
          </a:bodyPr>
          <a:lstStyle/>
          <a:p>
            <a:r>
              <a:rPr lang="en-US" sz="1800" dirty="0">
                <a:latin typeface="+mn-lt"/>
              </a:rPr>
              <a:t>Why is it important that I do it in exactly this order?</a:t>
            </a:r>
          </a:p>
        </p:txBody>
      </p:sp>
    </p:spTree>
    <p:extLst>
      <p:ext uri="{BB962C8B-B14F-4D97-AF65-F5344CB8AC3E}">
        <p14:creationId xmlns:p14="http://schemas.microsoft.com/office/powerpoint/2010/main" val="1340039226"/>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64593-C295-FE5E-89BF-10783F58C63F}"/>
              </a:ext>
            </a:extLst>
          </p:cNvPr>
          <p:cNvSpPr>
            <a:spLocks noGrp="1"/>
          </p:cNvSpPr>
          <p:nvPr>
            <p:ph type="title"/>
          </p:nvPr>
        </p:nvSpPr>
        <p:spPr/>
        <p:txBody>
          <a:bodyPr/>
          <a:lstStyle/>
          <a:p>
            <a:r>
              <a:rPr lang="en-US" dirty="0"/>
              <a:t>Alternative Approaches</a:t>
            </a:r>
          </a:p>
        </p:txBody>
      </p:sp>
      <p:sp>
        <p:nvSpPr>
          <p:cNvPr id="3" name="Content Placeholder 2">
            <a:extLst>
              <a:ext uri="{FF2B5EF4-FFF2-40B4-BE49-F238E27FC236}">
                <a16:creationId xmlns:a16="http://schemas.microsoft.com/office/drawing/2014/main" id="{9CAF39E2-AC74-03E2-D595-32AEB91D2F16}"/>
              </a:ext>
            </a:extLst>
          </p:cNvPr>
          <p:cNvSpPr>
            <a:spLocks noGrp="1"/>
          </p:cNvSpPr>
          <p:nvPr>
            <p:ph idx="1"/>
          </p:nvPr>
        </p:nvSpPr>
        <p:spPr/>
        <p:txBody>
          <a:bodyPr/>
          <a:lstStyle/>
          <a:p>
            <a:r>
              <a:rPr lang="en-US" dirty="0"/>
              <a:t>You’re not being asked to do this yet, but you could generate the entire Fibonacci Sequence up to n by filling an array</a:t>
            </a:r>
          </a:p>
          <a:p>
            <a:endParaRPr lang="en-US" dirty="0"/>
          </a:p>
          <a:p>
            <a:pPr marL="0" indent="0" algn="ctr">
              <a:buNone/>
            </a:pPr>
            <a:r>
              <a:rPr lang="en-US" dirty="0"/>
              <a:t>(Go to notebook)</a:t>
            </a:r>
          </a:p>
        </p:txBody>
      </p:sp>
      <p:sp>
        <p:nvSpPr>
          <p:cNvPr id="4" name="Date Placeholder 3">
            <a:extLst>
              <a:ext uri="{FF2B5EF4-FFF2-40B4-BE49-F238E27FC236}">
                <a16:creationId xmlns:a16="http://schemas.microsoft.com/office/drawing/2014/main" id="{3925D802-0B27-406B-E5B0-364A1D51ACF3}"/>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AACDDA7A-FF53-3EEF-3967-1B1CCDC4EAA3}"/>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350A7B23-20A3-F1A0-843B-BAEF27FC2E05}"/>
              </a:ext>
            </a:extLst>
          </p:cNvPr>
          <p:cNvSpPr>
            <a:spLocks noGrp="1"/>
          </p:cNvSpPr>
          <p:nvPr>
            <p:ph type="sldNum" sz="quarter" idx="12"/>
          </p:nvPr>
        </p:nvSpPr>
        <p:spPr/>
        <p:txBody>
          <a:bodyPr/>
          <a:lstStyle/>
          <a:p>
            <a:pPr>
              <a:defRPr/>
            </a:pPr>
            <a:fld id="{BCA26155-0DCC-45D2-90B6-32F65F3F6C0F}" type="slidenum">
              <a:rPr lang="en-US" smtClean="0"/>
              <a:pPr>
                <a:defRPr/>
              </a:pPr>
              <a:t>6</a:t>
            </a:fld>
            <a:endParaRPr lang="en-US"/>
          </a:p>
        </p:txBody>
      </p:sp>
    </p:spTree>
    <p:extLst>
      <p:ext uri="{BB962C8B-B14F-4D97-AF65-F5344CB8AC3E}">
        <p14:creationId xmlns:p14="http://schemas.microsoft.com/office/powerpoint/2010/main" val="733895992"/>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9D2F2-209E-4533-A670-5454039CA312}"/>
              </a:ext>
            </a:extLst>
          </p:cNvPr>
          <p:cNvSpPr>
            <a:spLocks noGrp="1"/>
          </p:cNvSpPr>
          <p:nvPr>
            <p:ph type="title"/>
          </p:nvPr>
        </p:nvSpPr>
        <p:spPr/>
        <p:txBody>
          <a:bodyPr/>
          <a:lstStyle/>
          <a:p>
            <a:r>
              <a:rPr lang="en-US" dirty="0"/>
              <a:t>Visualizing the Fibonacci Series</a:t>
            </a:r>
          </a:p>
        </p:txBody>
      </p:sp>
      <p:sp>
        <p:nvSpPr>
          <p:cNvPr id="3" name="Content Placeholder 2">
            <a:extLst>
              <a:ext uri="{FF2B5EF4-FFF2-40B4-BE49-F238E27FC236}">
                <a16:creationId xmlns:a16="http://schemas.microsoft.com/office/drawing/2014/main" id="{003EAA35-015C-03FC-CDD1-1830AD4C1227}"/>
              </a:ext>
            </a:extLst>
          </p:cNvPr>
          <p:cNvSpPr>
            <a:spLocks noGrp="1"/>
          </p:cNvSpPr>
          <p:nvPr>
            <p:ph idx="1"/>
          </p:nvPr>
        </p:nvSpPr>
        <p:spPr/>
        <p:txBody>
          <a:bodyPr/>
          <a:lstStyle/>
          <a:p>
            <a:r>
              <a:rPr lang="en-US" dirty="0"/>
              <a:t>Fibonacci Tiling</a:t>
            </a:r>
          </a:p>
          <a:p>
            <a:endParaRPr lang="en-US" dirty="0"/>
          </a:p>
          <a:p>
            <a:endParaRPr lang="en-US" dirty="0"/>
          </a:p>
          <a:p>
            <a:endParaRPr lang="en-US" dirty="0"/>
          </a:p>
          <a:p>
            <a:endParaRPr lang="en-US" dirty="0"/>
          </a:p>
          <a:p>
            <a:endParaRPr lang="en-US" dirty="0"/>
          </a:p>
          <a:p>
            <a:r>
              <a:rPr lang="en-US" dirty="0"/>
              <a:t>Fibonacci Spiral (Approximation of Golden Spiral)</a:t>
            </a:r>
          </a:p>
        </p:txBody>
      </p:sp>
      <p:sp>
        <p:nvSpPr>
          <p:cNvPr id="4" name="Date Placeholder 3">
            <a:extLst>
              <a:ext uri="{FF2B5EF4-FFF2-40B4-BE49-F238E27FC236}">
                <a16:creationId xmlns:a16="http://schemas.microsoft.com/office/drawing/2014/main" id="{C84BBC99-5491-1F91-C88A-D1D3830C4BA4}"/>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FD2FBF3D-EAFE-D7C2-493C-4B1956F5A55A}"/>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1A4C11BA-4D9F-BF8B-6ACF-7F29573A9E08}"/>
              </a:ext>
            </a:extLst>
          </p:cNvPr>
          <p:cNvSpPr>
            <a:spLocks noGrp="1"/>
          </p:cNvSpPr>
          <p:nvPr>
            <p:ph type="sldNum" sz="quarter" idx="12"/>
          </p:nvPr>
        </p:nvSpPr>
        <p:spPr/>
        <p:txBody>
          <a:bodyPr/>
          <a:lstStyle/>
          <a:p>
            <a:pPr>
              <a:defRPr/>
            </a:pPr>
            <a:fld id="{BCA26155-0DCC-45D2-90B6-32F65F3F6C0F}" type="slidenum">
              <a:rPr lang="en-US" smtClean="0"/>
              <a:pPr>
                <a:defRPr/>
              </a:pPr>
              <a:t>7</a:t>
            </a:fld>
            <a:endParaRPr lang="en-US"/>
          </a:p>
        </p:txBody>
      </p:sp>
      <p:pic>
        <p:nvPicPr>
          <p:cNvPr id="1026" name="Picture 2">
            <a:extLst>
              <a:ext uri="{FF2B5EF4-FFF2-40B4-BE49-F238E27FC236}">
                <a16:creationId xmlns:a16="http://schemas.microsoft.com/office/drawing/2014/main" id="{3309AF2E-9630-12D0-D513-DD88BEC95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8719" y="1785183"/>
            <a:ext cx="3057661" cy="1895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54DDC97-C894-2FA5-3D18-47C85006B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8720" y="4418052"/>
            <a:ext cx="3175000" cy="196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26244"/>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5E337-1D3B-183A-6629-3BF07E8F674E}"/>
              </a:ext>
            </a:extLst>
          </p:cNvPr>
          <p:cNvSpPr>
            <a:spLocks noGrp="1"/>
          </p:cNvSpPr>
          <p:nvPr>
            <p:ph type="title"/>
          </p:nvPr>
        </p:nvSpPr>
        <p:spPr/>
        <p:txBody>
          <a:bodyPr/>
          <a:lstStyle/>
          <a:p>
            <a:r>
              <a:rPr lang="en-US" dirty="0"/>
              <a:t>Digression: The Golden Ratio</a:t>
            </a:r>
          </a:p>
        </p:txBody>
      </p:sp>
      <p:sp>
        <p:nvSpPr>
          <p:cNvPr id="3" name="Content Placeholder 2">
            <a:extLst>
              <a:ext uri="{FF2B5EF4-FFF2-40B4-BE49-F238E27FC236}">
                <a16:creationId xmlns:a16="http://schemas.microsoft.com/office/drawing/2014/main" id="{A93F7ABB-DC7C-E53E-957D-5200A01D4FD2}"/>
              </a:ext>
            </a:extLst>
          </p:cNvPr>
          <p:cNvSpPr>
            <a:spLocks noGrp="1"/>
          </p:cNvSpPr>
          <p:nvPr>
            <p:ph idx="1"/>
          </p:nvPr>
        </p:nvSpPr>
        <p:spPr/>
        <p:txBody>
          <a:bodyPr>
            <a:normAutofit/>
          </a:bodyPr>
          <a:lstStyle/>
          <a:p>
            <a:r>
              <a:rPr lang="en-US" sz="2000" dirty="0"/>
              <a:t>In mathematics, two quantities are in the golden ratio if their ratio is the same as the ratio of their sum to the larger of the two quantities.</a:t>
            </a:r>
          </a:p>
        </p:txBody>
      </p:sp>
      <p:sp>
        <p:nvSpPr>
          <p:cNvPr id="4" name="Date Placeholder 3">
            <a:extLst>
              <a:ext uri="{FF2B5EF4-FFF2-40B4-BE49-F238E27FC236}">
                <a16:creationId xmlns:a16="http://schemas.microsoft.com/office/drawing/2014/main" id="{77105467-5F30-992E-E4B1-F6FE3F9859B6}"/>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3F9E85EA-56CB-1D1E-8894-5942478C8987}"/>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C64EAA3D-09F1-F041-685E-5A2003732CA2}"/>
              </a:ext>
            </a:extLst>
          </p:cNvPr>
          <p:cNvSpPr>
            <a:spLocks noGrp="1"/>
          </p:cNvSpPr>
          <p:nvPr>
            <p:ph type="sldNum" sz="quarter" idx="12"/>
          </p:nvPr>
        </p:nvSpPr>
        <p:spPr/>
        <p:txBody>
          <a:bodyPr/>
          <a:lstStyle/>
          <a:p>
            <a:pPr>
              <a:defRPr/>
            </a:pPr>
            <a:fld id="{BCA26155-0DCC-45D2-90B6-32F65F3F6C0F}" type="slidenum">
              <a:rPr lang="en-US" smtClean="0"/>
              <a:pPr>
                <a:defRPr/>
              </a:pPr>
              <a:t>8</a:t>
            </a:fld>
            <a:endParaRPr lang="en-US"/>
          </a:p>
        </p:txBody>
      </p:sp>
      <p:pic>
        <p:nvPicPr>
          <p:cNvPr id="8" name="Picture 7">
            <a:extLst>
              <a:ext uri="{FF2B5EF4-FFF2-40B4-BE49-F238E27FC236}">
                <a16:creationId xmlns:a16="http://schemas.microsoft.com/office/drawing/2014/main" id="{E6F62266-FF97-4D34-8663-FADFCEFB82C5}"/>
              </a:ext>
            </a:extLst>
          </p:cNvPr>
          <p:cNvPicPr>
            <a:picLocks noChangeAspect="1"/>
          </p:cNvPicPr>
          <p:nvPr/>
        </p:nvPicPr>
        <p:blipFill>
          <a:blip r:embed="rId2"/>
          <a:stretch>
            <a:fillRect/>
          </a:stretch>
        </p:blipFill>
        <p:spPr>
          <a:xfrm>
            <a:off x="1457960" y="2265301"/>
            <a:ext cx="6451600" cy="3530600"/>
          </a:xfrm>
          <a:prstGeom prst="rect">
            <a:avLst/>
          </a:prstGeom>
        </p:spPr>
      </p:pic>
    </p:spTree>
    <p:extLst>
      <p:ext uri="{BB962C8B-B14F-4D97-AF65-F5344CB8AC3E}">
        <p14:creationId xmlns:p14="http://schemas.microsoft.com/office/powerpoint/2010/main" val="123181215"/>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5AC4-B5BA-730C-9B54-4F41A4A4843C}"/>
              </a:ext>
            </a:extLst>
          </p:cNvPr>
          <p:cNvSpPr>
            <a:spLocks noGrp="1"/>
          </p:cNvSpPr>
          <p:nvPr>
            <p:ph type="title"/>
          </p:nvPr>
        </p:nvSpPr>
        <p:spPr/>
        <p:txBody>
          <a:bodyPr/>
          <a:lstStyle/>
          <a:p>
            <a:r>
              <a:rPr lang="en-US" dirty="0"/>
              <a:t>The Fibonacci Series and the Golden Ratio</a:t>
            </a:r>
          </a:p>
        </p:txBody>
      </p:sp>
      <p:sp>
        <p:nvSpPr>
          <p:cNvPr id="3" name="Content Placeholder 2">
            <a:extLst>
              <a:ext uri="{FF2B5EF4-FFF2-40B4-BE49-F238E27FC236}">
                <a16:creationId xmlns:a16="http://schemas.microsoft.com/office/drawing/2014/main" id="{666C6385-D139-171D-E53B-675998D7DDE0}"/>
              </a:ext>
            </a:extLst>
          </p:cNvPr>
          <p:cNvSpPr>
            <a:spLocks noGrp="1"/>
          </p:cNvSpPr>
          <p:nvPr>
            <p:ph idx="1"/>
          </p:nvPr>
        </p:nvSpPr>
        <p:spPr/>
        <p:txBody>
          <a:bodyPr>
            <a:normAutofit/>
          </a:bodyPr>
          <a:lstStyle/>
          <a:p>
            <a:r>
              <a:rPr lang="en-US" sz="2000" dirty="0"/>
              <a:t>The ratio of subsequent terms in the Fibonacci Sequence quickly converges on the Golden Ratio (go to notebook)</a:t>
            </a:r>
          </a:p>
        </p:txBody>
      </p:sp>
      <p:sp>
        <p:nvSpPr>
          <p:cNvPr id="4" name="Date Placeholder 3">
            <a:extLst>
              <a:ext uri="{FF2B5EF4-FFF2-40B4-BE49-F238E27FC236}">
                <a16:creationId xmlns:a16="http://schemas.microsoft.com/office/drawing/2014/main" id="{C9F8F2FA-4B00-28D8-ADF3-08938A6A3BF5}"/>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8EAA7DB5-4BD6-15D9-701F-06C46663FA31}"/>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59339E5B-FBEF-3A49-6AA8-8CB86BEF747A}"/>
              </a:ext>
            </a:extLst>
          </p:cNvPr>
          <p:cNvSpPr>
            <a:spLocks noGrp="1"/>
          </p:cNvSpPr>
          <p:nvPr>
            <p:ph type="sldNum" sz="quarter" idx="12"/>
          </p:nvPr>
        </p:nvSpPr>
        <p:spPr/>
        <p:txBody>
          <a:bodyPr/>
          <a:lstStyle/>
          <a:p>
            <a:pPr>
              <a:defRPr/>
            </a:pPr>
            <a:fld id="{BCA26155-0DCC-45D2-90B6-32F65F3F6C0F}" type="slidenum">
              <a:rPr lang="en-US" smtClean="0"/>
              <a:pPr>
                <a:defRPr/>
              </a:pPr>
              <a:t>9</a:t>
            </a:fld>
            <a:endParaRPr lang="en-US"/>
          </a:p>
        </p:txBody>
      </p:sp>
      <p:pic>
        <p:nvPicPr>
          <p:cNvPr id="7" name="Picture 6">
            <a:extLst>
              <a:ext uri="{FF2B5EF4-FFF2-40B4-BE49-F238E27FC236}">
                <a16:creationId xmlns:a16="http://schemas.microsoft.com/office/drawing/2014/main" id="{B95192E0-8BE7-E570-7DC6-77D85EBF31DA}"/>
              </a:ext>
            </a:extLst>
          </p:cNvPr>
          <p:cNvPicPr>
            <a:picLocks noChangeAspect="1"/>
          </p:cNvPicPr>
          <p:nvPr/>
        </p:nvPicPr>
        <p:blipFill>
          <a:blip r:embed="rId2"/>
          <a:stretch>
            <a:fillRect/>
          </a:stretch>
        </p:blipFill>
        <p:spPr>
          <a:xfrm>
            <a:off x="323097" y="3843328"/>
            <a:ext cx="2019300" cy="685800"/>
          </a:xfrm>
          <a:prstGeom prst="rect">
            <a:avLst/>
          </a:prstGeom>
        </p:spPr>
      </p:pic>
      <p:pic>
        <p:nvPicPr>
          <p:cNvPr id="8" name="Picture 7">
            <a:extLst>
              <a:ext uri="{FF2B5EF4-FFF2-40B4-BE49-F238E27FC236}">
                <a16:creationId xmlns:a16="http://schemas.microsoft.com/office/drawing/2014/main" id="{13C41BDE-898C-82CC-8443-02EDD5491198}"/>
              </a:ext>
            </a:extLst>
          </p:cNvPr>
          <p:cNvPicPr>
            <a:picLocks noChangeAspect="1"/>
          </p:cNvPicPr>
          <p:nvPr/>
        </p:nvPicPr>
        <p:blipFill>
          <a:blip r:embed="rId3"/>
          <a:stretch>
            <a:fillRect/>
          </a:stretch>
        </p:blipFill>
        <p:spPr>
          <a:xfrm>
            <a:off x="2877965" y="2218544"/>
            <a:ext cx="6086153" cy="4621168"/>
          </a:xfrm>
          <a:prstGeom prst="rect">
            <a:avLst/>
          </a:prstGeom>
        </p:spPr>
      </p:pic>
    </p:spTree>
    <p:extLst>
      <p:ext uri="{BB962C8B-B14F-4D97-AF65-F5344CB8AC3E}">
        <p14:creationId xmlns:p14="http://schemas.microsoft.com/office/powerpoint/2010/main" val="1473803633"/>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702AA-20D2-7101-20A5-146C4140FFEE}"/>
              </a:ext>
            </a:extLst>
          </p:cNvPr>
          <p:cNvSpPr>
            <a:spLocks noGrp="1"/>
          </p:cNvSpPr>
          <p:nvPr>
            <p:ph type="title"/>
          </p:nvPr>
        </p:nvSpPr>
        <p:spPr/>
        <p:txBody>
          <a:bodyPr/>
          <a:lstStyle/>
          <a:p>
            <a:r>
              <a:rPr lang="en-US" dirty="0"/>
              <a:t>Fibonacci Series and Perfect Triangles</a:t>
            </a:r>
          </a:p>
        </p:txBody>
      </p:sp>
      <p:sp>
        <p:nvSpPr>
          <p:cNvPr id="3" name="Content Placeholder 2">
            <a:extLst>
              <a:ext uri="{FF2B5EF4-FFF2-40B4-BE49-F238E27FC236}">
                <a16:creationId xmlns:a16="http://schemas.microsoft.com/office/drawing/2014/main" id="{2DEE86F3-8656-CC29-7037-BB66138BE916}"/>
              </a:ext>
            </a:extLst>
          </p:cNvPr>
          <p:cNvSpPr>
            <a:spLocks noGrp="1"/>
          </p:cNvSpPr>
          <p:nvPr>
            <p:ph idx="1"/>
          </p:nvPr>
        </p:nvSpPr>
        <p:spPr/>
        <p:txBody>
          <a:bodyPr/>
          <a:lstStyle/>
          <a:p>
            <a:r>
              <a:rPr lang="en-US" dirty="0"/>
              <a:t>Starting with the value 5, every 2</a:t>
            </a:r>
            <a:r>
              <a:rPr lang="en-US" baseline="30000" dirty="0"/>
              <a:t>nd</a:t>
            </a:r>
            <a:r>
              <a:rPr lang="en-US" dirty="0"/>
              <a:t> number in the Fibonacci sequence is a perfect triangle, </a:t>
            </a:r>
            <a:r>
              <a:rPr lang="en-US" dirty="0" err="1"/>
              <a:t>ie</a:t>
            </a:r>
            <a:endParaRPr lang="en-US" dirty="0"/>
          </a:p>
          <a:p>
            <a:endParaRPr lang="en-US" dirty="0"/>
          </a:p>
          <a:p>
            <a:endParaRPr lang="en-US" dirty="0"/>
          </a:p>
          <a:p>
            <a:r>
              <a:rPr lang="en-US" dirty="0"/>
              <a:t>First two</a:t>
            </a:r>
          </a:p>
          <a:p>
            <a:endParaRPr lang="en-US" dirty="0"/>
          </a:p>
          <a:p>
            <a:endParaRPr lang="en-US" dirty="0"/>
          </a:p>
          <a:p>
            <a:r>
              <a:rPr lang="en-US" dirty="0"/>
              <a:t>You’ll find the next two in lab, and I recommend you just write a loop that looks at</a:t>
            </a:r>
            <a:br>
              <a:rPr lang="en-US" dirty="0"/>
            </a:br>
            <a:br>
              <a:rPr lang="en-US" dirty="0"/>
            </a:br>
            <a:br>
              <a:rPr lang="en-US" dirty="0"/>
            </a:br>
            <a:r>
              <a:rPr lang="en-US" dirty="0"/>
              <a:t>for </a:t>
            </a:r>
            <a:r>
              <a:rPr lang="en-US" dirty="0" err="1"/>
              <a:t>i</a:t>
            </a:r>
            <a:r>
              <a:rPr lang="en-US" dirty="0"/>
              <a:t>&lt;n and see which value you gives you and integer</a:t>
            </a:r>
          </a:p>
          <a:p>
            <a:endParaRPr lang="en-US" dirty="0"/>
          </a:p>
        </p:txBody>
      </p:sp>
      <p:sp>
        <p:nvSpPr>
          <p:cNvPr id="4" name="Date Placeholder 3">
            <a:extLst>
              <a:ext uri="{FF2B5EF4-FFF2-40B4-BE49-F238E27FC236}">
                <a16:creationId xmlns:a16="http://schemas.microsoft.com/office/drawing/2014/main" id="{1BB1E9D8-22E1-93B8-9575-BD5A3A9E2860}"/>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6CB23C38-0491-6EC9-C23D-73E8D1D7FDBD}"/>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CC82D096-E11F-6D19-53D4-B8A28C8191E2}"/>
              </a:ext>
            </a:extLst>
          </p:cNvPr>
          <p:cNvSpPr>
            <a:spLocks noGrp="1"/>
          </p:cNvSpPr>
          <p:nvPr>
            <p:ph type="sldNum" sz="quarter" idx="12"/>
          </p:nvPr>
        </p:nvSpPr>
        <p:spPr/>
        <p:txBody>
          <a:bodyPr/>
          <a:lstStyle/>
          <a:p>
            <a:pPr>
              <a:defRPr/>
            </a:pPr>
            <a:fld id="{BCA26155-0DCC-45D2-90B6-32F65F3F6C0F}" type="slidenum">
              <a:rPr lang="en-US" smtClean="0"/>
              <a:pPr>
                <a:defRPr/>
              </a:pPr>
              <a:t>10</a:t>
            </a:fld>
            <a:endParaRPr lang="en-US"/>
          </a:p>
        </p:txBody>
      </p:sp>
      <p:pic>
        <p:nvPicPr>
          <p:cNvPr id="7" name="Picture 6">
            <a:extLst>
              <a:ext uri="{FF2B5EF4-FFF2-40B4-BE49-F238E27FC236}">
                <a16:creationId xmlns:a16="http://schemas.microsoft.com/office/drawing/2014/main" id="{EB819225-A54F-4AE8-4CFB-391B5BDE5A92}"/>
              </a:ext>
            </a:extLst>
          </p:cNvPr>
          <p:cNvPicPr>
            <a:picLocks noChangeAspect="1"/>
          </p:cNvPicPr>
          <p:nvPr/>
        </p:nvPicPr>
        <p:blipFill>
          <a:blip r:embed="rId2"/>
          <a:stretch>
            <a:fillRect/>
          </a:stretch>
        </p:blipFill>
        <p:spPr>
          <a:xfrm>
            <a:off x="1665885" y="2171605"/>
            <a:ext cx="5092700" cy="355600"/>
          </a:xfrm>
          <a:prstGeom prst="rect">
            <a:avLst/>
          </a:prstGeom>
        </p:spPr>
      </p:pic>
      <p:pic>
        <p:nvPicPr>
          <p:cNvPr id="8" name="Picture 7">
            <a:extLst>
              <a:ext uri="{FF2B5EF4-FFF2-40B4-BE49-F238E27FC236}">
                <a16:creationId xmlns:a16="http://schemas.microsoft.com/office/drawing/2014/main" id="{D3E4EC53-88F2-B027-F85A-E792E6B806CD}"/>
              </a:ext>
            </a:extLst>
          </p:cNvPr>
          <p:cNvPicPr>
            <a:picLocks noChangeAspect="1"/>
          </p:cNvPicPr>
          <p:nvPr/>
        </p:nvPicPr>
        <p:blipFill>
          <a:blip r:embed="rId3"/>
          <a:stretch>
            <a:fillRect/>
          </a:stretch>
        </p:blipFill>
        <p:spPr>
          <a:xfrm>
            <a:off x="2914963" y="3317304"/>
            <a:ext cx="1905000" cy="800100"/>
          </a:xfrm>
          <a:prstGeom prst="rect">
            <a:avLst/>
          </a:prstGeom>
        </p:spPr>
      </p:pic>
      <p:pic>
        <p:nvPicPr>
          <p:cNvPr id="9" name="Picture 8">
            <a:extLst>
              <a:ext uri="{FF2B5EF4-FFF2-40B4-BE49-F238E27FC236}">
                <a16:creationId xmlns:a16="http://schemas.microsoft.com/office/drawing/2014/main" id="{1FD4B7AE-7B89-7878-146C-D5BF4CB80F9C}"/>
              </a:ext>
            </a:extLst>
          </p:cNvPr>
          <p:cNvPicPr>
            <a:picLocks noChangeAspect="1"/>
          </p:cNvPicPr>
          <p:nvPr/>
        </p:nvPicPr>
        <p:blipFill>
          <a:blip r:embed="rId4"/>
          <a:stretch>
            <a:fillRect/>
          </a:stretch>
        </p:blipFill>
        <p:spPr>
          <a:xfrm>
            <a:off x="3302000" y="5180073"/>
            <a:ext cx="1270000" cy="381000"/>
          </a:xfrm>
          <a:prstGeom prst="rect">
            <a:avLst/>
          </a:prstGeom>
        </p:spPr>
      </p:pic>
    </p:spTree>
    <p:extLst>
      <p:ext uri="{BB962C8B-B14F-4D97-AF65-F5344CB8AC3E}">
        <p14:creationId xmlns:p14="http://schemas.microsoft.com/office/powerpoint/2010/main" val="3851615846"/>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761B7-4E66-01FC-AFAD-92668D65CCD3}"/>
              </a:ext>
            </a:extLst>
          </p:cNvPr>
          <p:cNvSpPr>
            <a:spLocks noGrp="1"/>
          </p:cNvSpPr>
          <p:nvPr>
            <p:ph type="title"/>
          </p:nvPr>
        </p:nvSpPr>
        <p:spPr/>
        <p:txBody>
          <a:bodyPr/>
          <a:lstStyle/>
          <a:p>
            <a:r>
              <a:rPr lang="en-US" dirty="0"/>
              <a:t>Arithmetic Series</a:t>
            </a:r>
          </a:p>
        </p:txBody>
      </p:sp>
      <p:sp>
        <p:nvSpPr>
          <p:cNvPr id="3" name="Content Placeholder 2">
            <a:extLst>
              <a:ext uri="{FF2B5EF4-FFF2-40B4-BE49-F238E27FC236}">
                <a16:creationId xmlns:a16="http://schemas.microsoft.com/office/drawing/2014/main" id="{4F6AE363-BE06-9137-6269-3C8F4124A6E5}"/>
              </a:ext>
            </a:extLst>
          </p:cNvPr>
          <p:cNvSpPr>
            <a:spLocks noGrp="1"/>
          </p:cNvSpPr>
          <p:nvPr>
            <p:ph idx="1"/>
          </p:nvPr>
        </p:nvSpPr>
        <p:spPr/>
        <p:txBody>
          <a:bodyPr/>
          <a:lstStyle/>
          <a:p>
            <a:r>
              <a:rPr lang="en-US" dirty="0"/>
              <a:t>An arithmetic series is one in which the difference between successive terms are constant, then the terms are all summed.</a:t>
            </a:r>
          </a:p>
          <a:p>
            <a:endParaRPr lang="en-US" dirty="0"/>
          </a:p>
          <a:p>
            <a:endParaRPr lang="en-US" dirty="0"/>
          </a:p>
          <a:p>
            <a:endParaRPr lang="en-US" dirty="0"/>
          </a:p>
          <a:p>
            <a:endParaRPr lang="en-US" dirty="0"/>
          </a:p>
          <a:p>
            <a:r>
              <a:rPr lang="en-US" dirty="0"/>
              <a:t>Which sums to the average of the first and last terms times the number of terms.</a:t>
            </a:r>
          </a:p>
        </p:txBody>
      </p:sp>
      <p:sp>
        <p:nvSpPr>
          <p:cNvPr id="4" name="Date Placeholder 3">
            <a:extLst>
              <a:ext uri="{FF2B5EF4-FFF2-40B4-BE49-F238E27FC236}">
                <a16:creationId xmlns:a16="http://schemas.microsoft.com/office/drawing/2014/main" id="{DE33840A-0B2E-1A73-AABA-FE1107548613}"/>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E692A5AE-301D-8EAB-4B49-F51C3346A801}"/>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CA8C079A-788D-FAD9-91D8-A3E0999760BF}"/>
              </a:ext>
            </a:extLst>
          </p:cNvPr>
          <p:cNvSpPr>
            <a:spLocks noGrp="1"/>
          </p:cNvSpPr>
          <p:nvPr>
            <p:ph type="sldNum" sz="quarter" idx="12"/>
          </p:nvPr>
        </p:nvSpPr>
        <p:spPr/>
        <p:txBody>
          <a:bodyPr/>
          <a:lstStyle/>
          <a:p>
            <a:pPr>
              <a:defRPr/>
            </a:pPr>
            <a:fld id="{BCA26155-0DCC-45D2-90B6-32F65F3F6C0F}" type="slidenum">
              <a:rPr lang="en-US" smtClean="0"/>
              <a:pPr>
                <a:defRPr/>
              </a:pPr>
              <a:t>11</a:t>
            </a:fld>
            <a:endParaRPr lang="en-US"/>
          </a:p>
        </p:txBody>
      </p:sp>
      <p:pic>
        <p:nvPicPr>
          <p:cNvPr id="7" name="Picture 6">
            <a:extLst>
              <a:ext uri="{FF2B5EF4-FFF2-40B4-BE49-F238E27FC236}">
                <a16:creationId xmlns:a16="http://schemas.microsoft.com/office/drawing/2014/main" id="{1D07BED1-8013-54A3-C819-2E588DBB4CA5}"/>
              </a:ext>
            </a:extLst>
          </p:cNvPr>
          <p:cNvPicPr>
            <a:picLocks noChangeAspect="1"/>
          </p:cNvPicPr>
          <p:nvPr/>
        </p:nvPicPr>
        <p:blipFill>
          <a:blip r:embed="rId2"/>
          <a:stretch>
            <a:fillRect/>
          </a:stretch>
        </p:blipFill>
        <p:spPr>
          <a:xfrm>
            <a:off x="828894" y="2681365"/>
            <a:ext cx="7080666" cy="1036195"/>
          </a:xfrm>
          <a:prstGeom prst="rect">
            <a:avLst/>
          </a:prstGeom>
        </p:spPr>
      </p:pic>
      <p:pic>
        <p:nvPicPr>
          <p:cNvPr id="8" name="Picture 7">
            <a:extLst>
              <a:ext uri="{FF2B5EF4-FFF2-40B4-BE49-F238E27FC236}">
                <a16:creationId xmlns:a16="http://schemas.microsoft.com/office/drawing/2014/main" id="{70874A28-5550-F4FC-E8A8-5985B1365E4E}"/>
              </a:ext>
            </a:extLst>
          </p:cNvPr>
          <p:cNvPicPr>
            <a:picLocks noChangeAspect="1"/>
          </p:cNvPicPr>
          <p:nvPr/>
        </p:nvPicPr>
        <p:blipFill>
          <a:blip r:embed="rId3"/>
          <a:stretch>
            <a:fillRect/>
          </a:stretch>
        </p:blipFill>
        <p:spPr>
          <a:xfrm>
            <a:off x="2432050" y="5216904"/>
            <a:ext cx="3845874" cy="1036194"/>
          </a:xfrm>
          <a:prstGeom prst="rect">
            <a:avLst/>
          </a:prstGeom>
        </p:spPr>
      </p:pic>
    </p:spTree>
    <p:extLst>
      <p:ext uri="{BB962C8B-B14F-4D97-AF65-F5344CB8AC3E}">
        <p14:creationId xmlns:p14="http://schemas.microsoft.com/office/powerpoint/2010/main" val="3847952273"/>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EDE5F-F5B3-C243-C094-3E2A1860EA8B}"/>
              </a:ext>
            </a:extLst>
          </p:cNvPr>
          <p:cNvSpPr>
            <a:spLocks noGrp="1"/>
          </p:cNvSpPr>
          <p:nvPr>
            <p:ph type="title"/>
          </p:nvPr>
        </p:nvSpPr>
        <p:spPr/>
        <p:txBody>
          <a:bodyPr/>
          <a:lstStyle/>
          <a:p>
            <a:r>
              <a:rPr lang="en-US" dirty="0"/>
              <a:t>Geometric Series</a:t>
            </a:r>
          </a:p>
        </p:txBody>
      </p:sp>
      <p:sp>
        <p:nvSpPr>
          <p:cNvPr id="3" name="Content Placeholder 2">
            <a:extLst>
              <a:ext uri="{FF2B5EF4-FFF2-40B4-BE49-F238E27FC236}">
                <a16:creationId xmlns:a16="http://schemas.microsoft.com/office/drawing/2014/main" id="{B2450CD6-EF1E-D9C5-2FE0-5A9422EBB2BB}"/>
              </a:ext>
            </a:extLst>
          </p:cNvPr>
          <p:cNvSpPr>
            <a:spLocks noGrp="1"/>
          </p:cNvSpPr>
          <p:nvPr>
            <p:ph idx="1"/>
          </p:nvPr>
        </p:nvSpPr>
        <p:spPr/>
        <p:txBody>
          <a:bodyPr/>
          <a:lstStyle/>
          <a:p>
            <a:r>
              <a:rPr lang="en-US" dirty="0"/>
              <a:t>A geometric series is one in which the terms are powers</a:t>
            </a:r>
          </a:p>
          <a:p>
            <a:endParaRPr lang="en-US" dirty="0"/>
          </a:p>
          <a:p>
            <a:endParaRPr lang="en-US" dirty="0"/>
          </a:p>
          <a:p>
            <a:endParaRPr lang="en-US" dirty="0"/>
          </a:p>
          <a:p>
            <a:r>
              <a:rPr lang="en-US" dirty="0"/>
              <a:t>Note</a:t>
            </a:r>
          </a:p>
        </p:txBody>
      </p:sp>
      <p:sp>
        <p:nvSpPr>
          <p:cNvPr id="4" name="Date Placeholder 3">
            <a:extLst>
              <a:ext uri="{FF2B5EF4-FFF2-40B4-BE49-F238E27FC236}">
                <a16:creationId xmlns:a16="http://schemas.microsoft.com/office/drawing/2014/main" id="{84D934C4-102C-40EA-6692-3B3C1B47BA22}"/>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5601A133-E439-A919-EEE4-927C8431E967}"/>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FD63BFEA-D659-7DA4-3A5E-B324B01756FD}"/>
              </a:ext>
            </a:extLst>
          </p:cNvPr>
          <p:cNvSpPr>
            <a:spLocks noGrp="1"/>
          </p:cNvSpPr>
          <p:nvPr>
            <p:ph type="sldNum" sz="quarter" idx="12"/>
          </p:nvPr>
        </p:nvSpPr>
        <p:spPr/>
        <p:txBody>
          <a:bodyPr/>
          <a:lstStyle/>
          <a:p>
            <a:pPr>
              <a:defRPr/>
            </a:pPr>
            <a:fld id="{BCA26155-0DCC-45D2-90B6-32F65F3F6C0F}" type="slidenum">
              <a:rPr lang="en-US" smtClean="0"/>
              <a:pPr>
                <a:defRPr/>
              </a:pPr>
              <a:t>12</a:t>
            </a:fld>
            <a:endParaRPr lang="en-US"/>
          </a:p>
        </p:txBody>
      </p:sp>
      <p:pic>
        <p:nvPicPr>
          <p:cNvPr id="8" name="Picture 7">
            <a:extLst>
              <a:ext uri="{FF2B5EF4-FFF2-40B4-BE49-F238E27FC236}">
                <a16:creationId xmlns:a16="http://schemas.microsoft.com/office/drawing/2014/main" id="{B1DCB7D3-EB08-1E99-FD94-36966C907CE4}"/>
              </a:ext>
            </a:extLst>
          </p:cNvPr>
          <p:cNvPicPr>
            <a:picLocks noChangeAspect="1"/>
          </p:cNvPicPr>
          <p:nvPr/>
        </p:nvPicPr>
        <p:blipFill>
          <a:blip r:embed="rId2"/>
          <a:stretch>
            <a:fillRect/>
          </a:stretch>
        </p:blipFill>
        <p:spPr>
          <a:xfrm>
            <a:off x="1421463" y="1879287"/>
            <a:ext cx="5829584" cy="983834"/>
          </a:xfrm>
          <a:prstGeom prst="rect">
            <a:avLst/>
          </a:prstGeom>
        </p:spPr>
      </p:pic>
      <p:pic>
        <p:nvPicPr>
          <p:cNvPr id="10" name="Picture 9">
            <a:extLst>
              <a:ext uri="{FF2B5EF4-FFF2-40B4-BE49-F238E27FC236}">
                <a16:creationId xmlns:a16="http://schemas.microsoft.com/office/drawing/2014/main" id="{F3CEE2C6-AB06-D0E6-93AB-4EA190A19E8A}"/>
              </a:ext>
            </a:extLst>
          </p:cNvPr>
          <p:cNvPicPr>
            <a:picLocks noChangeAspect="1"/>
          </p:cNvPicPr>
          <p:nvPr/>
        </p:nvPicPr>
        <p:blipFill>
          <a:blip r:embed="rId3"/>
          <a:stretch>
            <a:fillRect/>
          </a:stretch>
        </p:blipFill>
        <p:spPr>
          <a:xfrm>
            <a:off x="1092799" y="3994880"/>
            <a:ext cx="6745641" cy="1317384"/>
          </a:xfrm>
          <a:prstGeom prst="rect">
            <a:avLst/>
          </a:prstGeom>
        </p:spPr>
      </p:pic>
    </p:spTree>
    <p:extLst>
      <p:ext uri="{BB962C8B-B14F-4D97-AF65-F5344CB8AC3E}">
        <p14:creationId xmlns:p14="http://schemas.microsoft.com/office/powerpoint/2010/main" val="1031527578"/>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70B93-7108-6C5A-3E80-FF55CEC16E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EA7D0-E780-613E-8E29-4EE1858C9010}"/>
              </a:ext>
            </a:extLst>
          </p:cNvPr>
          <p:cNvSpPr>
            <a:spLocks noGrp="1"/>
          </p:cNvSpPr>
          <p:nvPr>
            <p:ph type="title"/>
          </p:nvPr>
        </p:nvSpPr>
        <p:spPr/>
        <p:txBody>
          <a:bodyPr>
            <a:normAutofit/>
          </a:bodyPr>
          <a:lstStyle/>
          <a:p>
            <a:r>
              <a:rPr lang="en-US" dirty="0"/>
              <a:t>Taylor Expansion (you’ll use this a lot)</a:t>
            </a:r>
          </a:p>
        </p:txBody>
      </p:sp>
      <p:sp>
        <p:nvSpPr>
          <p:cNvPr id="3" name="Content Placeholder 2">
            <a:extLst>
              <a:ext uri="{FF2B5EF4-FFF2-40B4-BE49-F238E27FC236}">
                <a16:creationId xmlns:a16="http://schemas.microsoft.com/office/drawing/2014/main" id="{9237F21A-7D99-92D9-9192-A62CCDEBD630}"/>
              </a:ext>
            </a:extLst>
          </p:cNvPr>
          <p:cNvSpPr>
            <a:spLocks noGrp="1"/>
          </p:cNvSpPr>
          <p:nvPr>
            <p:ph idx="1"/>
          </p:nvPr>
        </p:nvSpPr>
        <p:spPr/>
        <p:txBody>
          <a:bodyPr>
            <a:normAutofit/>
          </a:bodyPr>
          <a:lstStyle/>
          <a:p>
            <a:r>
              <a:rPr lang="en-US" sz="2000" dirty="0"/>
              <a:t>A power series provides a basis to represent any function</a:t>
            </a:r>
          </a:p>
          <a:p>
            <a:endParaRPr lang="en-US" sz="2000" dirty="0"/>
          </a:p>
          <a:p>
            <a:endParaRPr lang="en-US" sz="2000" dirty="0"/>
          </a:p>
          <a:p>
            <a:endParaRPr lang="en-US" sz="2000" dirty="0"/>
          </a:p>
          <a:p>
            <a:endParaRPr lang="en-US" sz="2000" dirty="0"/>
          </a:p>
          <a:p>
            <a:r>
              <a:rPr lang="en-US" sz="2000" dirty="0"/>
              <a:t>We can also represent a series about an arbitrary point </a:t>
            </a:r>
            <a:r>
              <a:rPr lang="en-US" sz="2000" i="1" dirty="0"/>
              <a:t>a</a:t>
            </a:r>
            <a:r>
              <a:rPr lang="en-US" sz="2000" dirty="0"/>
              <a:t> that is not 0</a:t>
            </a:r>
          </a:p>
          <a:p>
            <a:endParaRPr lang="en-US" sz="2000" dirty="0"/>
          </a:p>
          <a:p>
            <a:endParaRPr lang="en-US" sz="2000" dirty="0"/>
          </a:p>
          <a:p>
            <a:endParaRPr lang="en-US" sz="2000" dirty="0"/>
          </a:p>
          <a:p>
            <a:endParaRPr lang="en-US" sz="2000" dirty="0"/>
          </a:p>
          <a:p>
            <a:r>
              <a:rPr lang="en-US" sz="2000" dirty="0"/>
              <a:t>Note! Obviously, I could expand the terms in the second form and put it in the form of the first, but it’s more useful in this form for…</a:t>
            </a:r>
          </a:p>
        </p:txBody>
      </p:sp>
      <p:sp>
        <p:nvSpPr>
          <p:cNvPr id="4" name="Date Placeholder 3">
            <a:extLst>
              <a:ext uri="{FF2B5EF4-FFF2-40B4-BE49-F238E27FC236}">
                <a16:creationId xmlns:a16="http://schemas.microsoft.com/office/drawing/2014/main" id="{E5839CEC-C0A5-67DE-8ECB-694E51B7BC39}"/>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58EE9163-D279-7078-C310-8FF16A7C4484}"/>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0EE0C545-61A9-431E-B875-C2CCD4E07AD6}"/>
              </a:ext>
            </a:extLst>
          </p:cNvPr>
          <p:cNvSpPr>
            <a:spLocks noGrp="1"/>
          </p:cNvSpPr>
          <p:nvPr>
            <p:ph type="sldNum" sz="quarter" idx="12"/>
          </p:nvPr>
        </p:nvSpPr>
        <p:spPr/>
        <p:txBody>
          <a:bodyPr/>
          <a:lstStyle/>
          <a:p>
            <a:pPr>
              <a:defRPr/>
            </a:pPr>
            <a:fld id="{BCA26155-0DCC-45D2-90B6-32F65F3F6C0F}" type="slidenum">
              <a:rPr lang="en-US" smtClean="0"/>
              <a:pPr>
                <a:defRPr/>
              </a:pPr>
              <a:t>13</a:t>
            </a:fld>
            <a:endParaRPr lang="en-US"/>
          </a:p>
        </p:txBody>
      </p:sp>
      <p:pic>
        <p:nvPicPr>
          <p:cNvPr id="10" name="Picture 9">
            <a:extLst>
              <a:ext uri="{FF2B5EF4-FFF2-40B4-BE49-F238E27FC236}">
                <a16:creationId xmlns:a16="http://schemas.microsoft.com/office/drawing/2014/main" id="{1D09E138-C4F9-569E-CAEA-85CB1EB9AE03}"/>
              </a:ext>
            </a:extLst>
          </p:cNvPr>
          <p:cNvPicPr>
            <a:picLocks noChangeAspect="1"/>
          </p:cNvPicPr>
          <p:nvPr/>
        </p:nvPicPr>
        <p:blipFill>
          <a:blip r:embed="rId2"/>
          <a:stretch>
            <a:fillRect/>
          </a:stretch>
        </p:blipFill>
        <p:spPr>
          <a:xfrm>
            <a:off x="1181725" y="1819326"/>
            <a:ext cx="6491902" cy="953854"/>
          </a:xfrm>
          <a:prstGeom prst="rect">
            <a:avLst/>
          </a:prstGeom>
        </p:spPr>
      </p:pic>
      <p:pic>
        <p:nvPicPr>
          <p:cNvPr id="12" name="Picture 11">
            <a:extLst>
              <a:ext uri="{FF2B5EF4-FFF2-40B4-BE49-F238E27FC236}">
                <a16:creationId xmlns:a16="http://schemas.microsoft.com/office/drawing/2014/main" id="{274977B9-52E9-B26C-AA38-C216F06A924F}"/>
              </a:ext>
            </a:extLst>
          </p:cNvPr>
          <p:cNvPicPr>
            <a:picLocks noChangeAspect="1"/>
          </p:cNvPicPr>
          <p:nvPr/>
        </p:nvPicPr>
        <p:blipFill>
          <a:blip r:embed="rId3"/>
          <a:stretch>
            <a:fillRect/>
          </a:stretch>
        </p:blipFill>
        <p:spPr>
          <a:xfrm>
            <a:off x="169285" y="3662211"/>
            <a:ext cx="8805430" cy="845220"/>
          </a:xfrm>
          <a:prstGeom prst="rect">
            <a:avLst/>
          </a:prstGeom>
        </p:spPr>
      </p:pic>
    </p:spTree>
    <p:extLst>
      <p:ext uri="{BB962C8B-B14F-4D97-AF65-F5344CB8AC3E}">
        <p14:creationId xmlns:p14="http://schemas.microsoft.com/office/powerpoint/2010/main" val="4096655816"/>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4ACE-DBC6-B713-C85C-95126F137420}"/>
              </a:ext>
            </a:extLst>
          </p:cNvPr>
          <p:cNvSpPr>
            <a:spLocks noGrp="1"/>
          </p:cNvSpPr>
          <p:nvPr>
            <p:ph type="title"/>
          </p:nvPr>
        </p:nvSpPr>
        <p:spPr/>
        <p:txBody>
          <a:bodyPr/>
          <a:lstStyle/>
          <a:p>
            <a:r>
              <a:rPr lang="en-US" dirty="0"/>
              <a:t>Taylor Expansion (cont’d)</a:t>
            </a:r>
          </a:p>
        </p:txBody>
      </p:sp>
      <p:sp>
        <p:nvSpPr>
          <p:cNvPr id="3" name="Content Placeholder 2">
            <a:extLst>
              <a:ext uri="{FF2B5EF4-FFF2-40B4-BE49-F238E27FC236}">
                <a16:creationId xmlns:a16="http://schemas.microsoft.com/office/drawing/2014/main" id="{050937B1-C6C6-BC4A-9396-0E868A959CFC}"/>
              </a:ext>
            </a:extLst>
          </p:cNvPr>
          <p:cNvSpPr>
            <a:spLocks noGrp="1"/>
          </p:cNvSpPr>
          <p:nvPr>
            <p:ph idx="1"/>
          </p:nvPr>
        </p:nvSpPr>
        <p:spPr/>
        <p:txBody>
          <a:bodyPr>
            <a:normAutofit/>
          </a:bodyPr>
          <a:lstStyle/>
          <a:p>
            <a:r>
              <a:rPr lang="en-US" sz="2000" dirty="0"/>
              <a:t>Two functions are equal if their values and ALL of their derivatives are equal.  Considering our expansion</a:t>
            </a:r>
          </a:p>
          <a:p>
            <a:pPr marL="0" indent="0">
              <a:buNone/>
            </a:pPr>
            <a:endParaRPr lang="en-US" sz="2000" dirty="0"/>
          </a:p>
        </p:txBody>
      </p:sp>
      <p:sp>
        <p:nvSpPr>
          <p:cNvPr id="4" name="Date Placeholder 3">
            <a:extLst>
              <a:ext uri="{FF2B5EF4-FFF2-40B4-BE49-F238E27FC236}">
                <a16:creationId xmlns:a16="http://schemas.microsoft.com/office/drawing/2014/main" id="{F2BD1904-1462-40F0-D81B-D6672C56F3FB}"/>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0E2334F9-8646-2C21-2130-18C171B3BE7F}"/>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B88DA087-5B14-CD37-7AD3-C1BB1780C0F2}"/>
              </a:ext>
            </a:extLst>
          </p:cNvPr>
          <p:cNvSpPr>
            <a:spLocks noGrp="1"/>
          </p:cNvSpPr>
          <p:nvPr>
            <p:ph type="sldNum" sz="quarter" idx="12"/>
          </p:nvPr>
        </p:nvSpPr>
        <p:spPr/>
        <p:txBody>
          <a:bodyPr/>
          <a:lstStyle/>
          <a:p>
            <a:pPr>
              <a:defRPr/>
            </a:pPr>
            <a:fld id="{BCA26155-0DCC-45D2-90B6-32F65F3F6C0F}" type="slidenum">
              <a:rPr lang="en-US" smtClean="0"/>
              <a:pPr>
                <a:defRPr/>
              </a:pPr>
              <a:t>14</a:t>
            </a:fld>
            <a:endParaRPr lang="en-US"/>
          </a:p>
        </p:txBody>
      </p:sp>
      <p:pic>
        <p:nvPicPr>
          <p:cNvPr id="10" name="Picture 9">
            <a:extLst>
              <a:ext uri="{FF2B5EF4-FFF2-40B4-BE49-F238E27FC236}">
                <a16:creationId xmlns:a16="http://schemas.microsoft.com/office/drawing/2014/main" id="{C5292C26-B103-CA18-7E8F-33FF7FDE9EF5}"/>
              </a:ext>
            </a:extLst>
          </p:cNvPr>
          <p:cNvPicPr>
            <a:picLocks noChangeAspect="1"/>
          </p:cNvPicPr>
          <p:nvPr/>
        </p:nvPicPr>
        <p:blipFill>
          <a:blip r:embed="rId2"/>
          <a:stretch>
            <a:fillRect/>
          </a:stretch>
        </p:blipFill>
        <p:spPr>
          <a:xfrm>
            <a:off x="169285" y="1785465"/>
            <a:ext cx="8805430" cy="845220"/>
          </a:xfrm>
          <a:prstGeom prst="rect">
            <a:avLst/>
          </a:prstGeom>
        </p:spPr>
      </p:pic>
      <p:pic>
        <p:nvPicPr>
          <p:cNvPr id="11" name="Picture 10">
            <a:extLst>
              <a:ext uri="{FF2B5EF4-FFF2-40B4-BE49-F238E27FC236}">
                <a16:creationId xmlns:a16="http://schemas.microsoft.com/office/drawing/2014/main" id="{9B2F7034-83BB-030E-6F9D-45A2BF8DA7A8}"/>
              </a:ext>
            </a:extLst>
          </p:cNvPr>
          <p:cNvPicPr>
            <a:picLocks noChangeAspect="1"/>
          </p:cNvPicPr>
          <p:nvPr/>
        </p:nvPicPr>
        <p:blipFill>
          <a:blip r:embed="rId3"/>
          <a:stretch>
            <a:fillRect/>
          </a:stretch>
        </p:blipFill>
        <p:spPr>
          <a:xfrm>
            <a:off x="2669864" y="2703163"/>
            <a:ext cx="4102100" cy="3848100"/>
          </a:xfrm>
          <a:prstGeom prst="rect">
            <a:avLst/>
          </a:prstGeom>
        </p:spPr>
      </p:pic>
    </p:spTree>
    <p:extLst>
      <p:ext uri="{BB962C8B-B14F-4D97-AF65-F5344CB8AC3E}">
        <p14:creationId xmlns:p14="http://schemas.microsoft.com/office/powerpoint/2010/main" val="3909564230"/>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6FD3F-EA5F-AA9D-FE6B-00F2DF04D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D0B2A-40B5-F6B0-8242-00646622710E}"/>
              </a:ext>
            </a:extLst>
          </p:cNvPr>
          <p:cNvSpPr>
            <a:spLocks noGrp="1"/>
          </p:cNvSpPr>
          <p:nvPr>
            <p:ph type="title"/>
          </p:nvPr>
        </p:nvSpPr>
        <p:spPr/>
        <p:txBody>
          <a:bodyPr/>
          <a:lstStyle/>
          <a:p>
            <a:r>
              <a:rPr lang="en-US" dirty="0"/>
              <a:t>Calculating the Coefficients </a:t>
            </a:r>
          </a:p>
        </p:txBody>
      </p:sp>
      <p:sp>
        <p:nvSpPr>
          <p:cNvPr id="3" name="Content Placeholder 2">
            <a:extLst>
              <a:ext uri="{FF2B5EF4-FFF2-40B4-BE49-F238E27FC236}">
                <a16:creationId xmlns:a16="http://schemas.microsoft.com/office/drawing/2014/main" id="{602F3A44-100E-672B-FD0A-EA54F17D215A}"/>
              </a:ext>
            </a:extLst>
          </p:cNvPr>
          <p:cNvSpPr>
            <a:spLocks noGrp="1"/>
          </p:cNvSpPr>
          <p:nvPr>
            <p:ph idx="1"/>
          </p:nvPr>
        </p:nvSpPr>
        <p:spPr/>
        <p:txBody>
          <a:bodyPr>
            <a:normAutofit/>
          </a:bodyPr>
          <a:lstStyle/>
          <a:p>
            <a:r>
              <a:rPr lang="en-US" sz="2000" dirty="0"/>
              <a:t>If I’m trying to represent a known functional</a:t>
            </a:r>
            <a:br>
              <a:rPr lang="en-US" sz="2000" dirty="0"/>
            </a:br>
            <a:r>
              <a:rPr lang="en-US" sz="2000" dirty="0"/>
              <a:t>form, I can use this to calculate the coefficients</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I can then redefine my series as</a:t>
            </a:r>
          </a:p>
        </p:txBody>
      </p:sp>
      <p:sp>
        <p:nvSpPr>
          <p:cNvPr id="4" name="Date Placeholder 3">
            <a:extLst>
              <a:ext uri="{FF2B5EF4-FFF2-40B4-BE49-F238E27FC236}">
                <a16:creationId xmlns:a16="http://schemas.microsoft.com/office/drawing/2014/main" id="{A3F2D9B6-6EDF-3093-7C8B-B98D4FFD69EC}"/>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444050C1-B40F-A596-B860-58331FB0AE57}"/>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B7CB4D6D-F83E-95F2-D907-A29DE97AA26E}"/>
              </a:ext>
            </a:extLst>
          </p:cNvPr>
          <p:cNvSpPr>
            <a:spLocks noGrp="1"/>
          </p:cNvSpPr>
          <p:nvPr>
            <p:ph type="sldNum" sz="quarter" idx="12"/>
          </p:nvPr>
        </p:nvSpPr>
        <p:spPr/>
        <p:txBody>
          <a:bodyPr/>
          <a:lstStyle/>
          <a:p>
            <a:pPr>
              <a:defRPr/>
            </a:pPr>
            <a:fld id="{BCA26155-0DCC-45D2-90B6-32F65F3F6C0F}" type="slidenum">
              <a:rPr lang="en-US" smtClean="0"/>
              <a:pPr>
                <a:defRPr/>
              </a:pPr>
              <a:t>15</a:t>
            </a:fld>
            <a:endParaRPr lang="en-US"/>
          </a:p>
        </p:txBody>
      </p:sp>
      <p:pic>
        <p:nvPicPr>
          <p:cNvPr id="9" name="Picture 8">
            <a:extLst>
              <a:ext uri="{FF2B5EF4-FFF2-40B4-BE49-F238E27FC236}">
                <a16:creationId xmlns:a16="http://schemas.microsoft.com/office/drawing/2014/main" id="{3CFA9288-4CAA-5713-F910-5FBD23ED82FE}"/>
              </a:ext>
            </a:extLst>
          </p:cNvPr>
          <p:cNvPicPr>
            <a:picLocks noChangeAspect="1"/>
          </p:cNvPicPr>
          <p:nvPr/>
        </p:nvPicPr>
        <p:blipFill>
          <a:blip r:embed="rId3"/>
          <a:stretch>
            <a:fillRect/>
          </a:stretch>
        </p:blipFill>
        <p:spPr>
          <a:xfrm>
            <a:off x="6650847" y="769070"/>
            <a:ext cx="2247900" cy="3848100"/>
          </a:xfrm>
          <a:prstGeom prst="rect">
            <a:avLst/>
          </a:prstGeom>
        </p:spPr>
      </p:pic>
      <p:pic>
        <p:nvPicPr>
          <p:cNvPr id="7" name="Picture 6">
            <a:extLst>
              <a:ext uri="{FF2B5EF4-FFF2-40B4-BE49-F238E27FC236}">
                <a16:creationId xmlns:a16="http://schemas.microsoft.com/office/drawing/2014/main" id="{37519A7D-C38A-3A32-7B31-3E4FA4185B60}"/>
              </a:ext>
            </a:extLst>
          </p:cNvPr>
          <p:cNvPicPr>
            <a:picLocks noChangeAspect="1"/>
          </p:cNvPicPr>
          <p:nvPr/>
        </p:nvPicPr>
        <p:blipFill>
          <a:blip r:embed="rId4"/>
          <a:stretch>
            <a:fillRect/>
          </a:stretch>
        </p:blipFill>
        <p:spPr>
          <a:xfrm>
            <a:off x="320410" y="5354471"/>
            <a:ext cx="8503180" cy="643016"/>
          </a:xfrm>
          <a:prstGeom prst="rect">
            <a:avLst/>
          </a:prstGeom>
        </p:spPr>
      </p:pic>
    </p:spTree>
    <p:extLst>
      <p:ext uri="{BB962C8B-B14F-4D97-AF65-F5344CB8AC3E}">
        <p14:creationId xmlns:p14="http://schemas.microsoft.com/office/powerpoint/2010/main" val="2763273642"/>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3DF08-6648-D9A3-C967-1B47A123B4B1}"/>
              </a:ext>
            </a:extLst>
          </p:cNvPr>
          <p:cNvSpPr>
            <a:spLocks noGrp="1"/>
          </p:cNvSpPr>
          <p:nvPr>
            <p:ph type="title"/>
          </p:nvPr>
        </p:nvSpPr>
        <p:spPr/>
        <p:txBody>
          <a:bodyPr/>
          <a:lstStyle/>
          <a:p>
            <a:r>
              <a:rPr lang="en-US" dirty="0"/>
              <a:t>Maclaurin Series</a:t>
            </a:r>
          </a:p>
        </p:txBody>
      </p:sp>
      <p:sp>
        <p:nvSpPr>
          <p:cNvPr id="3" name="Content Placeholder 2">
            <a:extLst>
              <a:ext uri="{FF2B5EF4-FFF2-40B4-BE49-F238E27FC236}">
                <a16:creationId xmlns:a16="http://schemas.microsoft.com/office/drawing/2014/main" id="{7D11B54C-AB33-D94E-2B80-2A0C0389BB71}"/>
              </a:ext>
            </a:extLst>
          </p:cNvPr>
          <p:cNvSpPr>
            <a:spLocks noGrp="1"/>
          </p:cNvSpPr>
          <p:nvPr>
            <p:ph idx="1"/>
          </p:nvPr>
        </p:nvSpPr>
        <p:spPr/>
        <p:txBody>
          <a:bodyPr/>
          <a:lstStyle/>
          <a:p>
            <a:r>
              <a:rPr lang="en-US" dirty="0"/>
              <a:t>A Maclaurin Series is a special case of a Taylor Series, expanded about zero*.</a:t>
            </a:r>
          </a:p>
        </p:txBody>
      </p:sp>
      <p:sp>
        <p:nvSpPr>
          <p:cNvPr id="4" name="Date Placeholder 3">
            <a:extLst>
              <a:ext uri="{FF2B5EF4-FFF2-40B4-BE49-F238E27FC236}">
                <a16:creationId xmlns:a16="http://schemas.microsoft.com/office/drawing/2014/main" id="{76702199-91E6-23FC-CF4F-33573397D1D5}"/>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DA81736E-6404-6B35-A383-097064E97B42}"/>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804CC17B-824F-DA7A-D1A9-703D4E371D57}"/>
              </a:ext>
            </a:extLst>
          </p:cNvPr>
          <p:cNvSpPr>
            <a:spLocks noGrp="1"/>
          </p:cNvSpPr>
          <p:nvPr>
            <p:ph type="sldNum" sz="quarter" idx="12"/>
          </p:nvPr>
        </p:nvSpPr>
        <p:spPr/>
        <p:txBody>
          <a:bodyPr/>
          <a:lstStyle/>
          <a:p>
            <a:pPr>
              <a:defRPr/>
            </a:pPr>
            <a:fld id="{BCA26155-0DCC-45D2-90B6-32F65F3F6C0F}" type="slidenum">
              <a:rPr lang="en-US" smtClean="0"/>
              <a:pPr>
                <a:defRPr/>
              </a:pPr>
              <a:t>16</a:t>
            </a:fld>
            <a:endParaRPr lang="en-US"/>
          </a:p>
        </p:txBody>
      </p:sp>
      <p:pic>
        <p:nvPicPr>
          <p:cNvPr id="7" name="Picture 6">
            <a:extLst>
              <a:ext uri="{FF2B5EF4-FFF2-40B4-BE49-F238E27FC236}">
                <a16:creationId xmlns:a16="http://schemas.microsoft.com/office/drawing/2014/main" id="{2F24904B-C236-6C87-1A3B-FFB2D58C6480}"/>
              </a:ext>
            </a:extLst>
          </p:cNvPr>
          <p:cNvPicPr>
            <a:picLocks noChangeAspect="1"/>
          </p:cNvPicPr>
          <p:nvPr/>
        </p:nvPicPr>
        <p:blipFill>
          <a:blip r:embed="rId2"/>
          <a:stretch>
            <a:fillRect/>
          </a:stretch>
        </p:blipFill>
        <p:spPr>
          <a:xfrm>
            <a:off x="1310562" y="2119129"/>
            <a:ext cx="6491902" cy="953854"/>
          </a:xfrm>
          <a:prstGeom prst="rect">
            <a:avLst/>
          </a:prstGeom>
        </p:spPr>
      </p:pic>
      <p:pic>
        <p:nvPicPr>
          <p:cNvPr id="8" name="Picture 7">
            <a:extLst>
              <a:ext uri="{FF2B5EF4-FFF2-40B4-BE49-F238E27FC236}">
                <a16:creationId xmlns:a16="http://schemas.microsoft.com/office/drawing/2014/main" id="{AD6454B7-192E-8D1A-768D-F69F580B1D68}"/>
              </a:ext>
            </a:extLst>
          </p:cNvPr>
          <p:cNvPicPr>
            <a:picLocks noChangeAspect="1"/>
          </p:cNvPicPr>
          <p:nvPr/>
        </p:nvPicPr>
        <p:blipFill>
          <a:blip r:embed="rId3"/>
          <a:stretch>
            <a:fillRect/>
          </a:stretch>
        </p:blipFill>
        <p:spPr>
          <a:xfrm>
            <a:off x="245253" y="4303656"/>
            <a:ext cx="8653494" cy="825903"/>
          </a:xfrm>
          <a:prstGeom prst="rect">
            <a:avLst/>
          </a:prstGeom>
        </p:spPr>
      </p:pic>
      <p:sp>
        <p:nvSpPr>
          <p:cNvPr id="9" name="TextBox 8">
            <a:extLst>
              <a:ext uri="{FF2B5EF4-FFF2-40B4-BE49-F238E27FC236}">
                <a16:creationId xmlns:a16="http://schemas.microsoft.com/office/drawing/2014/main" id="{69986FD7-95DE-1775-E6EE-7AC447B39B1A}"/>
              </a:ext>
            </a:extLst>
          </p:cNvPr>
          <p:cNvSpPr txBox="1"/>
          <p:nvPr/>
        </p:nvSpPr>
        <p:spPr>
          <a:xfrm>
            <a:off x="4532441" y="6336776"/>
            <a:ext cx="4611559" cy="369332"/>
          </a:xfrm>
          <a:prstGeom prst="rect">
            <a:avLst/>
          </a:prstGeom>
          <a:noFill/>
        </p:spPr>
        <p:txBody>
          <a:bodyPr wrap="square" rtlCol="0">
            <a:spAutoFit/>
          </a:bodyPr>
          <a:lstStyle/>
          <a:p>
            <a:pPr algn="ctr"/>
            <a:r>
              <a:rPr lang="en-US" sz="1800" dirty="0">
                <a:latin typeface="+mn-lt"/>
              </a:rPr>
              <a:t>*Most people still just call it a Taylor Series</a:t>
            </a:r>
          </a:p>
        </p:txBody>
      </p:sp>
    </p:spTree>
    <p:extLst>
      <p:ext uri="{BB962C8B-B14F-4D97-AF65-F5344CB8AC3E}">
        <p14:creationId xmlns:p14="http://schemas.microsoft.com/office/powerpoint/2010/main" val="3247707733"/>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0A0E519-2E62-0205-6808-BA2F48CAD999}"/>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1E229B6C-E2E4-661D-562B-74873F60CDB8}"/>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D03C552D-01D6-3203-9951-9094CD2BC4D5}"/>
              </a:ext>
            </a:extLst>
          </p:cNvPr>
          <p:cNvSpPr>
            <a:spLocks noGrp="1"/>
          </p:cNvSpPr>
          <p:nvPr>
            <p:ph type="sldNum" sz="quarter" idx="12"/>
          </p:nvPr>
        </p:nvSpPr>
        <p:spPr/>
        <p:txBody>
          <a:bodyPr/>
          <a:lstStyle/>
          <a:p>
            <a:pPr>
              <a:defRPr/>
            </a:pPr>
            <a:fld id="{BCA26155-0DCC-45D2-90B6-32F65F3F6C0F}" type="slidenum">
              <a:rPr lang="en-US" smtClean="0"/>
              <a:pPr>
                <a:defRPr/>
              </a:pPr>
              <a:t>17</a:t>
            </a:fld>
            <a:endParaRPr lang="en-US"/>
          </a:p>
        </p:txBody>
      </p:sp>
      <p:sp>
        <p:nvSpPr>
          <p:cNvPr id="2" name="Title 1">
            <a:extLst>
              <a:ext uri="{FF2B5EF4-FFF2-40B4-BE49-F238E27FC236}">
                <a16:creationId xmlns:a16="http://schemas.microsoft.com/office/drawing/2014/main" id="{54991ABA-1D33-9535-77E9-8D4A69B4A459}"/>
              </a:ext>
            </a:extLst>
          </p:cNvPr>
          <p:cNvSpPr>
            <a:spLocks noGrp="1"/>
          </p:cNvSpPr>
          <p:nvPr>
            <p:ph type="title" idx="4294967295"/>
          </p:nvPr>
        </p:nvSpPr>
        <p:spPr>
          <a:xfrm>
            <a:off x="457200" y="516458"/>
            <a:ext cx="8229600" cy="628650"/>
          </a:xfrm>
        </p:spPr>
        <p:txBody>
          <a:bodyPr/>
          <a:lstStyle/>
          <a:p>
            <a:r>
              <a:rPr lang="en-US" dirty="0" err="1"/>
              <a:t>e</a:t>
            </a:r>
            <a:r>
              <a:rPr lang="en-US" baseline="30000" dirty="0" err="1"/>
              <a:t>ax</a:t>
            </a:r>
            <a:endParaRPr lang="en-US" baseline="30000" dirty="0"/>
          </a:p>
        </p:txBody>
      </p:sp>
      <p:sp>
        <p:nvSpPr>
          <p:cNvPr id="9" name="TextBox 8">
            <a:extLst>
              <a:ext uri="{FF2B5EF4-FFF2-40B4-BE49-F238E27FC236}">
                <a16:creationId xmlns:a16="http://schemas.microsoft.com/office/drawing/2014/main" id="{4D61C998-790D-0D03-6C94-259FA959B56B}"/>
              </a:ext>
            </a:extLst>
          </p:cNvPr>
          <p:cNvSpPr txBox="1"/>
          <p:nvPr/>
        </p:nvSpPr>
        <p:spPr>
          <a:xfrm>
            <a:off x="2548328" y="6156876"/>
            <a:ext cx="4542019" cy="369332"/>
          </a:xfrm>
          <a:prstGeom prst="rect">
            <a:avLst/>
          </a:prstGeom>
          <a:noFill/>
        </p:spPr>
        <p:txBody>
          <a:bodyPr wrap="square" rtlCol="0">
            <a:spAutoFit/>
          </a:bodyPr>
          <a:lstStyle/>
          <a:p>
            <a:pPr algn="ctr"/>
            <a:r>
              <a:rPr lang="en-US" sz="1800" dirty="0">
                <a:latin typeface="+mn-lt"/>
              </a:rPr>
              <a:t>Note! Sign will alternate if </a:t>
            </a:r>
            <a:r>
              <a:rPr lang="en-US" sz="1800" i="1" dirty="0">
                <a:latin typeface="+mn-lt"/>
              </a:rPr>
              <a:t>a</a:t>
            </a:r>
            <a:r>
              <a:rPr lang="en-US" sz="1800" dirty="0">
                <a:latin typeface="+mn-lt"/>
              </a:rPr>
              <a:t> is negative</a:t>
            </a:r>
          </a:p>
        </p:txBody>
      </p:sp>
      <p:pic>
        <p:nvPicPr>
          <p:cNvPr id="10" name="Picture 9">
            <a:extLst>
              <a:ext uri="{FF2B5EF4-FFF2-40B4-BE49-F238E27FC236}">
                <a16:creationId xmlns:a16="http://schemas.microsoft.com/office/drawing/2014/main" id="{52F5B6E3-C971-FAC6-A4D4-2E57D57B95D0}"/>
              </a:ext>
            </a:extLst>
          </p:cNvPr>
          <p:cNvPicPr>
            <a:picLocks noChangeAspect="1"/>
          </p:cNvPicPr>
          <p:nvPr/>
        </p:nvPicPr>
        <p:blipFill>
          <a:blip r:embed="rId2"/>
          <a:stretch>
            <a:fillRect/>
          </a:stretch>
        </p:blipFill>
        <p:spPr>
          <a:xfrm>
            <a:off x="3045084" y="920254"/>
            <a:ext cx="2456305" cy="3384560"/>
          </a:xfrm>
          <a:prstGeom prst="rect">
            <a:avLst/>
          </a:prstGeom>
        </p:spPr>
      </p:pic>
      <p:pic>
        <p:nvPicPr>
          <p:cNvPr id="11" name="Picture 10">
            <a:extLst>
              <a:ext uri="{FF2B5EF4-FFF2-40B4-BE49-F238E27FC236}">
                <a16:creationId xmlns:a16="http://schemas.microsoft.com/office/drawing/2014/main" id="{AB50FE96-857C-6940-DB1C-3727A2C31E52}"/>
              </a:ext>
            </a:extLst>
          </p:cNvPr>
          <p:cNvPicPr>
            <a:picLocks noChangeAspect="1"/>
          </p:cNvPicPr>
          <p:nvPr/>
        </p:nvPicPr>
        <p:blipFill>
          <a:blip r:embed="rId3"/>
          <a:stretch>
            <a:fillRect/>
          </a:stretch>
        </p:blipFill>
        <p:spPr>
          <a:xfrm>
            <a:off x="850900" y="4801647"/>
            <a:ext cx="7442200" cy="850900"/>
          </a:xfrm>
          <a:prstGeom prst="rect">
            <a:avLst/>
          </a:prstGeom>
        </p:spPr>
      </p:pic>
    </p:spTree>
    <p:extLst>
      <p:ext uri="{BB962C8B-B14F-4D97-AF65-F5344CB8AC3E}">
        <p14:creationId xmlns:p14="http://schemas.microsoft.com/office/powerpoint/2010/main" val="2931800668"/>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3E33F-A30A-93C5-D444-46EC2CD53C02}"/>
              </a:ext>
            </a:extLst>
          </p:cNvPr>
          <p:cNvSpPr>
            <a:spLocks noGrp="1"/>
          </p:cNvSpPr>
          <p:nvPr>
            <p:ph type="title"/>
          </p:nvPr>
        </p:nvSpPr>
        <p:spPr/>
        <p:txBody>
          <a:bodyPr/>
          <a:lstStyle/>
          <a:p>
            <a:r>
              <a:rPr lang="en-US" dirty="0"/>
              <a:t>Accuracy (See Notebook)</a:t>
            </a:r>
          </a:p>
        </p:txBody>
      </p:sp>
      <p:sp>
        <p:nvSpPr>
          <p:cNvPr id="4" name="Date Placeholder 3">
            <a:extLst>
              <a:ext uri="{FF2B5EF4-FFF2-40B4-BE49-F238E27FC236}">
                <a16:creationId xmlns:a16="http://schemas.microsoft.com/office/drawing/2014/main" id="{11A6243B-560E-B854-0D64-0420F3DF1DF4}"/>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956FC12D-7CB6-6384-C2FE-0199B5538621}"/>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425EC9D6-C1BD-32EC-280E-FEB1729AA3C0}"/>
              </a:ext>
            </a:extLst>
          </p:cNvPr>
          <p:cNvSpPr>
            <a:spLocks noGrp="1"/>
          </p:cNvSpPr>
          <p:nvPr>
            <p:ph type="sldNum" sz="quarter" idx="12"/>
          </p:nvPr>
        </p:nvSpPr>
        <p:spPr/>
        <p:txBody>
          <a:bodyPr/>
          <a:lstStyle/>
          <a:p>
            <a:pPr>
              <a:defRPr/>
            </a:pPr>
            <a:fld id="{BCA26155-0DCC-45D2-90B6-32F65F3F6C0F}" type="slidenum">
              <a:rPr lang="en-US" smtClean="0"/>
              <a:pPr>
                <a:defRPr/>
              </a:pPr>
              <a:t>18</a:t>
            </a:fld>
            <a:endParaRPr lang="en-US"/>
          </a:p>
        </p:txBody>
      </p:sp>
      <p:pic>
        <p:nvPicPr>
          <p:cNvPr id="9" name="Picture 8">
            <a:extLst>
              <a:ext uri="{FF2B5EF4-FFF2-40B4-BE49-F238E27FC236}">
                <a16:creationId xmlns:a16="http://schemas.microsoft.com/office/drawing/2014/main" id="{19AF43DE-1252-B7B2-E1C9-1E02F7841F63}"/>
              </a:ext>
            </a:extLst>
          </p:cNvPr>
          <p:cNvPicPr>
            <a:picLocks noChangeAspect="1"/>
          </p:cNvPicPr>
          <p:nvPr/>
        </p:nvPicPr>
        <p:blipFill>
          <a:blip r:embed="rId2"/>
          <a:stretch>
            <a:fillRect/>
          </a:stretch>
        </p:blipFill>
        <p:spPr>
          <a:xfrm>
            <a:off x="189980" y="1994811"/>
            <a:ext cx="4176893" cy="3301218"/>
          </a:xfrm>
          <a:prstGeom prst="rect">
            <a:avLst/>
          </a:prstGeom>
        </p:spPr>
      </p:pic>
      <p:pic>
        <p:nvPicPr>
          <p:cNvPr id="10" name="Picture 9">
            <a:extLst>
              <a:ext uri="{FF2B5EF4-FFF2-40B4-BE49-F238E27FC236}">
                <a16:creationId xmlns:a16="http://schemas.microsoft.com/office/drawing/2014/main" id="{ACF0DB4C-7D8F-A333-0410-08E8861BE52E}"/>
              </a:ext>
            </a:extLst>
          </p:cNvPr>
          <p:cNvPicPr>
            <a:picLocks noChangeAspect="1"/>
          </p:cNvPicPr>
          <p:nvPr/>
        </p:nvPicPr>
        <p:blipFill>
          <a:blip r:embed="rId3"/>
          <a:stretch>
            <a:fillRect/>
          </a:stretch>
        </p:blipFill>
        <p:spPr>
          <a:xfrm>
            <a:off x="4556513" y="1994811"/>
            <a:ext cx="4260874" cy="3301218"/>
          </a:xfrm>
          <a:prstGeom prst="rect">
            <a:avLst/>
          </a:prstGeom>
        </p:spPr>
      </p:pic>
    </p:spTree>
    <p:extLst>
      <p:ext uri="{BB962C8B-B14F-4D97-AF65-F5344CB8AC3E}">
        <p14:creationId xmlns:p14="http://schemas.microsoft.com/office/powerpoint/2010/main" val="3054301183"/>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686F5-50EA-7C22-AC4C-283F0583DF3E}"/>
              </a:ext>
            </a:extLst>
          </p:cNvPr>
          <p:cNvSpPr>
            <a:spLocks noGrp="1"/>
          </p:cNvSpPr>
          <p:nvPr>
            <p:ph type="title"/>
          </p:nvPr>
        </p:nvSpPr>
        <p:spPr/>
        <p:txBody>
          <a:bodyPr/>
          <a:lstStyle/>
          <a:p>
            <a:r>
              <a:rPr lang="en-US" dirty="0"/>
              <a:t>sin(x)</a:t>
            </a:r>
          </a:p>
        </p:txBody>
      </p:sp>
      <p:sp>
        <p:nvSpPr>
          <p:cNvPr id="4" name="Date Placeholder 3">
            <a:extLst>
              <a:ext uri="{FF2B5EF4-FFF2-40B4-BE49-F238E27FC236}">
                <a16:creationId xmlns:a16="http://schemas.microsoft.com/office/drawing/2014/main" id="{735B85F7-D152-6BFD-684D-6FAA2CDF1501}"/>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1E7C1266-ED3F-D5EF-3403-5C3B2FE0E1EA}"/>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9DF329FF-131F-1587-1B0E-5F603776CBDE}"/>
              </a:ext>
            </a:extLst>
          </p:cNvPr>
          <p:cNvSpPr>
            <a:spLocks noGrp="1"/>
          </p:cNvSpPr>
          <p:nvPr>
            <p:ph type="sldNum" sz="quarter" idx="12"/>
          </p:nvPr>
        </p:nvSpPr>
        <p:spPr/>
        <p:txBody>
          <a:bodyPr/>
          <a:lstStyle/>
          <a:p>
            <a:pPr>
              <a:defRPr/>
            </a:pPr>
            <a:fld id="{BCA26155-0DCC-45D2-90B6-32F65F3F6C0F}" type="slidenum">
              <a:rPr lang="en-US" smtClean="0"/>
              <a:pPr>
                <a:defRPr/>
              </a:pPr>
              <a:t>19</a:t>
            </a:fld>
            <a:endParaRPr lang="en-US"/>
          </a:p>
        </p:txBody>
      </p:sp>
      <p:pic>
        <p:nvPicPr>
          <p:cNvPr id="7" name="Picture 6">
            <a:extLst>
              <a:ext uri="{FF2B5EF4-FFF2-40B4-BE49-F238E27FC236}">
                <a16:creationId xmlns:a16="http://schemas.microsoft.com/office/drawing/2014/main" id="{C8D1823C-792A-9E69-7A51-D69CA5D30C4A}"/>
              </a:ext>
            </a:extLst>
          </p:cNvPr>
          <p:cNvPicPr>
            <a:picLocks noChangeAspect="1"/>
          </p:cNvPicPr>
          <p:nvPr/>
        </p:nvPicPr>
        <p:blipFill>
          <a:blip r:embed="rId2"/>
          <a:stretch>
            <a:fillRect/>
          </a:stretch>
        </p:blipFill>
        <p:spPr>
          <a:xfrm>
            <a:off x="2356645" y="1698340"/>
            <a:ext cx="3619499" cy="2835274"/>
          </a:xfrm>
          <a:prstGeom prst="rect">
            <a:avLst/>
          </a:prstGeom>
        </p:spPr>
      </p:pic>
      <p:pic>
        <p:nvPicPr>
          <p:cNvPr id="9" name="Picture 8">
            <a:extLst>
              <a:ext uri="{FF2B5EF4-FFF2-40B4-BE49-F238E27FC236}">
                <a16:creationId xmlns:a16="http://schemas.microsoft.com/office/drawing/2014/main" id="{E49A53C4-AA86-7448-B2CC-FD1FEFF8940B}"/>
              </a:ext>
            </a:extLst>
          </p:cNvPr>
          <p:cNvPicPr>
            <a:picLocks noChangeAspect="1"/>
          </p:cNvPicPr>
          <p:nvPr/>
        </p:nvPicPr>
        <p:blipFill>
          <a:blip r:embed="rId3"/>
          <a:stretch>
            <a:fillRect/>
          </a:stretch>
        </p:blipFill>
        <p:spPr>
          <a:xfrm>
            <a:off x="1782088" y="5049932"/>
            <a:ext cx="4768614" cy="754527"/>
          </a:xfrm>
          <a:prstGeom prst="rect">
            <a:avLst/>
          </a:prstGeom>
        </p:spPr>
      </p:pic>
      <p:sp>
        <p:nvSpPr>
          <p:cNvPr id="10" name="TextBox 9">
            <a:extLst>
              <a:ext uri="{FF2B5EF4-FFF2-40B4-BE49-F238E27FC236}">
                <a16:creationId xmlns:a16="http://schemas.microsoft.com/office/drawing/2014/main" id="{DBAFBC82-2D74-A191-C4D7-FF8DBDC1884C}"/>
              </a:ext>
            </a:extLst>
          </p:cNvPr>
          <p:cNvSpPr txBox="1"/>
          <p:nvPr/>
        </p:nvSpPr>
        <p:spPr>
          <a:xfrm>
            <a:off x="2803161" y="6017220"/>
            <a:ext cx="2830559" cy="369332"/>
          </a:xfrm>
          <a:prstGeom prst="rect">
            <a:avLst/>
          </a:prstGeom>
          <a:noFill/>
        </p:spPr>
        <p:txBody>
          <a:bodyPr wrap="square" rtlCol="0">
            <a:spAutoFit/>
          </a:bodyPr>
          <a:lstStyle/>
          <a:p>
            <a:pPr algn="ctr"/>
            <a:r>
              <a:rPr lang="en-US" sz="1800" dirty="0">
                <a:latin typeface="+mn-lt"/>
              </a:rPr>
              <a:t>Only odd terms</a:t>
            </a:r>
          </a:p>
        </p:txBody>
      </p:sp>
    </p:spTree>
    <p:extLst>
      <p:ext uri="{BB962C8B-B14F-4D97-AF65-F5344CB8AC3E}">
        <p14:creationId xmlns:p14="http://schemas.microsoft.com/office/powerpoint/2010/main" val="378623636"/>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3270F9-FBE9-EB5D-A967-6E632BEA3965}"/>
              </a:ext>
            </a:extLst>
          </p:cNvPr>
          <p:cNvSpPr>
            <a:spLocks noGrp="1"/>
          </p:cNvSpPr>
          <p:nvPr>
            <p:ph type="title"/>
          </p:nvPr>
        </p:nvSpPr>
        <p:spPr/>
        <p:txBody>
          <a:bodyPr/>
          <a:lstStyle/>
          <a:p>
            <a:r>
              <a:rPr lang="en-US" dirty="0"/>
              <a:t>Sine Accuracy</a:t>
            </a:r>
          </a:p>
        </p:txBody>
      </p:sp>
      <p:sp>
        <p:nvSpPr>
          <p:cNvPr id="4" name="Date Placeholder 3">
            <a:extLst>
              <a:ext uri="{FF2B5EF4-FFF2-40B4-BE49-F238E27FC236}">
                <a16:creationId xmlns:a16="http://schemas.microsoft.com/office/drawing/2014/main" id="{EE838699-892C-AF09-8491-13A0CEFACEA3}"/>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8FF66E0C-5162-2733-0262-490602C6AB03}"/>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6733D439-1725-BD76-AF14-39CC7E364D93}"/>
              </a:ext>
            </a:extLst>
          </p:cNvPr>
          <p:cNvSpPr>
            <a:spLocks noGrp="1"/>
          </p:cNvSpPr>
          <p:nvPr>
            <p:ph type="sldNum" sz="quarter" idx="12"/>
          </p:nvPr>
        </p:nvSpPr>
        <p:spPr/>
        <p:txBody>
          <a:bodyPr/>
          <a:lstStyle/>
          <a:p>
            <a:pPr>
              <a:defRPr/>
            </a:pPr>
            <a:fld id="{BCA26155-0DCC-45D2-90B6-32F65F3F6C0F}" type="slidenum">
              <a:rPr lang="en-US" smtClean="0"/>
              <a:pPr>
                <a:defRPr/>
              </a:pPr>
              <a:t>20</a:t>
            </a:fld>
            <a:endParaRPr lang="en-US"/>
          </a:p>
        </p:txBody>
      </p:sp>
      <p:pic>
        <p:nvPicPr>
          <p:cNvPr id="8" name="Picture 7">
            <a:extLst>
              <a:ext uri="{FF2B5EF4-FFF2-40B4-BE49-F238E27FC236}">
                <a16:creationId xmlns:a16="http://schemas.microsoft.com/office/drawing/2014/main" id="{496617C3-C8A2-6CBB-D3D2-8C8FD823EBDE}"/>
              </a:ext>
            </a:extLst>
          </p:cNvPr>
          <p:cNvPicPr>
            <a:picLocks noChangeAspect="1"/>
          </p:cNvPicPr>
          <p:nvPr/>
        </p:nvPicPr>
        <p:blipFill>
          <a:blip r:embed="rId2"/>
          <a:stretch>
            <a:fillRect/>
          </a:stretch>
        </p:blipFill>
        <p:spPr>
          <a:xfrm>
            <a:off x="609757" y="1223631"/>
            <a:ext cx="6609017" cy="5162921"/>
          </a:xfrm>
          <a:prstGeom prst="rect">
            <a:avLst/>
          </a:prstGeom>
        </p:spPr>
      </p:pic>
      <p:sp>
        <p:nvSpPr>
          <p:cNvPr id="2" name="TextBox 1">
            <a:extLst>
              <a:ext uri="{FF2B5EF4-FFF2-40B4-BE49-F238E27FC236}">
                <a16:creationId xmlns:a16="http://schemas.microsoft.com/office/drawing/2014/main" id="{E8918B7E-26A0-4A7F-DF81-6DAA92C1FB0E}"/>
              </a:ext>
            </a:extLst>
          </p:cNvPr>
          <p:cNvSpPr txBox="1"/>
          <p:nvPr/>
        </p:nvSpPr>
        <p:spPr>
          <a:xfrm>
            <a:off x="7521491" y="2522862"/>
            <a:ext cx="1553378" cy="646331"/>
          </a:xfrm>
          <a:prstGeom prst="rect">
            <a:avLst/>
          </a:prstGeom>
          <a:noFill/>
        </p:spPr>
        <p:txBody>
          <a:bodyPr wrap="square" rtlCol="0">
            <a:spAutoFit/>
          </a:bodyPr>
          <a:lstStyle/>
          <a:p>
            <a:r>
              <a:rPr lang="en-US" sz="1800" dirty="0">
                <a:solidFill>
                  <a:srgbClr val="FF0000"/>
                </a:solidFill>
                <a:latin typeface="+mn-lt"/>
              </a:rPr>
              <a:t>Need a lot of terms</a:t>
            </a:r>
          </a:p>
        </p:txBody>
      </p:sp>
      <p:cxnSp>
        <p:nvCxnSpPr>
          <p:cNvPr id="9" name="Straight Arrow Connector 8">
            <a:extLst>
              <a:ext uri="{FF2B5EF4-FFF2-40B4-BE49-F238E27FC236}">
                <a16:creationId xmlns:a16="http://schemas.microsoft.com/office/drawing/2014/main" id="{75C70CF6-02CB-6927-438C-E9E6F5BA1775}"/>
              </a:ext>
            </a:extLst>
          </p:cNvPr>
          <p:cNvCxnSpPr>
            <a:cxnSpLocks/>
          </p:cNvCxnSpPr>
          <p:nvPr/>
        </p:nvCxnSpPr>
        <p:spPr>
          <a:xfrm flipH="1">
            <a:off x="7218774" y="3169193"/>
            <a:ext cx="302717" cy="25980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1048123"/>
      </p:ext>
    </p:extLst>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5892-EFFE-80D3-0EF9-4A30B6F0FADD}"/>
              </a:ext>
            </a:extLst>
          </p:cNvPr>
          <p:cNvSpPr>
            <a:spLocks noGrp="1"/>
          </p:cNvSpPr>
          <p:nvPr>
            <p:ph type="title"/>
          </p:nvPr>
        </p:nvSpPr>
        <p:spPr/>
        <p:txBody>
          <a:bodyPr/>
          <a:lstStyle/>
          <a:p>
            <a:r>
              <a:rPr lang="en-US" dirty="0"/>
              <a:t>cos(x)</a:t>
            </a:r>
          </a:p>
        </p:txBody>
      </p:sp>
      <p:sp>
        <p:nvSpPr>
          <p:cNvPr id="4" name="Date Placeholder 3">
            <a:extLst>
              <a:ext uri="{FF2B5EF4-FFF2-40B4-BE49-F238E27FC236}">
                <a16:creationId xmlns:a16="http://schemas.microsoft.com/office/drawing/2014/main" id="{381877B5-99C7-99C8-AF52-DBFB19FB5B08}"/>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5269C683-2FA1-96D9-196B-81EA08D65208}"/>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1DE0515D-CFB5-97E5-2F8A-6BBAF581F331}"/>
              </a:ext>
            </a:extLst>
          </p:cNvPr>
          <p:cNvSpPr>
            <a:spLocks noGrp="1"/>
          </p:cNvSpPr>
          <p:nvPr>
            <p:ph type="sldNum" sz="quarter" idx="12"/>
          </p:nvPr>
        </p:nvSpPr>
        <p:spPr/>
        <p:txBody>
          <a:bodyPr/>
          <a:lstStyle/>
          <a:p>
            <a:pPr>
              <a:defRPr/>
            </a:pPr>
            <a:fld id="{BCA26155-0DCC-45D2-90B6-32F65F3F6C0F}" type="slidenum">
              <a:rPr lang="en-US" smtClean="0"/>
              <a:pPr>
                <a:defRPr/>
              </a:pPr>
              <a:t>21</a:t>
            </a:fld>
            <a:endParaRPr lang="en-US"/>
          </a:p>
        </p:txBody>
      </p:sp>
      <p:pic>
        <p:nvPicPr>
          <p:cNvPr id="7" name="Picture 6">
            <a:extLst>
              <a:ext uri="{FF2B5EF4-FFF2-40B4-BE49-F238E27FC236}">
                <a16:creationId xmlns:a16="http://schemas.microsoft.com/office/drawing/2014/main" id="{F81E24CB-DAA4-5C7D-790C-0BF03BF32EB6}"/>
              </a:ext>
            </a:extLst>
          </p:cNvPr>
          <p:cNvPicPr>
            <a:picLocks noChangeAspect="1"/>
          </p:cNvPicPr>
          <p:nvPr/>
        </p:nvPicPr>
        <p:blipFill>
          <a:blip r:embed="rId2"/>
          <a:stretch>
            <a:fillRect/>
          </a:stretch>
        </p:blipFill>
        <p:spPr>
          <a:xfrm>
            <a:off x="2264556" y="1223631"/>
            <a:ext cx="3835400" cy="2984500"/>
          </a:xfrm>
          <a:prstGeom prst="rect">
            <a:avLst/>
          </a:prstGeom>
        </p:spPr>
      </p:pic>
      <p:pic>
        <p:nvPicPr>
          <p:cNvPr id="8" name="Picture 7">
            <a:extLst>
              <a:ext uri="{FF2B5EF4-FFF2-40B4-BE49-F238E27FC236}">
                <a16:creationId xmlns:a16="http://schemas.microsoft.com/office/drawing/2014/main" id="{D3CA3C6D-DF80-360A-A6FD-C6BC1FAFF4C3}"/>
              </a:ext>
            </a:extLst>
          </p:cNvPr>
          <p:cNvPicPr>
            <a:picLocks noChangeAspect="1"/>
          </p:cNvPicPr>
          <p:nvPr/>
        </p:nvPicPr>
        <p:blipFill>
          <a:blip r:embed="rId3"/>
          <a:stretch>
            <a:fillRect/>
          </a:stretch>
        </p:blipFill>
        <p:spPr>
          <a:xfrm>
            <a:off x="1930607" y="4901593"/>
            <a:ext cx="4708995" cy="680491"/>
          </a:xfrm>
          <a:prstGeom prst="rect">
            <a:avLst/>
          </a:prstGeom>
        </p:spPr>
      </p:pic>
      <p:sp>
        <p:nvSpPr>
          <p:cNvPr id="9" name="TextBox 8">
            <a:extLst>
              <a:ext uri="{FF2B5EF4-FFF2-40B4-BE49-F238E27FC236}">
                <a16:creationId xmlns:a16="http://schemas.microsoft.com/office/drawing/2014/main" id="{CEDA0DF9-4A54-0E7B-37DA-8A60766F4998}"/>
              </a:ext>
            </a:extLst>
          </p:cNvPr>
          <p:cNvSpPr txBox="1"/>
          <p:nvPr/>
        </p:nvSpPr>
        <p:spPr>
          <a:xfrm>
            <a:off x="2803161" y="6017220"/>
            <a:ext cx="2830559" cy="369332"/>
          </a:xfrm>
          <a:prstGeom prst="rect">
            <a:avLst/>
          </a:prstGeom>
          <a:noFill/>
        </p:spPr>
        <p:txBody>
          <a:bodyPr wrap="square" rtlCol="0">
            <a:spAutoFit/>
          </a:bodyPr>
          <a:lstStyle/>
          <a:p>
            <a:pPr algn="ctr"/>
            <a:r>
              <a:rPr lang="en-US" sz="1800" dirty="0">
                <a:latin typeface="+mn-lt"/>
              </a:rPr>
              <a:t>Only even terms</a:t>
            </a:r>
          </a:p>
        </p:txBody>
      </p:sp>
    </p:spTree>
    <p:extLst>
      <p:ext uri="{BB962C8B-B14F-4D97-AF65-F5344CB8AC3E}">
        <p14:creationId xmlns:p14="http://schemas.microsoft.com/office/powerpoint/2010/main" val="3889889279"/>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A2E8C-8C27-9A40-5647-C8FF280B94FA}"/>
              </a:ext>
            </a:extLst>
          </p:cNvPr>
          <p:cNvSpPr>
            <a:spLocks noGrp="1"/>
          </p:cNvSpPr>
          <p:nvPr>
            <p:ph type="title"/>
          </p:nvPr>
        </p:nvSpPr>
        <p:spPr/>
        <p:txBody>
          <a:bodyPr/>
          <a:lstStyle/>
          <a:p>
            <a:r>
              <a:rPr lang="en-US" dirty="0"/>
              <a:t>Cosine Accuracy</a:t>
            </a:r>
          </a:p>
        </p:txBody>
      </p:sp>
      <p:sp>
        <p:nvSpPr>
          <p:cNvPr id="4" name="Date Placeholder 3">
            <a:extLst>
              <a:ext uri="{FF2B5EF4-FFF2-40B4-BE49-F238E27FC236}">
                <a16:creationId xmlns:a16="http://schemas.microsoft.com/office/drawing/2014/main" id="{4CC703C0-BD57-2B80-A341-770DFD45F2D8}"/>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64B8BF01-379D-0A6B-2384-FD0A379FFBF5}"/>
              </a:ext>
            </a:extLst>
          </p:cNvPr>
          <p:cNvSpPr>
            <a:spLocks noGrp="1"/>
          </p:cNvSpPr>
          <p:nvPr>
            <p:ph type="ftr" sz="quarter" idx="11"/>
          </p:nvPr>
        </p:nvSpPr>
        <p:spPr/>
        <p:txBody>
          <a:bodyPr/>
          <a:lstStyle/>
          <a:p>
            <a:pPr>
              <a:defRPr/>
            </a:pPr>
            <a:r>
              <a:rPr lang="en-US"/>
              <a:t>Sequences and Sums</a:t>
            </a:r>
            <a:endParaRPr lang="en-US">
              <a:latin typeface="+mn-lt"/>
            </a:endParaRPr>
          </a:p>
        </p:txBody>
      </p:sp>
      <p:sp>
        <p:nvSpPr>
          <p:cNvPr id="6" name="Slide Number Placeholder 5">
            <a:extLst>
              <a:ext uri="{FF2B5EF4-FFF2-40B4-BE49-F238E27FC236}">
                <a16:creationId xmlns:a16="http://schemas.microsoft.com/office/drawing/2014/main" id="{4A18E9E1-52CC-97B6-8255-542387CECAAF}"/>
              </a:ext>
            </a:extLst>
          </p:cNvPr>
          <p:cNvSpPr>
            <a:spLocks noGrp="1"/>
          </p:cNvSpPr>
          <p:nvPr>
            <p:ph type="sldNum" sz="quarter" idx="12"/>
          </p:nvPr>
        </p:nvSpPr>
        <p:spPr/>
        <p:txBody>
          <a:bodyPr/>
          <a:lstStyle/>
          <a:p>
            <a:pPr>
              <a:defRPr/>
            </a:pPr>
            <a:fld id="{BCA26155-0DCC-45D2-90B6-32F65F3F6C0F}" type="slidenum">
              <a:rPr lang="en-US" smtClean="0"/>
              <a:pPr>
                <a:defRPr/>
              </a:pPr>
              <a:t>22</a:t>
            </a:fld>
            <a:endParaRPr lang="en-US"/>
          </a:p>
        </p:txBody>
      </p:sp>
      <p:pic>
        <p:nvPicPr>
          <p:cNvPr id="7" name="Picture 6">
            <a:extLst>
              <a:ext uri="{FF2B5EF4-FFF2-40B4-BE49-F238E27FC236}">
                <a16:creationId xmlns:a16="http://schemas.microsoft.com/office/drawing/2014/main" id="{23583D2D-DE0B-B7CD-6D8A-BBCF2DD7B52A}"/>
              </a:ext>
            </a:extLst>
          </p:cNvPr>
          <p:cNvPicPr>
            <a:picLocks noChangeAspect="1"/>
          </p:cNvPicPr>
          <p:nvPr/>
        </p:nvPicPr>
        <p:blipFill>
          <a:blip r:embed="rId2"/>
          <a:stretch>
            <a:fillRect/>
          </a:stretch>
        </p:blipFill>
        <p:spPr>
          <a:xfrm>
            <a:off x="612690" y="1325423"/>
            <a:ext cx="6332189" cy="5061129"/>
          </a:xfrm>
          <a:prstGeom prst="rect">
            <a:avLst/>
          </a:prstGeom>
        </p:spPr>
      </p:pic>
      <p:sp>
        <p:nvSpPr>
          <p:cNvPr id="8" name="TextBox 7">
            <a:extLst>
              <a:ext uri="{FF2B5EF4-FFF2-40B4-BE49-F238E27FC236}">
                <a16:creationId xmlns:a16="http://schemas.microsoft.com/office/drawing/2014/main" id="{00DFA497-9311-0C5A-F897-BB458405BD04}"/>
              </a:ext>
            </a:extLst>
          </p:cNvPr>
          <p:cNvSpPr txBox="1"/>
          <p:nvPr/>
        </p:nvSpPr>
        <p:spPr>
          <a:xfrm>
            <a:off x="6977932" y="3999122"/>
            <a:ext cx="1553378" cy="646331"/>
          </a:xfrm>
          <a:prstGeom prst="rect">
            <a:avLst/>
          </a:prstGeom>
          <a:noFill/>
        </p:spPr>
        <p:txBody>
          <a:bodyPr wrap="square" rtlCol="0">
            <a:spAutoFit/>
          </a:bodyPr>
          <a:lstStyle/>
          <a:p>
            <a:r>
              <a:rPr lang="en-US" sz="1800" dirty="0">
                <a:solidFill>
                  <a:srgbClr val="FF0000"/>
                </a:solidFill>
                <a:latin typeface="+mn-lt"/>
              </a:rPr>
              <a:t>2</a:t>
            </a:r>
            <a:r>
              <a:rPr lang="en-US" sz="1800" baseline="30000" dirty="0">
                <a:solidFill>
                  <a:srgbClr val="FF0000"/>
                </a:solidFill>
                <a:latin typeface="+mn-lt"/>
              </a:rPr>
              <a:t>nd</a:t>
            </a:r>
            <a:r>
              <a:rPr lang="en-US" sz="1800" dirty="0">
                <a:solidFill>
                  <a:srgbClr val="FF0000"/>
                </a:solidFill>
                <a:latin typeface="+mn-lt"/>
              </a:rPr>
              <a:t> order is a parabola</a:t>
            </a:r>
          </a:p>
        </p:txBody>
      </p:sp>
      <p:cxnSp>
        <p:nvCxnSpPr>
          <p:cNvPr id="9" name="Straight Arrow Connector 8">
            <a:extLst>
              <a:ext uri="{FF2B5EF4-FFF2-40B4-BE49-F238E27FC236}">
                <a16:creationId xmlns:a16="http://schemas.microsoft.com/office/drawing/2014/main" id="{8B51FC08-6215-E4D7-3532-A6C28E3517CB}"/>
              </a:ext>
            </a:extLst>
          </p:cNvPr>
          <p:cNvCxnSpPr>
            <a:cxnSpLocks/>
          </p:cNvCxnSpPr>
          <p:nvPr/>
        </p:nvCxnSpPr>
        <p:spPr>
          <a:xfrm flipH="1">
            <a:off x="4979624" y="4483865"/>
            <a:ext cx="1998308" cy="88134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5116855"/>
      </p:ext>
    </p:extLst>
  </p:cSld>
  <p:clrMapOvr>
    <a:masterClrMapping/>
  </p:clrMapOvr>
  <p:transition>
    <p:fade thruBlk="1"/>
  </p:transition>
</p:sld>
</file>

<file path=ppt/tags/tag1.xml><?xml version="1.0" encoding="utf-8"?>
<p:tagLst xmlns:a="http://schemas.openxmlformats.org/drawingml/2006/main" xmlns:r="http://schemas.openxmlformats.org/officeDocument/2006/relationships" xmlns:p="http://schemas.openxmlformats.org/presentationml/2006/main">
  <p:tag name="FIRSTPREBYS@7EJIGINFUVWYY57I" val="435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spDef>
      <a:spPr>
        <a:noFill/>
        <a:ln>
          <a:solidFill>
            <a:srgbClr val="FF0000"/>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rgbClr val="FF0000"/>
          </a:solidFill>
          <a:tailEnd type="arrow"/>
        </a:ln>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1800" dirty="0" smtClean="0">
            <a:latin typeface="+mn-lt"/>
          </a:defRPr>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32632</TotalTime>
  <Words>850</Words>
  <Application>Microsoft Macintosh PowerPoint</Application>
  <PresentationFormat>On-screen Show (4:3)</PresentationFormat>
  <Paragraphs>179</Paragraphs>
  <Slides>22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Times New Roman</vt:lpstr>
      <vt:lpstr>Clarity</vt:lpstr>
      <vt:lpstr>Mathematical series and sums</vt:lpstr>
      <vt:lpstr>Digression: Euler Relations</vt:lpstr>
      <vt:lpstr>Mathematical Sequence</vt:lpstr>
      <vt:lpstr>Recursive Example: Fibonacci Series</vt:lpstr>
      <vt:lpstr>Programming hints to generate Fibonacci Sequence</vt:lpstr>
      <vt:lpstr>Alternative Approaches</vt:lpstr>
      <vt:lpstr>Visualizing the Fibonacci Series</vt:lpstr>
      <vt:lpstr>Digression: The Golden Ratio</vt:lpstr>
      <vt:lpstr>The Fibonacci Series and the Golden Ratio</vt:lpstr>
      <vt:lpstr>Fibonacci Series and Perfect Triangles</vt:lpstr>
      <vt:lpstr>Arithmetic Series</vt:lpstr>
      <vt:lpstr>Geometric Series</vt:lpstr>
      <vt:lpstr>Taylor Expansion (you’ll use this a lot)</vt:lpstr>
      <vt:lpstr>Taylor Expansion (cont’d)</vt:lpstr>
      <vt:lpstr>Calculating the Coefficients </vt:lpstr>
      <vt:lpstr>Maclaurin Series</vt:lpstr>
      <vt:lpstr>eax</vt:lpstr>
      <vt:lpstr>Accuracy (See Notebook)</vt:lpstr>
      <vt:lpstr>sin(x)</vt:lpstr>
      <vt:lpstr>Sine Accuracy</vt:lpstr>
      <vt:lpstr>cos(x)</vt:lpstr>
      <vt:lpstr>Cosine Accuracy</vt:lpstr>
    </vt:vector>
  </TitlesOfParts>
  <Company>Fermilab Beams Division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Antiproton Stacking and Cooling</dc:title>
  <dc:creator>localadmin</dc:creator>
  <cp:lastModifiedBy>Eric J Prebys</cp:lastModifiedBy>
  <cp:revision>713</cp:revision>
  <cp:lastPrinted>2025-01-10T20:21:22Z</cp:lastPrinted>
  <dcterms:created xsi:type="dcterms:W3CDTF">2003-06-24T14:15:57Z</dcterms:created>
  <dcterms:modified xsi:type="dcterms:W3CDTF">2025-10-08T16:26:39Z</dcterms:modified>
</cp:coreProperties>
</file>