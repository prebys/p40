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4624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9" r:id="rId4"/>
    <p:sldId id="281" r:id="rId5"/>
    <p:sldId id="261" r:id="rId6"/>
    <p:sldId id="260" r:id="rId7"/>
    <p:sldId id="283" r:id="rId8"/>
    <p:sldId id="258" r:id="rId9"/>
    <p:sldId id="282" r:id="rId10"/>
    <p:sldId id="284" r:id="rId11"/>
  </p:sldIdLst>
  <p:sldSz cx="9144000" cy="6858000" type="screen4x3"/>
  <p:notesSz cx="7315200" cy="9601200"/>
  <p:custDataLst>
    <p:tags r:id="rId1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38">
          <p15:clr>
            <a:srgbClr val="A4A3A4"/>
          </p15:clr>
        </p15:guide>
        <p15:guide id="2" pos="1272" userDrawn="1">
          <p15:clr>
            <a:srgbClr val="A4A3A4"/>
          </p15:clr>
        </p15:guide>
        <p15:guide id="3" orient="horz" pos="429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FD6F7D"/>
    <a:srgbClr val="EBEAF0"/>
    <a:srgbClr val="008000"/>
    <a:srgbClr val="CC3399"/>
    <a:srgbClr val="FF9933"/>
    <a:srgbClr val="FF9966"/>
    <a:srgbClr val="33CC33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BDC4B5-56ED-0045-B25F-6BE0E86E08BE}" v="1" dt="2025-11-19T03:53:04.9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28" autoAdjust="0"/>
    <p:restoredTop sz="96327"/>
  </p:normalViewPr>
  <p:slideViewPr>
    <p:cSldViewPr snapToGrid="0">
      <p:cViewPr varScale="1">
        <p:scale>
          <a:sx n="119" d="100"/>
          <a:sy n="119" d="100"/>
        </p:scale>
        <p:origin x="1800" y="184"/>
      </p:cViewPr>
      <p:guideLst>
        <p:guide orient="horz" pos="4238"/>
        <p:guide pos="1272"/>
        <p:guide orient="horz" pos="429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J Prebys" userId="2423660181_tp_box_2" providerId="OAuth2" clId="{7A5D5A21-A55B-52FD-95D2-896217ECBE7C}"/>
    <pc:docChg chg="custSel addSld delSld modSld">
      <pc:chgData name="Eric J Prebys" userId="2423660181_tp_box_2" providerId="OAuth2" clId="{7A5D5A21-A55B-52FD-95D2-896217ECBE7C}" dt="2025-11-19T03:54:52.847" v="312" actId="20577"/>
      <pc:docMkLst>
        <pc:docMk/>
      </pc:docMkLst>
      <pc:sldChg chg="modSp mod">
        <pc:chgData name="Eric J Prebys" userId="2423660181_tp_box_2" providerId="OAuth2" clId="{7A5D5A21-A55B-52FD-95D2-896217ECBE7C}" dt="2025-11-19T03:52:33.947" v="32" actId="20577"/>
        <pc:sldMkLst>
          <pc:docMk/>
          <pc:sldMk cId="1000467981" sldId="256"/>
        </pc:sldMkLst>
        <pc:spChg chg="mod">
          <ac:chgData name="Eric J Prebys" userId="2423660181_tp_box_2" providerId="OAuth2" clId="{7A5D5A21-A55B-52FD-95D2-896217ECBE7C}" dt="2025-11-19T03:52:33.947" v="32" actId="20577"/>
          <ac:spMkLst>
            <pc:docMk/>
            <pc:sldMk cId="1000467981" sldId="256"/>
            <ac:spMk id="2" creationId="{0DB9F709-0DC7-8849-872D-079049103E57}"/>
          </ac:spMkLst>
        </pc:spChg>
      </pc:sldChg>
      <pc:sldChg chg="del">
        <pc:chgData name="Eric J Prebys" userId="2423660181_tp_box_2" providerId="OAuth2" clId="{7A5D5A21-A55B-52FD-95D2-896217ECBE7C}" dt="2025-11-19T03:52:39.546" v="40" actId="2696"/>
        <pc:sldMkLst>
          <pc:docMk/>
          <pc:sldMk cId="421658492" sldId="257"/>
        </pc:sldMkLst>
      </pc:sldChg>
      <pc:sldChg chg="modSp new mod">
        <pc:chgData name="Eric J Prebys" userId="2423660181_tp_box_2" providerId="OAuth2" clId="{7A5D5A21-A55B-52FD-95D2-896217ECBE7C}" dt="2025-11-19T03:54:52.847" v="312" actId="20577"/>
        <pc:sldMkLst>
          <pc:docMk/>
          <pc:sldMk cId="3244521565" sldId="257"/>
        </pc:sldMkLst>
        <pc:spChg chg="mod">
          <ac:chgData name="Eric J Prebys" userId="2423660181_tp_box_2" providerId="OAuth2" clId="{7A5D5A21-A55B-52FD-95D2-896217ECBE7C}" dt="2025-11-19T03:53:31.967" v="110" actId="5793"/>
          <ac:spMkLst>
            <pc:docMk/>
            <pc:sldMk cId="3244521565" sldId="257"/>
            <ac:spMk id="2" creationId="{67EB2C15-3BB3-9ABF-4E82-E9AA17005492}"/>
          </ac:spMkLst>
        </pc:spChg>
        <pc:spChg chg="mod">
          <ac:chgData name="Eric J Prebys" userId="2423660181_tp_box_2" providerId="OAuth2" clId="{7A5D5A21-A55B-52FD-95D2-896217ECBE7C}" dt="2025-11-19T03:54:52.847" v="312" actId="20577"/>
          <ac:spMkLst>
            <pc:docMk/>
            <pc:sldMk cId="3244521565" sldId="257"/>
            <ac:spMk id="3" creationId="{3701A316-158A-3D80-3C1A-4FE069B50D1E}"/>
          </ac:spMkLst>
        </pc:spChg>
      </pc:sldChg>
      <pc:sldChg chg="del">
        <pc:chgData name="Eric J Prebys" userId="2423660181_tp_box_2" providerId="OAuth2" clId="{7A5D5A21-A55B-52FD-95D2-896217ECBE7C}" dt="2025-11-19T03:52:39.488" v="36" actId="2696"/>
        <pc:sldMkLst>
          <pc:docMk/>
          <pc:sldMk cId="3256584466" sldId="294"/>
        </pc:sldMkLst>
      </pc:sldChg>
      <pc:sldChg chg="del">
        <pc:chgData name="Eric J Prebys" userId="2423660181_tp_box_2" providerId="OAuth2" clId="{7A5D5A21-A55B-52FD-95D2-896217ECBE7C}" dt="2025-11-19T03:52:39.481" v="33" actId="2696"/>
        <pc:sldMkLst>
          <pc:docMk/>
          <pc:sldMk cId="3425575485" sldId="466"/>
        </pc:sldMkLst>
      </pc:sldChg>
      <pc:sldChg chg="del">
        <pc:chgData name="Eric J Prebys" userId="2423660181_tp_box_2" providerId="OAuth2" clId="{7A5D5A21-A55B-52FD-95D2-896217ECBE7C}" dt="2025-11-19T03:52:39.539" v="39" actId="2696"/>
        <pc:sldMkLst>
          <pc:docMk/>
          <pc:sldMk cId="2879141042" sldId="467"/>
        </pc:sldMkLst>
      </pc:sldChg>
      <pc:sldChg chg="del">
        <pc:chgData name="Eric J Prebys" userId="2423660181_tp_box_2" providerId="OAuth2" clId="{7A5D5A21-A55B-52FD-95D2-896217ECBE7C}" dt="2025-11-19T03:52:39.483" v="34" actId="2696"/>
        <pc:sldMkLst>
          <pc:docMk/>
          <pc:sldMk cId="2787642212" sldId="468"/>
        </pc:sldMkLst>
      </pc:sldChg>
      <pc:sldChg chg="del">
        <pc:chgData name="Eric J Prebys" userId="2423660181_tp_box_2" providerId="OAuth2" clId="{7A5D5A21-A55B-52FD-95D2-896217ECBE7C}" dt="2025-11-19T03:52:39.565" v="42" actId="2696"/>
        <pc:sldMkLst>
          <pc:docMk/>
          <pc:sldMk cId="1362813063" sldId="478"/>
        </pc:sldMkLst>
      </pc:sldChg>
      <pc:sldChg chg="del">
        <pc:chgData name="Eric J Prebys" userId="2423660181_tp_box_2" providerId="OAuth2" clId="{7A5D5A21-A55B-52FD-95D2-896217ECBE7C}" dt="2025-11-19T03:52:39.547" v="41" actId="2696"/>
        <pc:sldMkLst>
          <pc:docMk/>
          <pc:sldMk cId="1064359564" sldId="479"/>
        </pc:sldMkLst>
      </pc:sldChg>
      <pc:sldChg chg="del">
        <pc:chgData name="Eric J Prebys" userId="2423660181_tp_box_2" providerId="OAuth2" clId="{7A5D5A21-A55B-52FD-95D2-896217ECBE7C}" dt="2025-11-19T03:52:39.501" v="38" actId="2696"/>
        <pc:sldMkLst>
          <pc:docMk/>
          <pc:sldMk cId="312835816" sldId="480"/>
        </pc:sldMkLst>
      </pc:sldChg>
      <pc:sldChg chg="del">
        <pc:chgData name="Eric J Prebys" userId="2423660181_tp_box_2" providerId="OAuth2" clId="{7A5D5A21-A55B-52FD-95D2-896217ECBE7C}" dt="2025-11-19T03:52:39.489" v="37" actId="2696"/>
        <pc:sldMkLst>
          <pc:docMk/>
          <pc:sldMk cId="1801438490" sldId="481"/>
        </pc:sldMkLst>
      </pc:sldChg>
      <pc:sldChg chg="del">
        <pc:chgData name="Eric J Prebys" userId="2423660181_tp_box_2" providerId="OAuth2" clId="{7A5D5A21-A55B-52FD-95D2-896217ECBE7C}" dt="2025-11-19T03:52:39.484" v="35" actId="2696"/>
        <pc:sldMkLst>
          <pc:docMk/>
          <pc:sldMk cId="3827159221" sldId="48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r">
              <a:defRPr sz="1300"/>
            </a:lvl1pPr>
          </a:lstStyle>
          <a:p>
            <a:fld id="{D5D641E0-C0FB-FB45-BE20-B5E285E46BDA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r">
              <a:defRPr sz="1300"/>
            </a:lvl1pPr>
          </a:lstStyle>
          <a:p>
            <a:fld id="{B2CD667F-4C0A-F045-9861-4468224AE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965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7" tIns="48324" rIns="96647" bIns="483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2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7" tIns="48324" rIns="96647" bIns="483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1" y="4560570"/>
            <a:ext cx="536448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7" tIns="48324" rIns="96647" bIns="483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7" tIns="48324" rIns="96647" bIns="483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2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7" tIns="48324" rIns="96647" bIns="483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840E8FAF-0EB9-4F3C-9D18-30F5214B3A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1687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448882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582482"/>
            <a:ext cx="6400800" cy="554404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Random Python Tools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C4FB-7D33-419B-8833-D1372BFD11C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294106" y="5472156"/>
            <a:ext cx="8643661" cy="364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Random Python Tools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Random Python Tools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248656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248656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Random Python Tools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914655-DFE5-45AD-AEB7-B6324F535D8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Random Python Tools</a:t>
            </a:r>
            <a:endParaRPr lang="en-US">
              <a:latin typeface="+mn-lt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013A5A-BD10-4E42-8EDD-42C4A14A64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Random Python Tools</a:t>
            </a:r>
            <a:endParaRPr lang="en-US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B536C3-BB10-4165-8E74-99838CB517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Random Python Tools</a:t>
            </a:r>
            <a:endParaRPr lang="en-US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871096-0617-41A5-9758-D8016564092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Random Python Tools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Random Python Tools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A0D8F-9A19-4D03-8318-653C6FCD8B9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Random Python Tools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09CFA1-B09C-442F-85C3-919131D33D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Random Python Tools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B137E2-35D0-4667-9362-8260FF57AB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1713" y="471448"/>
            <a:ext cx="8229600" cy="628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713" y="1182021"/>
            <a:ext cx="8229600" cy="5441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40944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Random Python Tools</a:t>
            </a:r>
            <a:endParaRPr lang="en-US" dirty="0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9560" y="18288"/>
            <a:ext cx="77724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210FB4-E372-466D-A3EB-21FD966A10F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Text Box 11"/>
          <p:cNvSpPr txBox="1">
            <a:spLocks noChangeArrowheads="1"/>
          </p:cNvSpPr>
          <p:nvPr userDrawn="1"/>
        </p:nvSpPr>
        <p:spPr bwMode="auto">
          <a:xfrm>
            <a:off x="381000" y="6553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781336" y="1"/>
            <a:ext cx="362663" cy="3708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25" r:id="rId1"/>
    <p:sldLayoutId id="2147484626" r:id="rId2"/>
    <p:sldLayoutId id="2147484627" r:id="rId3"/>
    <p:sldLayoutId id="2147484628" r:id="rId4"/>
    <p:sldLayoutId id="2147484629" r:id="rId5"/>
    <p:sldLayoutId id="2147484630" r:id="rId6"/>
    <p:sldLayoutId id="2147484631" r:id="rId7"/>
    <p:sldLayoutId id="2147484632" r:id="rId8"/>
    <p:sldLayoutId id="2147484633" r:id="rId9"/>
    <p:sldLayoutId id="2147484634" r:id="rId10"/>
    <p:sldLayoutId id="2147484635" r:id="rId11"/>
  </p:sldLayoutIdLst>
  <p:transition>
    <p:fade thruBlk="1"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32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wmf"/><Relationship Id="rId10" Type="http://schemas.openxmlformats.org/officeDocument/2006/relationships/image" Target="../media/image7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9F709-0DC7-8849-872D-079049103E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050" y="1231835"/>
            <a:ext cx="7848600" cy="1927225"/>
          </a:xfrm>
        </p:spPr>
        <p:txBody>
          <a:bodyPr/>
          <a:lstStyle/>
          <a:p>
            <a:r>
              <a:rPr lang="en-US" dirty="0"/>
              <a:t>Random Python Tools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44D4B2-62CD-7942-82CC-69E45AE79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5582482"/>
            <a:ext cx="6400800" cy="95495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Eric </a:t>
            </a:r>
            <a:r>
              <a:rPr lang="en-US" dirty="0" err="1"/>
              <a:t>Prebys</a:t>
            </a:r>
            <a:endParaRPr lang="en-US" dirty="0"/>
          </a:p>
          <a:p>
            <a:r>
              <a:rPr lang="en-US" dirty="0" err="1"/>
              <a:t>Phy</a:t>
            </a:r>
            <a:r>
              <a:rPr lang="en-US" dirty="0"/>
              <a:t> 40</a:t>
            </a:r>
          </a:p>
          <a:p>
            <a:r>
              <a:rPr lang="en-US" dirty="0"/>
              <a:t>Fall 2025</a:t>
            </a:r>
          </a:p>
        </p:txBody>
      </p:sp>
    </p:spTree>
    <p:extLst>
      <p:ext uri="{BB962C8B-B14F-4D97-AF65-F5344CB8AC3E}">
        <p14:creationId xmlns:p14="http://schemas.microsoft.com/office/powerpoint/2010/main" val="1000467981"/>
      </p:ext>
    </p:extLst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B2C15-3BB3-9ABF-4E82-E9AA17005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We Won’t Discuss Elsewhere…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1A316-158A-3D80-3C1A-4FE069B50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sympy</a:t>
            </a:r>
            <a:endParaRPr lang="en-US" dirty="0"/>
          </a:p>
          <a:p>
            <a:pPr lvl="1"/>
            <a:r>
              <a:rPr lang="en-US" dirty="0"/>
              <a:t>Python symbolic manipulation package.</a:t>
            </a:r>
          </a:p>
          <a:p>
            <a:r>
              <a:rPr lang="en-US" dirty="0"/>
              <a:t>pickle</a:t>
            </a:r>
          </a:p>
          <a:p>
            <a:pPr lvl="1"/>
            <a:r>
              <a:rPr lang="en-US" dirty="0"/>
              <a:t>Useful for storing objects and data</a:t>
            </a:r>
          </a:p>
          <a:p>
            <a:r>
              <a:rPr lang="en-US" dirty="0"/>
              <a:t>OS tools</a:t>
            </a:r>
          </a:p>
          <a:p>
            <a:pPr lvl="1"/>
            <a:r>
              <a:rPr lang="en-US" dirty="0"/>
              <a:t>OS information</a:t>
            </a:r>
          </a:p>
          <a:p>
            <a:pPr lvl="1"/>
            <a:r>
              <a:rPr lang="en-US" dirty="0"/>
              <a:t>File access</a:t>
            </a:r>
          </a:p>
          <a:p>
            <a:r>
              <a:rPr lang="en-US" dirty="0"/>
              <a:t>GUI controls </a:t>
            </a:r>
          </a:p>
          <a:p>
            <a:pPr lvl="1"/>
            <a:r>
              <a:rPr lang="en-US" dirty="0" err="1"/>
              <a:t>Tkinter</a:t>
            </a:r>
            <a:r>
              <a:rPr lang="en-US" dirty="0"/>
              <a:t> (python)</a:t>
            </a:r>
          </a:p>
          <a:p>
            <a:pPr lvl="1"/>
            <a:r>
              <a:rPr lang="en-US" dirty="0" err="1"/>
              <a:t>ipywidgets</a:t>
            </a:r>
            <a:r>
              <a:rPr lang="en-US" dirty="0"/>
              <a:t> (native </a:t>
            </a:r>
            <a:r>
              <a:rPr lang="en-US" dirty="0" err="1"/>
              <a:t>jupyter</a:t>
            </a:r>
            <a:r>
              <a:rPr lang="en-US" dirty="0"/>
              <a:t>)</a:t>
            </a:r>
          </a:p>
          <a:p>
            <a:r>
              <a:rPr lang="en-US" dirty="0"/>
              <a:t>Asynchronous processes</a:t>
            </a:r>
          </a:p>
          <a:p>
            <a:r>
              <a:rPr lang="en-US" dirty="0"/>
              <a:t>TCP/IP Communication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AE6E6-FE37-8237-A79E-011DEFCA7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C6C75-579E-9E24-8794-4496212A3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Random Python Tools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585D6-8221-C713-DF15-DF4C30859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21565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8C6B9-DA6A-736E-24D0-4E0CB5F13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Python (</a:t>
            </a:r>
            <a:r>
              <a:rPr lang="en-US" dirty="0" err="1"/>
              <a:t>sympy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08D07-021C-62CD-24D7-43BFFD452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Symbolic python (</a:t>
            </a:r>
            <a:r>
              <a:rPr lang="en-US" dirty="0" err="1"/>
              <a:t>sympy</a:t>
            </a:r>
            <a:r>
              <a:rPr lang="en-US" dirty="0"/>
              <a:t>) is a powerful Computer Algebra System (CAS) tool; that is, it’s a tool for handling </a:t>
            </a:r>
            <a:r>
              <a:rPr lang="en-US" i="1" dirty="0"/>
              <a:t>symbolic </a:t>
            </a:r>
            <a:r>
              <a:rPr lang="en-US" dirty="0"/>
              <a:t>mathematical operations.</a:t>
            </a:r>
          </a:p>
          <a:p>
            <a:r>
              <a:rPr lang="en-US" dirty="0"/>
              <a:t>Good substitute for things like Mathematica, Maple, and the CAS part of </a:t>
            </a:r>
            <a:r>
              <a:rPr lang="en-US" dirty="0" err="1"/>
              <a:t>Matlab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All of which have their own learning curve and cost money.</a:t>
            </a:r>
          </a:p>
          <a:p>
            <a:pPr lvl="1"/>
            <a:r>
              <a:rPr lang="en-US" dirty="0" err="1"/>
              <a:t>Sympy</a:t>
            </a:r>
            <a:r>
              <a:rPr lang="en-US" dirty="0"/>
              <a:t> is extremely intuitive and easy to use.</a:t>
            </a:r>
          </a:p>
          <a:p>
            <a:r>
              <a:rPr lang="en-US" dirty="0"/>
              <a:t>Capabilities include</a:t>
            </a:r>
          </a:p>
          <a:p>
            <a:pPr lvl="1"/>
            <a:r>
              <a:rPr lang="en-US" dirty="0"/>
              <a:t>Integration.</a:t>
            </a:r>
          </a:p>
          <a:p>
            <a:pPr lvl="1"/>
            <a:r>
              <a:rPr lang="en-US" dirty="0"/>
              <a:t>Differentiation.</a:t>
            </a:r>
          </a:p>
          <a:p>
            <a:pPr lvl="1"/>
            <a:r>
              <a:rPr lang="en-US" dirty="0"/>
              <a:t>Analytical and numerical root finding.</a:t>
            </a:r>
          </a:p>
          <a:p>
            <a:pPr lvl="1"/>
            <a:r>
              <a:rPr lang="en-US" dirty="0"/>
              <a:t>Plotting</a:t>
            </a:r>
          </a:p>
          <a:p>
            <a:pPr lvl="1"/>
            <a:r>
              <a:rPr lang="en-US" dirty="0"/>
              <a:t>Matrix and vector operations</a:t>
            </a:r>
          </a:p>
          <a:p>
            <a:pPr lvl="1"/>
            <a:r>
              <a:rPr lang="en-US" dirty="0"/>
              <a:t>LaTeX rendering</a:t>
            </a:r>
          </a:p>
          <a:p>
            <a:pPr lvl="1"/>
            <a:endParaRPr lang="en-US" dirty="0"/>
          </a:p>
          <a:p>
            <a:pPr marL="0" indent="0" algn="ctr">
              <a:buNone/>
            </a:pPr>
            <a:r>
              <a:rPr lang="en-US" dirty="0"/>
              <a:t>(go to demo)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1E707-0705-E6B8-7486-2681C909E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9AB7D-9CB1-F167-4940-6DEEECFA9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Random Python Tools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5CA14-635E-0CCE-8DD2-C7C1A068C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235B6F-0E14-0EA6-F017-93812FFFA338}"/>
              </a:ext>
            </a:extLst>
          </p:cNvPr>
          <p:cNvSpPr txBox="1"/>
          <p:nvPr/>
        </p:nvSpPr>
        <p:spPr>
          <a:xfrm>
            <a:off x="5056093" y="4830183"/>
            <a:ext cx="1875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+mn-lt"/>
              </a:rPr>
              <a:t>Very handy for these!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7EEC17-44F9-50CE-E9BE-015F04134D0C}"/>
              </a:ext>
            </a:extLst>
          </p:cNvPr>
          <p:cNvCxnSpPr/>
          <p:nvPr/>
        </p:nvCxnSpPr>
        <p:spPr>
          <a:xfrm flipH="1">
            <a:off x="4313816" y="5041141"/>
            <a:ext cx="742277" cy="1936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2195355"/>
      </p:ext>
    </p:extLst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733" y="303991"/>
            <a:ext cx="7886700" cy="600164"/>
          </a:xfrm>
        </p:spPr>
        <p:txBody>
          <a:bodyPr/>
          <a:lstStyle/>
          <a:p>
            <a:r>
              <a:rPr lang="en-US" dirty="0"/>
              <a:t>Classical Optics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088" y="800102"/>
            <a:ext cx="8355012" cy="4852611"/>
          </a:xfrm>
        </p:spPr>
        <p:txBody>
          <a:bodyPr>
            <a:normAutofit/>
          </a:bodyPr>
          <a:lstStyle/>
          <a:p>
            <a:r>
              <a:rPr lang="en-US" sz="2000" dirty="0"/>
              <a:t>If we use the ”parallax” approximation for small angles</a:t>
            </a:r>
          </a:p>
          <a:p>
            <a:endParaRPr lang="en-US" sz="2800" dirty="0"/>
          </a:p>
          <a:p>
            <a:r>
              <a:rPr lang="en-US" sz="2000" dirty="0"/>
              <a:t>Then we can represent lenses and “drifts” by “transfer matrices”..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32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graphicFrame>
        <p:nvGraphicFramePr>
          <p:cNvPr id="2068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2021606"/>
              </p:ext>
            </p:extLst>
          </p:nvPr>
        </p:nvGraphicFramePr>
        <p:xfrm>
          <a:off x="3573470" y="2721410"/>
          <a:ext cx="5383590" cy="1228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95480" imgH="660240" progId="Equation.3">
                  <p:embed/>
                </p:oleObj>
              </mc:Choice>
              <mc:Fallback>
                <p:oleObj name="Equation" r:id="rId2" imgW="2895480" imgH="660240" progId="Equation.3">
                  <p:embed/>
                  <p:pic>
                    <p:nvPicPr>
                      <p:cNvPr id="2068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3470" y="2721410"/>
                        <a:ext cx="5383590" cy="1228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2740975"/>
              </p:ext>
            </p:extLst>
          </p:nvPr>
        </p:nvGraphicFramePr>
        <p:xfrm>
          <a:off x="3266232" y="5007695"/>
          <a:ext cx="5764151" cy="883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84400" imgH="457200" progId="Equation.3">
                  <p:embed/>
                </p:oleObj>
              </mc:Choice>
              <mc:Fallback>
                <p:oleObj name="Equation" r:id="rId4" imgW="2984400" imgH="457200" progId="Equation.3">
                  <p:embed/>
                  <p:pic>
                    <p:nvPicPr>
                      <p:cNvPr id="2068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6232" y="5007695"/>
                        <a:ext cx="5764151" cy="8833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2665" y="2490980"/>
            <a:ext cx="14977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Lens:</a:t>
            </a:r>
          </a:p>
        </p:txBody>
      </p:sp>
      <p:grpSp>
        <p:nvGrpSpPr>
          <p:cNvPr id="4" name="Group 11"/>
          <p:cNvGrpSpPr/>
          <p:nvPr/>
        </p:nvGrpSpPr>
        <p:grpSpPr>
          <a:xfrm>
            <a:off x="385855" y="2875030"/>
            <a:ext cx="3048000" cy="1143000"/>
            <a:chOff x="1345980" y="4623825"/>
            <a:chExt cx="3048000" cy="1143000"/>
          </a:xfrm>
        </p:grpSpPr>
        <p:grpSp>
          <p:nvGrpSpPr>
            <p:cNvPr id="5" name="Group 28"/>
            <p:cNvGrpSpPr>
              <a:grpSpLocks/>
            </p:cNvGrpSpPr>
            <p:nvPr/>
          </p:nvGrpSpPr>
          <p:grpSpPr bwMode="auto">
            <a:xfrm>
              <a:off x="2641397" y="4623825"/>
              <a:ext cx="304801" cy="1143000"/>
              <a:chOff x="3077" y="2111"/>
              <a:chExt cx="176" cy="481"/>
            </a:xfrm>
          </p:grpSpPr>
          <p:sp>
            <p:nvSpPr>
              <p:cNvPr id="21" name="Freeform 29"/>
              <p:cNvSpPr>
                <a:spLocks/>
              </p:cNvSpPr>
              <p:nvPr/>
            </p:nvSpPr>
            <p:spPr bwMode="auto">
              <a:xfrm>
                <a:off x="3168" y="2112"/>
                <a:ext cx="85" cy="480"/>
              </a:xfrm>
              <a:custGeom>
                <a:avLst/>
                <a:gdLst>
                  <a:gd name="T0" fmla="*/ 0 w 85"/>
                  <a:gd name="T1" fmla="*/ 0 h 480"/>
                  <a:gd name="T2" fmla="*/ 81 w 85"/>
                  <a:gd name="T3" fmla="*/ 244 h 480"/>
                  <a:gd name="T4" fmla="*/ 23 w 85"/>
                  <a:gd name="T5" fmla="*/ 480 h 480"/>
                  <a:gd name="T6" fmla="*/ 0 60000 65536"/>
                  <a:gd name="T7" fmla="*/ 0 60000 65536"/>
                  <a:gd name="T8" fmla="*/ 0 60000 65536"/>
                  <a:gd name="T9" fmla="*/ 0 w 85"/>
                  <a:gd name="T10" fmla="*/ 0 h 480"/>
                  <a:gd name="T11" fmla="*/ 85 w 85"/>
                  <a:gd name="T12" fmla="*/ 480 h 48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5" h="480">
                    <a:moveTo>
                      <a:pt x="0" y="0"/>
                    </a:moveTo>
                    <a:cubicBezTo>
                      <a:pt x="14" y="41"/>
                      <a:pt x="77" y="164"/>
                      <a:pt x="81" y="244"/>
                    </a:cubicBezTo>
                    <a:cubicBezTo>
                      <a:pt x="85" y="324"/>
                      <a:pt x="35" y="431"/>
                      <a:pt x="23" y="48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0"/>
              <p:cNvSpPr>
                <a:spLocks/>
              </p:cNvSpPr>
              <p:nvPr/>
            </p:nvSpPr>
            <p:spPr bwMode="auto">
              <a:xfrm>
                <a:off x="3077" y="2111"/>
                <a:ext cx="90" cy="480"/>
              </a:xfrm>
              <a:custGeom>
                <a:avLst/>
                <a:gdLst>
                  <a:gd name="T0" fmla="*/ 90 w 90"/>
                  <a:gd name="T1" fmla="*/ 480 h 480"/>
                  <a:gd name="T2" fmla="*/ 4 w 90"/>
                  <a:gd name="T3" fmla="*/ 264 h 480"/>
                  <a:gd name="T4" fmla="*/ 67 w 90"/>
                  <a:gd name="T5" fmla="*/ 0 h 480"/>
                  <a:gd name="T6" fmla="*/ 0 60000 65536"/>
                  <a:gd name="T7" fmla="*/ 0 60000 65536"/>
                  <a:gd name="T8" fmla="*/ 0 60000 65536"/>
                  <a:gd name="T9" fmla="*/ 0 w 90"/>
                  <a:gd name="T10" fmla="*/ 0 h 480"/>
                  <a:gd name="T11" fmla="*/ 90 w 90"/>
                  <a:gd name="T12" fmla="*/ 480 h 48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0" h="480">
                    <a:moveTo>
                      <a:pt x="90" y="480"/>
                    </a:moveTo>
                    <a:cubicBezTo>
                      <a:pt x="76" y="444"/>
                      <a:pt x="8" y="344"/>
                      <a:pt x="4" y="264"/>
                    </a:cubicBezTo>
                    <a:cubicBezTo>
                      <a:pt x="0" y="184"/>
                      <a:pt x="54" y="55"/>
                      <a:pt x="67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" name="Line 36"/>
            <p:cNvSpPr>
              <a:spLocks noChangeShapeType="1"/>
            </p:cNvSpPr>
            <p:nvPr/>
          </p:nvSpPr>
          <p:spPr bwMode="auto">
            <a:xfrm>
              <a:off x="1345980" y="5157225"/>
              <a:ext cx="2895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38"/>
            <p:cNvSpPr>
              <a:spLocks noChangeShapeType="1"/>
            </p:cNvSpPr>
            <p:nvPr/>
          </p:nvSpPr>
          <p:spPr bwMode="auto">
            <a:xfrm>
              <a:off x="1726980" y="4928625"/>
              <a:ext cx="1066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39"/>
            <p:cNvSpPr>
              <a:spLocks noChangeShapeType="1"/>
            </p:cNvSpPr>
            <p:nvPr/>
          </p:nvSpPr>
          <p:spPr bwMode="auto">
            <a:xfrm>
              <a:off x="2793780" y="4928625"/>
              <a:ext cx="15240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40"/>
            <p:cNvSpPr>
              <a:spLocks noChangeShapeType="1"/>
            </p:cNvSpPr>
            <p:nvPr/>
          </p:nvSpPr>
          <p:spPr bwMode="auto">
            <a:xfrm>
              <a:off x="1803180" y="4776225"/>
              <a:ext cx="990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41"/>
            <p:cNvSpPr>
              <a:spLocks noChangeShapeType="1"/>
            </p:cNvSpPr>
            <p:nvPr/>
          </p:nvSpPr>
          <p:spPr bwMode="auto">
            <a:xfrm>
              <a:off x="2793780" y="4776225"/>
              <a:ext cx="13716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42"/>
            <p:cNvSpPr>
              <a:spLocks noChangeShapeType="1"/>
            </p:cNvSpPr>
            <p:nvPr/>
          </p:nvSpPr>
          <p:spPr bwMode="auto">
            <a:xfrm>
              <a:off x="1803180" y="5462025"/>
              <a:ext cx="990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43"/>
            <p:cNvSpPr>
              <a:spLocks noChangeShapeType="1"/>
            </p:cNvSpPr>
            <p:nvPr/>
          </p:nvSpPr>
          <p:spPr bwMode="auto">
            <a:xfrm flipV="1">
              <a:off x="2793780" y="4852425"/>
              <a:ext cx="16002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24" name="Straight Connector 23"/>
          <p:cNvCxnSpPr/>
          <p:nvPr/>
        </p:nvCxnSpPr>
        <p:spPr>
          <a:xfrm>
            <a:off x="610857" y="5546088"/>
            <a:ext cx="261154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879692" y="5008422"/>
            <a:ext cx="1843440" cy="2688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5502337"/>
              </p:ext>
            </p:extLst>
          </p:nvPr>
        </p:nvGraphicFramePr>
        <p:xfrm>
          <a:off x="879692" y="5622898"/>
          <a:ext cx="46086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1960" imgH="139680" progId="Equation.3">
                  <p:embed/>
                </p:oleObj>
              </mc:Choice>
              <mc:Fallback>
                <p:oleObj name="Equation" r:id="rId6" imgW="291960" imgH="139680" progId="Equation.3">
                  <p:embed/>
                  <p:pic>
                    <p:nvPicPr>
                      <p:cNvPr id="2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692" y="5622898"/>
                        <a:ext cx="460860" cy="139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1850930"/>
              </p:ext>
            </p:extLst>
          </p:nvPr>
        </p:nvGraphicFramePr>
        <p:xfrm>
          <a:off x="687669" y="5315658"/>
          <a:ext cx="241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1200" imgH="203040" progId="Equation.3">
                  <p:embed/>
                </p:oleObj>
              </mc:Choice>
              <mc:Fallback>
                <p:oleObj name="Equation" r:id="rId8" imgW="241200" imgH="203040" progId="Equation.3">
                  <p:embed/>
                  <p:pic>
                    <p:nvPicPr>
                      <p:cNvPr id="2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669" y="5315658"/>
                        <a:ext cx="2413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34047" y="4739583"/>
            <a:ext cx="14977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Drift:</a:t>
            </a:r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C16510-01E7-4757-9488-65999956462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33" name="Footer Placeholder 3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Random Python Tools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88C219-7EE7-9499-F37A-93ACE29AC9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3755" y="1274871"/>
            <a:ext cx="4064000" cy="279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1EFDA0-6F8D-94B7-B603-253037A9EBC5}"/>
              </a:ext>
            </a:extLst>
          </p:cNvPr>
          <p:cNvSpPr txBox="1"/>
          <p:nvPr/>
        </p:nvSpPr>
        <p:spPr>
          <a:xfrm>
            <a:off x="4572000" y="2198620"/>
            <a:ext cx="26064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+mn-lt"/>
              </a:rPr>
              <a:t>Transverse position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74B0688-CB1C-5F7D-7472-63EBF2DABD1D}"/>
              </a:ext>
            </a:extLst>
          </p:cNvPr>
          <p:cNvCxnSpPr>
            <a:cxnSpLocks/>
          </p:cNvCxnSpPr>
          <p:nvPr/>
        </p:nvCxnSpPr>
        <p:spPr>
          <a:xfrm flipH="1">
            <a:off x="3743661" y="2380721"/>
            <a:ext cx="828339" cy="4680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708D6FA-F6CA-7DA6-6413-19375D8662FE}"/>
              </a:ext>
            </a:extLst>
          </p:cNvPr>
          <p:cNvSpPr txBox="1"/>
          <p:nvPr/>
        </p:nvSpPr>
        <p:spPr>
          <a:xfrm>
            <a:off x="4238513" y="4169763"/>
            <a:ext cx="26064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+mn-lt"/>
              </a:rPr>
              <a:t>Slope </a:t>
            </a:r>
            <a:r>
              <a:rPr lang="en-US" sz="1400" dirty="0" err="1">
                <a:solidFill>
                  <a:srgbClr val="FF0000"/>
                </a:solidFill>
                <a:latin typeface="+mn-lt"/>
              </a:rPr>
              <a:t>wrt</a:t>
            </a:r>
            <a:r>
              <a:rPr lang="en-US" sz="1400" dirty="0">
                <a:solidFill>
                  <a:srgbClr val="FF0000"/>
                </a:solidFill>
                <a:latin typeface="+mn-lt"/>
              </a:rPr>
              <a:t> axis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FC82F57-78CD-7561-E179-16B66D222DC6}"/>
              </a:ext>
            </a:extLst>
          </p:cNvPr>
          <p:cNvCxnSpPr>
            <a:cxnSpLocks/>
          </p:cNvCxnSpPr>
          <p:nvPr/>
        </p:nvCxnSpPr>
        <p:spPr>
          <a:xfrm flipH="1" flipV="1">
            <a:off x="3737184" y="3719945"/>
            <a:ext cx="501329" cy="4454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202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E595C-1CB9-E8A6-DE91-A4211AC59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Optics Example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9D3B4-10C6-D5D2-8D3C-48FE91179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Representing a system of lenses and drifts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B26D3-D53B-0386-34D0-2588AB774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71634-E4F9-9B08-26D0-A931BBAD3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Random Python Tools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AE979-4143-A84F-6A5F-B05951626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grpSp>
        <p:nvGrpSpPr>
          <p:cNvPr id="7" name="Group 50">
            <a:extLst>
              <a:ext uri="{FF2B5EF4-FFF2-40B4-BE49-F238E27FC236}">
                <a16:creationId xmlns:a16="http://schemas.microsoft.com/office/drawing/2014/main" id="{F4E1BFAF-D9DF-CD05-AB51-AB898E2F76E9}"/>
              </a:ext>
            </a:extLst>
          </p:cNvPr>
          <p:cNvGrpSpPr>
            <a:grpSpLocks/>
          </p:cNvGrpSpPr>
          <p:nvPr/>
        </p:nvGrpSpPr>
        <p:grpSpPr bwMode="auto">
          <a:xfrm>
            <a:off x="1719276" y="2178235"/>
            <a:ext cx="304800" cy="1143000"/>
            <a:chOff x="3077" y="2111"/>
            <a:chExt cx="176" cy="481"/>
          </a:xfrm>
        </p:grpSpPr>
        <p:sp>
          <p:nvSpPr>
            <p:cNvPr id="8" name="Freeform 51">
              <a:extLst>
                <a:ext uri="{FF2B5EF4-FFF2-40B4-BE49-F238E27FC236}">
                  <a16:creationId xmlns:a16="http://schemas.microsoft.com/office/drawing/2014/main" id="{A0B65218-DF45-B373-C9C1-D7F3DBB2C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8" y="2112"/>
              <a:ext cx="85" cy="480"/>
            </a:xfrm>
            <a:custGeom>
              <a:avLst/>
              <a:gdLst>
                <a:gd name="T0" fmla="*/ 0 w 85"/>
                <a:gd name="T1" fmla="*/ 0 h 480"/>
                <a:gd name="T2" fmla="*/ 81 w 85"/>
                <a:gd name="T3" fmla="*/ 244 h 480"/>
                <a:gd name="T4" fmla="*/ 23 w 85"/>
                <a:gd name="T5" fmla="*/ 480 h 480"/>
                <a:gd name="T6" fmla="*/ 0 60000 65536"/>
                <a:gd name="T7" fmla="*/ 0 60000 65536"/>
                <a:gd name="T8" fmla="*/ 0 60000 65536"/>
                <a:gd name="T9" fmla="*/ 0 w 85"/>
                <a:gd name="T10" fmla="*/ 0 h 480"/>
                <a:gd name="T11" fmla="*/ 85 w 85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5" h="480">
                  <a:moveTo>
                    <a:pt x="0" y="0"/>
                  </a:moveTo>
                  <a:cubicBezTo>
                    <a:pt x="14" y="41"/>
                    <a:pt x="77" y="164"/>
                    <a:pt x="81" y="244"/>
                  </a:cubicBezTo>
                  <a:cubicBezTo>
                    <a:pt x="85" y="324"/>
                    <a:pt x="35" y="431"/>
                    <a:pt x="23" y="48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52">
              <a:extLst>
                <a:ext uri="{FF2B5EF4-FFF2-40B4-BE49-F238E27FC236}">
                  <a16:creationId xmlns:a16="http://schemas.microsoft.com/office/drawing/2014/main" id="{F5AE2846-5A61-05EA-7C3A-73A612F527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7" y="2111"/>
              <a:ext cx="90" cy="480"/>
            </a:xfrm>
            <a:custGeom>
              <a:avLst/>
              <a:gdLst>
                <a:gd name="T0" fmla="*/ 90 w 90"/>
                <a:gd name="T1" fmla="*/ 480 h 480"/>
                <a:gd name="T2" fmla="*/ 4 w 90"/>
                <a:gd name="T3" fmla="*/ 264 h 480"/>
                <a:gd name="T4" fmla="*/ 67 w 90"/>
                <a:gd name="T5" fmla="*/ 0 h 480"/>
                <a:gd name="T6" fmla="*/ 0 60000 65536"/>
                <a:gd name="T7" fmla="*/ 0 60000 65536"/>
                <a:gd name="T8" fmla="*/ 0 60000 65536"/>
                <a:gd name="T9" fmla="*/ 0 w 90"/>
                <a:gd name="T10" fmla="*/ 0 h 480"/>
                <a:gd name="T11" fmla="*/ 90 w 90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0" h="480">
                  <a:moveTo>
                    <a:pt x="90" y="480"/>
                  </a:moveTo>
                  <a:cubicBezTo>
                    <a:pt x="76" y="444"/>
                    <a:pt x="8" y="344"/>
                    <a:pt x="4" y="264"/>
                  </a:cubicBezTo>
                  <a:cubicBezTo>
                    <a:pt x="0" y="184"/>
                    <a:pt x="54" y="55"/>
                    <a:pt x="67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53">
            <a:extLst>
              <a:ext uri="{FF2B5EF4-FFF2-40B4-BE49-F238E27FC236}">
                <a16:creationId xmlns:a16="http://schemas.microsoft.com/office/drawing/2014/main" id="{C6F083FA-579E-DF65-1E03-7D2936F2862C}"/>
              </a:ext>
            </a:extLst>
          </p:cNvPr>
          <p:cNvGrpSpPr>
            <a:grpSpLocks/>
          </p:cNvGrpSpPr>
          <p:nvPr/>
        </p:nvGrpSpPr>
        <p:grpSpPr bwMode="auto">
          <a:xfrm>
            <a:off x="3438961" y="2216640"/>
            <a:ext cx="381000" cy="1066800"/>
            <a:chOff x="4267" y="2160"/>
            <a:chExt cx="240" cy="481"/>
          </a:xfrm>
        </p:grpSpPr>
        <p:sp>
          <p:nvSpPr>
            <p:cNvPr id="11" name="Freeform 54">
              <a:extLst>
                <a:ext uri="{FF2B5EF4-FFF2-40B4-BE49-F238E27FC236}">
                  <a16:creationId xmlns:a16="http://schemas.microsoft.com/office/drawing/2014/main" id="{1F767BF4-C835-9CD3-C1FB-FDDDC129A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" y="2161"/>
              <a:ext cx="85" cy="480"/>
            </a:xfrm>
            <a:custGeom>
              <a:avLst/>
              <a:gdLst>
                <a:gd name="T0" fmla="*/ 0 w 85"/>
                <a:gd name="T1" fmla="*/ 0 h 480"/>
                <a:gd name="T2" fmla="*/ 81 w 85"/>
                <a:gd name="T3" fmla="*/ 244 h 480"/>
                <a:gd name="T4" fmla="*/ 23 w 85"/>
                <a:gd name="T5" fmla="*/ 480 h 480"/>
                <a:gd name="T6" fmla="*/ 0 60000 65536"/>
                <a:gd name="T7" fmla="*/ 0 60000 65536"/>
                <a:gd name="T8" fmla="*/ 0 60000 65536"/>
                <a:gd name="T9" fmla="*/ 0 w 85"/>
                <a:gd name="T10" fmla="*/ 0 h 480"/>
                <a:gd name="T11" fmla="*/ 85 w 85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5" h="480">
                  <a:moveTo>
                    <a:pt x="0" y="0"/>
                  </a:moveTo>
                  <a:cubicBezTo>
                    <a:pt x="14" y="41"/>
                    <a:pt x="77" y="164"/>
                    <a:pt x="81" y="244"/>
                  </a:cubicBezTo>
                  <a:cubicBezTo>
                    <a:pt x="85" y="324"/>
                    <a:pt x="35" y="431"/>
                    <a:pt x="23" y="48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5">
              <a:extLst>
                <a:ext uri="{FF2B5EF4-FFF2-40B4-BE49-F238E27FC236}">
                  <a16:creationId xmlns:a16="http://schemas.microsoft.com/office/drawing/2014/main" id="{FDD16215-F518-04C0-CAA6-99B4237FC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2160"/>
              <a:ext cx="90" cy="480"/>
            </a:xfrm>
            <a:custGeom>
              <a:avLst/>
              <a:gdLst>
                <a:gd name="T0" fmla="*/ 90 w 90"/>
                <a:gd name="T1" fmla="*/ 480 h 480"/>
                <a:gd name="T2" fmla="*/ 4 w 90"/>
                <a:gd name="T3" fmla="*/ 264 h 480"/>
                <a:gd name="T4" fmla="*/ 67 w 90"/>
                <a:gd name="T5" fmla="*/ 0 h 480"/>
                <a:gd name="T6" fmla="*/ 0 60000 65536"/>
                <a:gd name="T7" fmla="*/ 0 60000 65536"/>
                <a:gd name="T8" fmla="*/ 0 60000 65536"/>
                <a:gd name="T9" fmla="*/ 0 w 90"/>
                <a:gd name="T10" fmla="*/ 0 h 480"/>
                <a:gd name="T11" fmla="*/ 90 w 90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0" h="480">
                  <a:moveTo>
                    <a:pt x="90" y="480"/>
                  </a:moveTo>
                  <a:cubicBezTo>
                    <a:pt x="76" y="444"/>
                    <a:pt x="8" y="344"/>
                    <a:pt x="4" y="264"/>
                  </a:cubicBezTo>
                  <a:cubicBezTo>
                    <a:pt x="0" y="184"/>
                    <a:pt x="54" y="55"/>
                    <a:pt x="67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56">
              <a:extLst>
                <a:ext uri="{FF2B5EF4-FFF2-40B4-BE49-F238E27FC236}">
                  <a16:creationId xmlns:a16="http://schemas.microsoft.com/office/drawing/2014/main" id="{08B4874B-CA42-62EA-5399-A4364EDE0C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7" y="2161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57">
              <a:extLst>
                <a:ext uri="{FF2B5EF4-FFF2-40B4-BE49-F238E27FC236}">
                  <a16:creationId xmlns:a16="http://schemas.microsoft.com/office/drawing/2014/main" id="{07819FA2-159A-4DAF-9FCA-6EE9843A5A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7" y="2641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2B90C0D-C254-827C-3E25-857E795B37FF}"/>
              </a:ext>
            </a:extLst>
          </p:cNvPr>
          <p:cNvSpPr txBox="1"/>
          <p:nvPr/>
        </p:nvSpPr>
        <p:spPr>
          <a:xfrm>
            <a:off x="1610161" y="1671266"/>
            <a:ext cx="460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5EA1D7-BC81-1E99-73CB-A0A0A7CABF5E}"/>
              </a:ext>
            </a:extLst>
          </p:cNvPr>
          <p:cNvSpPr txBox="1"/>
          <p:nvPr/>
        </p:nvSpPr>
        <p:spPr>
          <a:xfrm>
            <a:off x="3362761" y="1666173"/>
            <a:ext cx="460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-f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3616739-D13E-4F27-A655-B00D98FA83FB}"/>
              </a:ext>
            </a:extLst>
          </p:cNvPr>
          <p:cNvCxnSpPr/>
          <p:nvPr/>
        </p:nvCxnSpPr>
        <p:spPr>
          <a:xfrm>
            <a:off x="1872898" y="2754314"/>
            <a:ext cx="1694653" cy="57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4E93564-F350-E7EA-BEBA-3519B492FEB4}"/>
              </a:ext>
            </a:extLst>
          </p:cNvPr>
          <p:cNvCxnSpPr/>
          <p:nvPr/>
        </p:nvCxnSpPr>
        <p:spPr>
          <a:xfrm>
            <a:off x="3639528" y="2754314"/>
            <a:ext cx="1694653" cy="57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37A03B2-77A6-B101-524A-86D47AE29166}"/>
              </a:ext>
            </a:extLst>
          </p:cNvPr>
          <p:cNvSpPr txBox="1"/>
          <p:nvPr/>
        </p:nvSpPr>
        <p:spPr>
          <a:xfrm>
            <a:off x="2527001" y="2191655"/>
            <a:ext cx="460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28FEC5-C2B1-2F10-B8A3-3D803B664C7E}"/>
              </a:ext>
            </a:extLst>
          </p:cNvPr>
          <p:cNvSpPr txBox="1"/>
          <p:nvPr/>
        </p:nvSpPr>
        <p:spPr>
          <a:xfrm>
            <a:off x="4203403" y="2191656"/>
            <a:ext cx="73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</a:t>
            </a:r>
          </a:p>
        </p:txBody>
      </p:sp>
      <p:graphicFrame>
        <p:nvGraphicFramePr>
          <p:cNvPr id="21" name="Object 2">
            <a:extLst>
              <a:ext uri="{FF2B5EF4-FFF2-40B4-BE49-F238E27FC236}">
                <a16:creationId xmlns:a16="http://schemas.microsoft.com/office/drawing/2014/main" id="{3BF68F3D-5DAA-37A4-A7B4-BAD8F5577A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1793686"/>
              </p:ext>
            </p:extLst>
          </p:nvPr>
        </p:nvGraphicFramePr>
        <p:xfrm>
          <a:off x="1058145" y="3897310"/>
          <a:ext cx="5993594" cy="156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42711" imgH="914400" progId="Equation.DSMT4">
                  <p:embed/>
                </p:oleObj>
              </mc:Choice>
              <mc:Fallback>
                <p:oleObj name="Equation" r:id="rId2" imgW="4342711" imgH="914400" progId="Equation.DSMT4">
                  <p:embed/>
                  <p:pic>
                    <p:nvPicPr>
                      <p:cNvPr id="2078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145" y="3897310"/>
                        <a:ext cx="5993594" cy="15636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D7FC7DA-8802-7EFA-BA46-FDAC6BAE1705}"/>
              </a:ext>
            </a:extLst>
          </p:cNvPr>
          <p:cNvCxnSpPr/>
          <p:nvPr/>
        </p:nvCxnSpPr>
        <p:spPr>
          <a:xfrm>
            <a:off x="2039326" y="3287710"/>
            <a:ext cx="2133600" cy="838200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5761C61-1AC5-6973-70BC-E2DC5C2CEED8}"/>
              </a:ext>
            </a:extLst>
          </p:cNvPr>
          <p:cNvCxnSpPr/>
          <p:nvPr/>
        </p:nvCxnSpPr>
        <p:spPr>
          <a:xfrm>
            <a:off x="2801326" y="2906714"/>
            <a:ext cx="895350" cy="1368425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4C100EB-1304-A40C-E950-B246C10F134F}"/>
              </a:ext>
            </a:extLst>
          </p:cNvPr>
          <p:cNvCxnSpPr/>
          <p:nvPr/>
        </p:nvCxnSpPr>
        <p:spPr>
          <a:xfrm flipH="1">
            <a:off x="2858476" y="3363914"/>
            <a:ext cx="781050" cy="758825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>
            <a:extLst>
              <a:ext uri="{FF2B5EF4-FFF2-40B4-BE49-F238E27FC236}">
                <a16:creationId xmlns:a16="http://schemas.microsoft.com/office/drawing/2014/main" id="{7C929605-FF10-27DB-DD72-52EC11D150DA}"/>
              </a:ext>
            </a:extLst>
          </p:cNvPr>
          <p:cNvSpPr/>
          <p:nvPr/>
        </p:nvSpPr>
        <p:spPr>
          <a:xfrm>
            <a:off x="2029066" y="2882447"/>
            <a:ext cx="2569225" cy="1337163"/>
          </a:xfrm>
          <a:custGeom>
            <a:avLst/>
            <a:gdLst>
              <a:gd name="connsiteX0" fmla="*/ 2452736 w 2569225"/>
              <a:gd name="connsiteY0" fmla="*/ 0 h 1337163"/>
              <a:gd name="connsiteX1" fmla="*/ 2392257 w 2569225"/>
              <a:gd name="connsiteY1" fmla="*/ 450201 h 1337163"/>
              <a:gd name="connsiteX2" fmla="*/ 772780 w 2569225"/>
              <a:gd name="connsiteY2" fmla="*/ 967596 h 1337163"/>
              <a:gd name="connsiteX3" fmla="*/ 0 w 2569225"/>
              <a:gd name="connsiteY3" fmla="*/ 1337163 h 1337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9225" h="1337163">
                <a:moveTo>
                  <a:pt x="2452736" y="0"/>
                </a:moveTo>
                <a:cubicBezTo>
                  <a:pt x="2562493" y="144467"/>
                  <a:pt x="2672250" y="288935"/>
                  <a:pt x="2392257" y="450201"/>
                </a:cubicBezTo>
                <a:cubicBezTo>
                  <a:pt x="2112264" y="611467"/>
                  <a:pt x="1171489" y="819769"/>
                  <a:pt x="772780" y="967596"/>
                </a:cubicBezTo>
                <a:cubicBezTo>
                  <a:pt x="374070" y="1115423"/>
                  <a:pt x="0" y="1337163"/>
                  <a:pt x="0" y="1337163"/>
                </a:cubicBezTo>
              </a:path>
            </a:pathLst>
          </a:custGeom>
          <a:ln w="127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EBC0C3-48A7-9307-B84C-CD313C620DDE}"/>
              </a:ext>
            </a:extLst>
          </p:cNvPr>
          <p:cNvSpPr txBox="1"/>
          <p:nvPr/>
        </p:nvSpPr>
        <p:spPr>
          <a:xfrm>
            <a:off x="5849326" y="2087382"/>
            <a:ext cx="259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+mn-lt"/>
              </a:rPr>
              <a:t>Remember: motion is usually drawn from left to right, but matrices act from right to left!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879C24-53EF-FAFD-307A-2119E41DF290}"/>
              </a:ext>
            </a:extLst>
          </p:cNvPr>
          <p:cNvSpPr/>
          <p:nvPr/>
        </p:nvSpPr>
        <p:spPr>
          <a:xfrm>
            <a:off x="4851700" y="3765176"/>
            <a:ext cx="2474258" cy="180728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A8C59C-323E-D6AE-6FB2-830DF73AB3C4}"/>
              </a:ext>
            </a:extLst>
          </p:cNvPr>
          <p:cNvSpPr txBox="1"/>
          <p:nvPr/>
        </p:nvSpPr>
        <p:spPr>
          <a:xfrm>
            <a:off x="4910967" y="4332318"/>
            <a:ext cx="21407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n-lt"/>
              </a:rPr>
              <a:t>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3BDD34-EF44-0E46-77B0-594AE6B6BDE7}"/>
              </a:ext>
            </a:extLst>
          </p:cNvPr>
          <p:cNvSpPr txBox="1"/>
          <p:nvPr/>
        </p:nvSpPr>
        <p:spPr>
          <a:xfrm>
            <a:off x="2133955" y="5640456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/>
              <a:t>(go to demo)</a:t>
            </a:r>
          </a:p>
        </p:txBody>
      </p:sp>
    </p:spTree>
    <p:extLst>
      <p:ext uri="{BB962C8B-B14F-4D97-AF65-F5344CB8AC3E}">
        <p14:creationId xmlns:p14="http://schemas.microsoft.com/office/powerpoint/2010/main" val="388173817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9" grpId="0"/>
      <p:bldP spid="20" grpId="0"/>
      <p:bldP spid="25" grpId="0" animBg="1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CDF5C-2684-FADF-B25C-7302A6E90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Pickle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13DDC-1FA7-C0AD-AEA7-4F8EF010B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Pickle is a powerful tool for storage and recovery of arbitrarily complex structures in Python</a:t>
            </a:r>
          </a:p>
          <a:p>
            <a:pPr lvl="1"/>
            <a:r>
              <a:rPr lang="en-US" dirty="0"/>
              <a:t>This include objects, including both their data and methods</a:t>
            </a:r>
          </a:p>
          <a:p>
            <a:r>
              <a:rPr lang="en-US" dirty="0"/>
              <a:t>Similar to serializability in Java.</a:t>
            </a:r>
          </a:p>
          <a:p>
            <a:r>
              <a:rPr lang="en-US" dirty="0"/>
              <a:t>No truly equivalent tool in C++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(go to demo)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E8C52-13AC-CFF2-A3F2-08C31049F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DE866-7AF5-BCCD-18E8-9C208534F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Random Python Tools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C2820-CDCC-DE59-9D6B-6B02B4973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985944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CDD65-BA51-59B0-6786-AD331EEFE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System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2AF9C-8B31-EC24-1F78-6187F6CF5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that </a:t>
            </a:r>
            <a:r>
              <a:rPr lang="en-US" dirty="0" err="1"/>
              <a:t>jupyter</a:t>
            </a:r>
            <a:r>
              <a:rPr lang="en-US" dirty="0"/>
              <a:t> works on a client/server model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 everything you do in this class, these are both running on the same machine, but this isn’t always the case</a:t>
            </a:r>
          </a:p>
          <a:p>
            <a:pPr lvl="1"/>
            <a:r>
              <a:rPr lang="en-US" dirty="0"/>
              <a:t>Often </a:t>
            </a:r>
            <a:r>
              <a:rPr lang="en-US" dirty="0" err="1"/>
              <a:t>jupyter</a:t>
            </a:r>
            <a:r>
              <a:rPr lang="en-US" dirty="0"/>
              <a:t> servers will be set up on remote systems to access software ecosystems, computing capabilities, </a:t>
            </a:r>
            <a:r>
              <a:rPr lang="en-US" dirty="0" err="1"/>
              <a:t>etc</a:t>
            </a:r>
            <a:endParaRPr lang="en-US" dirty="0"/>
          </a:p>
          <a:p>
            <a:pPr lvl="2"/>
            <a:r>
              <a:rPr lang="en-US" dirty="0"/>
              <a:t>Example: Google </a:t>
            </a:r>
            <a:r>
              <a:rPr lang="en-US" dirty="0" err="1"/>
              <a:t>Colab</a:t>
            </a:r>
            <a:endParaRPr lang="en-US" dirty="0"/>
          </a:p>
          <a:p>
            <a:pPr lvl="1"/>
            <a:r>
              <a:rPr lang="en-US" dirty="0"/>
              <a:t>The server may even be running on hardware</a:t>
            </a:r>
          </a:p>
          <a:p>
            <a:pPr lvl="2"/>
            <a:r>
              <a:rPr lang="en-US" dirty="0"/>
              <a:t>Example: </a:t>
            </a:r>
            <a:r>
              <a:rPr lang="en-US" dirty="0" err="1"/>
              <a:t>Pynq</a:t>
            </a:r>
            <a:r>
              <a:rPr lang="en-US" dirty="0"/>
              <a:t> board</a:t>
            </a:r>
          </a:p>
          <a:p>
            <a:r>
              <a:rPr lang="en-US" dirty="0"/>
              <a:t>Remember that when you’re accessing the system, you’re accessing the </a:t>
            </a:r>
            <a:r>
              <a:rPr lang="en-US" i="1" dirty="0"/>
              <a:t>server system</a:t>
            </a:r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EF291-FBAD-1369-DC29-D2464FB44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120B4-4DBB-DDBC-4803-2745AB8A8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Random Python Tools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96634-BBAB-54E2-7DF6-561C30CE6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B96A4C-686D-CDC9-0E31-84A8B38BA347}"/>
              </a:ext>
            </a:extLst>
          </p:cNvPr>
          <p:cNvSpPr txBox="1"/>
          <p:nvPr/>
        </p:nvSpPr>
        <p:spPr>
          <a:xfrm>
            <a:off x="1905000" y="1882730"/>
            <a:ext cx="154825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+mn-lt"/>
              </a:rPr>
              <a:t>Client: browser interface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B5D726-DA63-39A4-138A-AFB88BBACFD7}"/>
              </a:ext>
            </a:extLst>
          </p:cNvPr>
          <p:cNvSpPr txBox="1"/>
          <p:nvPr/>
        </p:nvSpPr>
        <p:spPr>
          <a:xfrm>
            <a:off x="4825103" y="1796523"/>
            <a:ext cx="1430767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+mn-lt"/>
              </a:rPr>
              <a:t>Server: where everything actually runs</a:t>
            </a:r>
          </a:p>
        </p:txBody>
      </p:sp>
      <p:sp>
        <p:nvSpPr>
          <p:cNvPr id="9" name="Left-Right Arrow 8">
            <a:extLst>
              <a:ext uri="{FF2B5EF4-FFF2-40B4-BE49-F238E27FC236}">
                <a16:creationId xmlns:a16="http://schemas.microsoft.com/office/drawing/2014/main" id="{D3CE6901-89FE-764D-4328-10560772AFED}"/>
              </a:ext>
            </a:extLst>
          </p:cNvPr>
          <p:cNvSpPr/>
          <p:nvPr/>
        </p:nvSpPr>
        <p:spPr>
          <a:xfrm>
            <a:off x="3681858" y="2043950"/>
            <a:ext cx="898913" cy="236668"/>
          </a:xfrm>
          <a:prstGeom prst="leftRightArrow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51A9C1-A85D-50BE-0597-DB67153843EE}"/>
              </a:ext>
            </a:extLst>
          </p:cNvPr>
          <p:cNvSpPr txBox="1"/>
          <p:nvPr/>
        </p:nvSpPr>
        <p:spPr>
          <a:xfrm>
            <a:off x="1845314" y="5801777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/>
              <a:t>(go to demo)</a:t>
            </a:r>
          </a:p>
        </p:txBody>
      </p:sp>
    </p:spTree>
    <p:extLst>
      <p:ext uri="{BB962C8B-B14F-4D97-AF65-F5344CB8AC3E}">
        <p14:creationId xmlns:p14="http://schemas.microsoft.com/office/powerpoint/2010/main" val="1146736058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B992E-1843-CD85-ED7D-EBA6B6830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User Interface (GUI)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BC6EA-53C2-0657-D03C-025791429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GUI is the biggest difference between standalone python and a </a:t>
            </a:r>
            <a:r>
              <a:rPr lang="en-US" dirty="0" err="1"/>
              <a:t>jupyter</a:t>
            </a:r>
            <a:r>
              <a:rPr lang="en-US" dirty="0"/>
              <a:t> notebook.</a:t>
            </a:r>
          </a:p>
          <a:p>
            <a:r>
              <a:rPr lang="en-US" dirty="0"/>
              <a:t>The two main python GUI packages are</a:t>
            </a:r>
          </a:p>
          <a:p>
            <a:pPr lvl="1"/>
            <a:r>
              <a:rPr lang="en-US" dirty="0"/>
              <a:t>qt5</a:t>
            </a:r>
          </a:p>
          <a:p>
            <a:pPr lvl="1"/>
            <a:r>
              <a:rPr lang="en-US" dirty="0" err="1"/>
              <a:t>tkinter</a:t>
            </a:r>
            <a:r>
              <a:rPr lang="en-US" dirty="0"/>
              <a:t> (this one seems to be winning)</a:t>
            </a:r>
          </a:p>
          <a:p>
            <a:r>
              <a:rPr lang="en-US" dirty="0"/>
              <a:t>These packages open windows from the server rather than the client, so they can only be used if the server and the client are running on the </a:t>
            </a:r>
            <a:r>
              <a:rPr lang="en-US" i="1" dirty="0"/>
              <a:t>same computer</a:t>
            </a:r>
          </a:p>
          <a:p>
            <a:pPr lvl="1"/>
            <a:r>
              <a:rPr lang="en-US" dirty="0"/>
              <a:t>This is how we’re doing it in this class but that may not always be the case.</a:t>
            </a:r>
          </a:p>
          <a:p>
            <a:r>
              <a:rPr lang="en-US" dirty="0"/>
              <a:t>The native GUI tools in </a:t>
            </a:r>
            <a:r>
              <a:rPr lang="en-US" dirty="0" err="1"/>
              <a:t>Jupyter</a:t>
            </a:r>
            <a:r>
              <a:rPr lang="en-US" dirty="0"/>
              <a:t> use “</a:t>
            </a:r>
            <a:r>
              <a:rPr lang="en-US" dirty="0" err="1"/>
              <a:t>ipywidgets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These run inside the </a:t>
            </a:r>
            <a:r>
              <a:rPr lang="en-US" dirty="0" err="1"/>
              <a:t>jupyter</a:t>
            </a:r>
            <a:r>
              <a:rPr lang="en-US" dirty="0"/>
              <a:t> window like all other graphics</a:t>
            </a:r>
          </a:p>
          <a:p>
            <a:pPr lvl="1"/>
            <a:r>
              <a:rPr lang="en-US" dirty="0"/>
              <a:t>They’re not nearly as good as qt5 or </a:t>
            </a:r>
            <a:r>
              <a:rPr lang="en-US" dirty="0" err="1"/>
              <a:t>tkinter</a:t>
            </a:r>
            <a:endParaRPr lang="en-US" dirty="0"/>
          </a:p>
          <a:p>
            <a:pPr lvl="1"/>
            <a:r>
              <a:rPr lang="en-US" dirty="0"/>
              <a:t>They CANNOT run in standalone python</a:t>
            </a:r>
          </a:p>
          <a:p>
            <a:pPr marL="0" indent="0" algn="ctr">
              <a:buNone/>
            </a:pPr>
            <a:r>
              <a:rPr lang="en-US" dirty="0"/>
              <a:t>(go to demo)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E725C-E248-6B38-BAD7-14219F8DE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05342-4878-3333-3F74-C4020364E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Random Python Tools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EB30F-5C08-F367-C7A6-BB3FE2B53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858544"/>
      </p:ext>
    </p:extLst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1208C-D89A-8803-296D-815862056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Asynchronous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DE487-681D-0411-E234-37C3E93B7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you may have noticed, you can run cells in a </a:t>
            </a:r>
            <a:r>
              <a:rPr lang="en-US" dirty="0" err="1"/>
              <a:t>jupyter</a:t>
            </a:r>
            <a:r>
              <a:rPr lang="en-US" dirty="0"/>
              <a:t> notebook in a different order, but they still </a:t>
            </a:r>
            <a:r>
              <a:rPr lang="en-US" dirty="0" err="1"/>
              <a:t>execture</a:t>
            </a:r>
            <a:r>
              <a:rPr lang="en-US" dirty="0"/>
              <a:t> </a:t>
            </a:r>
            <a:r>
              <a:rPr lang="en-US" dirty="0" err="1"/>
              <a:t>sequectially</a:t>
            </a:r>
            <a:endParaRPr lang="en-US" dirty="0"/>
          </a:p>
          <a:p>
            <a:pPr lvl="1"/>
            <a:r>
              <a:rPr lang="en-US" dirty="0"/>
              <a:t>A new cell will not execute until the previous one has completed.</a:t>
            </a:r>
          </a:p>
          <a:p>
            <a:r>
              <a:rPr lang="en-US" dirty="0"/>
              <a:t>Sometimes, you might want code to execute asynchronously; that is, run two or more processes at the same time.</a:t>
            </a:r>
          </a:p>
          <a:p>
            <a:pPr lvl="1"/>
            <a:r>
              <a:rPr lang="en-US" dirty="0"/>
              <a:t>Eg, you might have one process waiting for data and another one processing the data.</a:t>
            </a:r>
          </a:p>
          <a:p>
            <a:r>
              <a:rPr lang="en-US" dirty="0"/>
              <a:t>The package for doing this is “</a:t>
            </a:r>
            <a:r>
              <a:rPr lang="en-US" dirty="0" err="1"/>
              <a:t>asyncio</a:t>
            </a:r>
            <a:r>
              <a:rPr lang="en-US" dirty="0"/>
              <a:t>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5B04E-B5E5-B96B-DE57-084CA8B44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7A3B6-0650-A4EA-3B3C-8F1EF7DF6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Random Python Tools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E8CF0-E60B-D017-10DE-89118B5E5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56D4DD-C9A9-27AC-65B9-98CF800368B9}"/>
              </a:ext>
            </a:extLst>
          </p:cNvPr>
          <p:cNvSpPr txBox="1"/>
          <p:nvPr/>
        </p:nvSpPr>
        <p:spPr>
          <a:xfrm>
            <a:off x="2019300" y="4532418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/>
              <a:t>(go to demo)</a:t>
            </a:r>
          </a:p>
        </p:txBody>
      </p:sp>
    </p:spTree>
    <p:extLst>
      <p:ext uri="{BB962C8B-B14F-4D97-AF65-F5344CB8AC3E}">
        <p14:creationId xmlns:p14="http://schemas.microsoft.com/office/powerpoint/2010/main" val="4195096371"/>
      </p:ext>
    </p:extLst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2C031-46AC-C1DA-A4F3-895565128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TCP/IP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6D098-C37F-1DCA-FD49-6D713459D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easy to communicate between Python processes using TCP/IP communication.</a:t>
            </a:r>
          </a:p>
          <a:p>
            <a:pPr lvl="1"/>
            <a:r>
              <a:rPr lang="en-US" dirty="0"/>
              <a:t>Again, this is particularly useful when communicating with hardware.</a:t>
            </a:r>
          </a:p>
          <a:p>
            <a:r>
              <a:rPr lang="en-US" dirty="0"/>
              <a:t>The TCP/IP library uses “sockets” for communication.</a:t>
            </a:r>
          </a:p>
          <a:p>
            <a:r>
              <a:rPr lang="en-US" dirty="0"/>
              <a:t>The destination of a TCP/IP packet is specified by a 4 byte “IP Address” and a 16 bit “port”</a:t>
            </a:r>
          </a:p>
          <a:p>
            <a:pPr lvl="1"/>
            <a:r>
              <a:rPr lang="en-US" dirty="0"/>
              <a:t>Thing of it as a phone number and an extension</a:t>
            </a:r>
          </a:p>
          <a:p>
            <a:pPr lvl="1"/>
            <a:r>
              <a:rPr lang="en-US" dirty="0"/>
              <a:t>IP address “127.0.0.1” is a loopback address to the local system</a:t>
            </a:r>
          </a:p>
          <a:p>
            <a:pPr lvl="1"/>
            <a:r>
              <a:rPr lang="en-US" dirty="0"/>
              <a:t>Ports are allocated</a:t>
            </a:r>
          </a:p>
          <a:p>
            <a:pPr lvl="2"/>
            <a:r>
              <a:rPr lang="en-US" dirty="0"/>
              <a:t>0-1023:  Reserved for essential things like HTTP, FTP, </a:t>
            </a:r>
            <a:r>
              <a:rPr lang="en-US" dirty="0" err="1"/>
              <a:t>etc</a:t>
            </a:r>
            <a:endParaRPr lang="en-US" dirty="0"/>
          </a:p>
          <a:p>
            <a:pPr lvl="2"/>
            <a:r>
              <a:rPr lang="en-US" dirty="0"/>
              <a:t>1024-49151:  Registered for specific applications and services</a:t>
            </a:r>
          </a:p>
          <a:p>
            <a:pPr lvl="2"/>
            <a:r>
              <a:rPr lang="en-US" dirty="0"/>
              <a:t>49152-65535:  Private/temporary ports that can be used for general communication.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3175E-3A73-489C-4AB9-C037916BD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69214-C07D-54A2-937F-65259829A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Random Python Tools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E48B4-7AC6-657E-917A-9F49D4523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E0866A-2D78-75AD-62BF-7E218C380F33}"/>
              </a:ext>
            </a:extLst>
          </p:cNvPr>
          <p:cNvSpPr txBox="1"/>
          <p:nvPr/>
        </p:nvSpPr>
        <p:spPr>
          <a:xfrm>
            <a:off x="3775935" y="6232663"/>
            <a:ext cx="17718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+mn-lt"/>
              </a:rPr>
              <a:t>(Go to demo)</a:t>
            </a:r>
          </a:p>
        </p:txBody>
      </p:sp>
    </p:spTree>
    <p:extLst>
      <p:ext uri="{BB962C8B-B14F-4D97-AF65-F5344CB8AC3E}">
        <p14:creationId xmlns:p14="http://schemas.microsoft.com/office/powerpoint/2010/main" val="1156825410"/>
      </p:ext>
    </p:extLst>
  </p:cSld>
  <p:clrMapOvr>
    <a:masterClrMapping/>
  </p:clrMapOvr>
  <p:transition>
    <p:fade thruBlk="1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PREBYS@7EJIGINFUVWYY57I" val="435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>
    <a:spDef>
      <a:spPr>
        <a:noFill/>
        <a:ln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  <a:tailEnd type="arrow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64018</TotalTime>
  <Words>803</Words>
  <Application>Microsoft Macintosh PowerPoint</Application>
  <PresentationFormat>On-screen Show (4:3)</PresentationFormat>
  <Paragraphs>136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Times New Roman</vt:lpstr>
      <vt:lpstr>Arial</vt:lpstr>
      <vt:lpstr>Clarity</vt:lpstr>
      <vt:lpstr>Equation</vt:lpstr>
      <vt:lpstr>Random Python Tools</vt:lpstr>
      <vt:lpstr>Tools We Won’t Discuss Elsewhere…</vt:lpstr>
      <vt:lpstr>Symbolic Python (sympy)</vt:lpstr>
      <vt:lpstr>Classical Optics Example</vt:lpstr>
      <vt:lpstr>Classical Optics Example (cont’d)</vt:lpstr>
      <vt:lpstr>Pickle</vt:lpstr>
      <vt:lpstr>Accessing System Information</vt:lpstr>
      <vt:lpstr>Graphical User Interface (GUI)</vt:lpstr>
      <vt:lpstr>Asynchronous Operation</vt:lpstr>
      <vt:lpstr>TCP/IP Communication</vt:lpstr>
    </vt:vector>
  </TitlesOfParts>
  <Company>Fermilab Beams Division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Antiproton Stacking and Cooling</dc:title>
  <dc:creator>localadmin</dc:creator>
  <cp:lastModifiedBy>Eric J Prebys</cp:lastModifiedBy>
  <cp:revision>1309</cp:revision>
  <cp:lastPrinted>2024-03-08T21:07:53Z</cp:lastPrinted>
  <dcterms:created xsi:type="dcterms:W3CDTF">2003-06-24T14:15:57Z</dcterms:created>
  <dcterms:modified xsi:type="dcterms:W3CDTF">2025-11-24T19:56:41Z</dcterms:modified>
</cp:coreProperties>
</file>